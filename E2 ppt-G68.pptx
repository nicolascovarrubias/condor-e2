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ción" id="{c70e6894-6adf-a8b0-fda7-ed30dc40f1d4}">
          <p14:sldIdLst>
            <p14:sldId id="256"/>
            <p14:sldId id="257"/>
            <p14:sldId id="258"/>
            <p14:sldId id="259"/>
            <p14:sldId id="260"/>
            <p14:sldId id="261"/>
            <p14:sldId id="262"/>
            <p14:sldId id="263"/>
            <p14:sldId id="264"/>
            <p14:sldId id="265"/>
          </p14:sldIdLst>
        </p14:section>
        <p14:section name="Anexos" id="{8722839b-7fd1-5782-9aca-8d3c9845806a}">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Personas</c:v>
                </c:pt>
              </c:strCache>
            </c:strRef>
          </c:tx>
          <c:spPr>
            <a:solidFill>
              <a:srgbClr val="059669"/>
            </a:solidFill>
            <a:effectLst/>
          </c:spPr>
          <c:invertIfNegative val="0"/>
          <c:dLbls>
            <c:numFmt formatCode="#,##0" sourceLinked="0"/>
            <c:txPr>
              <a:bodyPr/>
              <a:lstStyle/>
              <a:p>
                <a:pPr>
                  <a:defRPr b="0" i="0" strike="noStrike" sz="700" u="none">
                    <a:solidFill>
                      <a:srgbClr val="78716C"/>
                    </a:solidFill>
                    <a:latin typeface="+mn-lt"/>
                  </a:defRPr>
                </a:pPr>
              </a:p>
            </c:txPr>
            <c:showLegendKey val="0"/>
            <c:showVal val="1"/>
            <c:showCatName val="0"/>
            <c:showSerName val="0"/>
            <c:showPercent val="0"/>
            <c:showBubbleSize val="0"/>
            <c:showLeaderLines val="0"/>
          </c:dLbls>
          <c:cat>
            <c:multiLvlStrRef>
              <c:f>Sheet1!$A$2:$A$6</c:f>
              <c:multiLvlStrCache>
                <c:ptCount val="5"/>
                <c:lvl>
                  <c:pt idx="0">
                    <c:v>1</c:v>
                  </c:pt>
                  <c:pt idx="1">
                    <c:v>2</c:v>
                  </c:pt>
                  <c:pt idx="2">
                    <c:v>3</c:v>
                  </c:pt>
                  <c:pt idx="3">
                    <c:v>4</c:v>
                  </c:pt>
                  <c:pt idx="4">
                    <c:v>5</c:v>
                  </c:pt>
                </c:lvl>
              </c:multiLvlStrCache>
            </c:multiLvlStrRef>
          </c:cat>
          <c:val>
            <c:numRef>
              <c:f>Sheet1!$B$2:$B$6</c:f>
              <c:numCache>
                <c:formatCode>General</c:formatCode>
                <c:ptCount val="5"/>
                <c:pt idx="0">
                  <c:v>0</c:v>
                </c:pt>
                <c:pt idx="1">
                  <c:v>0</c:v>
                </c:pt>
                <c:pt idx="2">
                  <c:v>3</c:v>
                </c:pt>
                <c:pt idx="3">
                  <c:v>2</c:v>
                </c:pt>
                <c:pt idx="4">
                  <c:v>3</c:v>
                </c:pt>
              </c:numCache>
            </c:numRef>
          </c:val>
        </c:ser>
        <c:dLbls>
          <c:numFmt formatCode="#,##0" sourceLinked="0"/>
          <c:txPr>
            <a:bodyPr/>
            <a:lstStyle/>
            <a:p>
              <a:pPr>
                <a:defRPr b="0" i="0" strike="noStrike" sz="700" u="none">
                  <a:solidFill>
                    <a:srgbClr val="78716C"/>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00" b="0" i="0" u="none" strike="noStrike">
                <a:solidFill>
                  <a:srgbClr val="78716C"/>
                </a:solidFill>
                <a:latin typeface="+mn-lt"/>
              </a:defRPr>
            </a:pPr>
            <a:endParaRPr lang="en-US"/>
          </a:p>
        </c:txPr>
        <c:crossAx val="2094734552"/>
        <c:crosses val="autoZero"/>
        <c:auto val="1"/>
        <c:lblAlgn val="ctr"/>
        <c:noMultiLvlLbl val="1"/>
      </c:catAx>
      <c:valAx>
        <c:axId val="2094734552"/>
        <c:scaling>
          <c:orientation val="minMax"/>
          <c:max val="4"/>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4"/>
          <c:y val="0"/>
          <c:w val="0.86"/>
          <c:h val="1"/>
        </c:manualLayout>
      </c:layout>
      <c:barChart>
        <c:barDir val="bar"/>
        <c:grouping val="clustered"/>
        <c:varyColors val="0"/>
        <c:ser>
          <c:idx val="0"/>
          <c:order val="0"/>
          <c:tx>
            <c:strRef>
              <c:f>Sheet1!$B$1</c:f>
              <c:strCache>
                <c:ptCount val="1"/>
                <c:pt idx="0">
                  <c:v>% de clientes que repite</c:v>
                </c:pt>
              </c:strCache>
            </c:strRef>
          </c:tx>
          <c:spPr>
            <a:solidFill>
              <a:srgbClr val="292524"/>
            </a:solidFill>
            <a:effectLst/>
          </c:spPr>
          <c:invertIfNegative val="0"/>
          <c:dLbls>
            <c:numFmt formatCode="0.0&quot;%&quot;" sourceLinked="0"/>
            <c:txPr>
              <a:bodyPr/>
              <a:lstStyle/>
              <a:p>
                <a:pPr>
                  <a:defRPr b="0" i="0" strike="noStrike" sz="800" u="none">
                    <a:solidFill>
                      <a:srgbClr val="44403C"/>
                    </a:solidFill>
                    <a:latin typeface="+mn-lt"/>
                  </a:defRPr>
                </a:pPr>
              </a:p>
            </c:txPr>
            <c:showLegendKey val="0"/>
            <c:showVal val="1"/>
            <c:showCatName val="0"/>
            <c:showSerName val="0"/>
            <c:showPercent val="0"/>
            <c:showBubbleSize val="0"/>
            <c:showLeaderLines val="0"/>
          </c:dLbls>
          <c:dPt>
            <c:idx val="0"/>
            <c:invertIfNegative val="0"/>
            <c:bubble3D val="0"/>
            <c:spPr>
              <a:solidFill>
                <a:srgbClr val="292524"/>
              </a:solidFill>
              <a:effectLst/>
            </c:spPr>
          </c:dPt>
          <c:dPt>
            <c:idx val="1"/>
            <c:invertIfNegative val="0"/>
            <c:bubble3D val="0"/>
            <c:spPr>
              <a:solidFill>
                <a:srgbClr val="292524"/>
              </a:solidFill>
              <a:effectLst/>
            </c:spPr>
          </c:dPt>
          <c:dPt>
            <c:idx val="2"/>
            <c:invertIfNegative val="0"/>
            <c:bubble3D val="0"/>
            <c:spPr>
              <a:solidFill>
                <a:srgbClr val="059669"/>
              </a:solidFill>
              <a:effectLst/>
            </c:spPr>
          </c:dPt>
          <c:dPt>
            <c:idx val="3"/>
            <c:invertIfNegative val="0"/>
            <c:bubble3D val="0"/>
            <c:spPr>
              <a:solidFill>
                <a:srgbClr val="059669"/>
              </a:solidFill>
              <a:effectLst/>
            </c:spPr>
          </c:dPt>
          <c:dPt>
            <c:idx val="4"/>
            <c:invertIfNegative val="0"/>
            <c:bubble3D val="0"/>
            <c:spPr>
              <a:solidFill>
                <a:srgbClr val="292524"/>
              </a:solidFill>
              <a:effectLst/>
            </c:spPr>
          </c:dPt>
          <c:dPt>
            <c:idx val="5"/>
            <c:invertIfNegative val="0"/>
            <c:bubble3D val="0"/>
            <c:spPr>
              <a:solidFill>
                <a:srgbClr val="059669"/>
              </a:solidFill>
              <a:effectLst/>
            </c:spPr>
          </c:dPt>
          <c:dPt>
            <c:idx val="6"/>
            <c:invertIfNegative val="0"/>
            <c:bubble3D val="0"/>
            <c:spPr>
              <a:solidFill>
                <a:srgbClr val="059669"/>
              </a:solidFill>
              <a:effectLst/>
            </c:spPr>
          </c:dPt>
          <c:dPt>
            <c:idx val="7"/>
            <c:invertIfNegative val="0"/>
            <c:bubble3D val="0"/>
            <c:spPr>
              <a:solidFill>
                <a:srgbClr val="D6D3D1"/>
              </a:solidFill>
              <a:effectLst/>
            </c:spPr>
          </c:dPt>
          <c:dPt>
            <c:idx val="8"/>
            <c:invertIfNegative val="0"/>
            <c:bubble3D val="0"/>
            <c:spPr>
              <a:solidFill>
                <a:srgbClr val="D6D3D1"/>
              </a:solidFill>
              <a:effectLst/>
            </c:spPr>
          </c:dPt>
          <c:dPt>
            <c:idx val="9"/>
            <c:invertIfNegative val="0"/>
            <c:bubble3D val="0"/>
            <c:spPr>
              <a:solidFill>
                <a:srgbClr val="D6D3D1"/>
              </a:solidFill>
              <a:effectLst/>
            </c:spPr>
          </c:dPt>
          <c:dPt>
            <c:idx val="10"/>
            <c:invertIfNegative val="0"/>
            <c:bubble3D val="0"/>
            <c:spPr>
              <a:solidFill>
                <a:srgbClr val="D6D3D1"/>
              </a:solidFill>
              <a:effectLst/>
            </c:spPr>
          </c:dPt>
          <c:cat>
            <c:multiLvlStrRef>
              <c:f>Sheet1!$A$2:$A$12</c:f>
              <c:multiLvlStrCache>
                <c:ptCount val="11"/>
                <c:lvl>
                  <c:pt idx="0">
                    <c:v>Seguro Auto</c:v>
                  </c:pt>
                  <c:pt idx="1">
                    <c:v>Electricidad</c:v>
                  </c:pt>
                  <c:pt idx="2">
                    <c:v>Spotify</c:v>
                  </c:pt>
                  <c:pt idx="3">
                    <c:v>Netflix</c:v>
                  </c:pt>
                  <c:pt idx="4">
                    <c:v>Agua</c:v>
                  </c:pt>
                  <c:pt idx="5">
                    <c:v>Adobe</c:v>
                  </c:pt>
                  <c:pt idx="6">
                    <c:v>Fitness Club</c:v>
                  </c:pt>
                  <c:pt idx="7">
                    <c:v>Jumbo</c:v>
                  </c:pt>
                  <c:pt idx="8">
                    <c:v>Uber</c:v>
                  </c:pt>
                  <c:pt idx="9">
                    <c:v>Starbucks</c:v>
                  </c:pt>
                  <c:pt idx="10">
                    <c:v>Amazon</c:v>
                  </c:pt>
                </c:lvl>
              </c:multiLvlStrCache>
            </c:multiLvlStrRef>
          </c:cat>
          <c:val>
            <c:numRef>
              <c:f>Sheet1!$B$2:$B$12</c:f>
              <c:numCache>
                <c:formatCode>General</c:formatCode>
                <c:ptCount val="11"/>
                <c:pt idx="0">
                  <c:v>98.6</c:v>
                </c:pt>
                <c:pt idx="1">
                  <c:v>97.9</c:v>
                </c:pt>
                <c:pt idx="2">
                  <c:v>95.8</c:v>
                </c:pt>
                <c:pt idx="3">
                  <c:v>95.5</c:v>
                </c:pt>
                <c:pt idx="4">
                  <c:v>93.8</c:v>
                </c:pt>
                <c:pt idx="5">
                  <c:v>92.6</c:v>
                </c:pt>
                <c:pt idx="6">
                  <c:v>89.2</c:v>
                </c:pt>
                <c:pt idx="7">
                  <c:v>86.2</c:v>
                </c:pt>
                <c:pt idx="8">
                  <c:v>84.2</c:v>
                </c:pt>
                <c:pt idx="9">
                  <c:v>74</c:v>
                </c:pt>
                <c:pt idx="10">
                  <c:v>53.6</c:v>
                </c:pt>
              </c:numCache>
            </c:numRef>
          </c:val>
        </c:ser>
        <c:dLbls>
          <c:numFmt formatCode="0.0&quot;%&quot;" sourceLinked="0"/>
          <c:txPr>
            <a:bodyPr/>
            <a:lstStyle/>
            <a:p>
              <a:pPr>
                <a:defRPr b="0" i="0" strike="noStrike" sz="800" u="none">
                  <a:solidFill>
                    <a:srgbClr val="4440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900" b="0" i="0" u="none" strike="noStrike">
                <a:solidFill>
                  <a:srgbClr val="44403C"/>
                </a:solidFill>
                <a:latin typeface="+mn-lt"/>
              </a:defRPr>
            </a:pPr>
            <a:endParaRPr lang="en-US"/>
          </a:p>
        </c:txPr>
        <c:crossAx val="2094734552"/>
        <c:crosses val="autoZero"/>
        <c:auto val="1"/>
        <c:lblAlgn val="ctr"/>
        <c:noMultiLvlLbl val="1"/>
      </c:catAx>
      <c:valAx>
        <c:axId val="2094734552"/>
        <c:scaling>
          <c:orientation val="minMax"/>
          <c:max val="11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En Chile, entre 2023 y 2024, las instituciones financieras recibieron 1,3 millones de reclamos por operaciones que el cliente no reconoce. Una parte son cobros que se repiten todos los meses sin que nadie los mire: renovaciones, alzas, pruebas gratis que pasan a pago. Somos CONDOR, y nuestra oportunidad es esta: que ninguna suscripción se cobre sin que la persona la vea, desde el primer cobro y dentro de la app de su banco.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Separamos a quién le duele de quién paga. Lo sufre el titular de la cuenta: tiene varias suscripciones y se entera de la renovación o del alza cuando la plata ya salió. El SERNAC recibe del orden de 37 mil reclamos al año por cobros indebidos en el mercado financiero, y casos como Rappi en 2024 muestran membresías cobradas a gente que dice no haberlas contratado. Pero quien paga es el banco: por la Ley 20.009 y sus reformas, lo que el cliente no reconoce, el banco lo debe devolver. Solo en marzo de 2024 la banca perdió 72 mil millones de pesos por fraude externo. Ese es el puente: el dolor del usuario se convierte en costo para el banco. [Decir aquí con cuántas personas y con quién de la banca lo validamos.]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Llegar aquí no fue lineal. Partimos queriendo detener cualquier cobro; al revisar cómo funciona en la red vimos que bloquear cobros recurrentes existe (Visa lo ofrece a los bancos), pero retener y aprobar cada cobro no es estándar, así que hoy el foco es ver y avisar, y detener queda como siguiente paso a validar con un banco. [Fila 2: contar con la evidencia de entrevistas; confirmar.] Al simular aprendimos que ni el nombre del comercio ni la tarjeta guardada sirven: Uber guarda tu tarjeta y no es suscripción, y Jumbo se repite en el 86% de los clientes. Lo que distingue una suscripción es la regularidad. Y como el sistema se puede equivocar, cuando duda le pregunta al usuario.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CONDOR vive dentro de la app del banco. El dato ya existe: cada cobro trae comercio, categoría (MCC), monto y señales de la red. El primer motor pregunta si ese comercio va a volver a cobrar, mirando cómo se comporta con todos los clientes del banco: repetición, regularidad y monto. Por eso reconoce la suscripción desde el primer cobro del cliente. El segundo clasifica si es suscripción, cuenta o algo incierto. Con eso actúa: si está seguro, la suma a tu lista; si duda, te pregunta; y si una suscripción sube de precio, te avisa. Detener el cobro antes de que ocurra es el siguiente paso: es técnicamente posible para el banco, pero hay que validarlo con un emisor. Si el sistema se equivoca, el costo es una pregunta de más, no plata perdida.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Ver suscripciones ya existe, y eso es buena noticia: confirma el problema. En Chile, BancoEstado tiene 'Mis Suscripciones', pero solo muestra comercios que usan tarjeta tokenizada. Nubank lanzó en Brasil un gestor; Visa anunció uno para bancos que parte en Norteamérica y luego llega a Latinoamérica, con gestión en comercios asociados; y Rocket Money es otra app que lee tu historial. La diferencia de CONDOR está en cómo reconoce: no depende de que el comercio se declare, aprende de cómo cobra ese comercio a todos los clientes del banco, y lo hace desde el primer cobro. Lo difícil de copiar es ese modelo, que mejora con cada cliente.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Así funciona el prototipo, con pantallas reales del gemelo digital. Uno: llega el primer cobro de Fitness Club; la app todavía no lo conoce, y CONDOR lo reconoce como suscripción desde ese primer cobro. Dos: cuando la evidencia no alcanza, como en este gimnasio con 82% de confianza, no decide solo: te pregunta si lo reconoces, con tres opciones. Tres: todas tus suscripciones quedan a la vista, cada una supervisada o de confianza. Cuatro: si una suscripción supervisada sube de precio, como Spotify de 5.290 a 6.490, te avisa; en el prototipo además el cobro espera tu decisión, pero en un banco real eso depende del emisor. Lo real: el filtro, la lógica y la app. Lo simulado: las transacciones y la conexión con un banco.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Prototipamos donde estaba la duda. Duda uno: ¿se puede reconocer una suscripción desde el primer cobro? En simulación, con 11.384 cobros sintéticos de 2.876 clientes, el filtro clasificó bien los 11 comercios desde el primer cobro de un cliente nuevo. El gráfico muestra el aprendizaje: Fitness Club, Jumbo y Uber se repiten casi igual, pero solo uno es suscripción; lo que los separa es la regularidad. Ojo: son datos sintéticos; validan la lógica, no la precisión bancaria real. Duda dos: ¿el titular entiende lo que CONDOR le muestra? Ocho usuarios usaron el prototipo con instrucciones y calificaron la facilidad para navegar y entender las alertas con 4,0 de 5 en promedio; nadie puso menos de 3. Y 6 de los 8 dijeron que ya les habían cobrado una suscripción que no usaban o subido el precio sin aviso. Es una muestra pequeña de conocidos: lo tomamos como indicio, no como medición.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¿Por qué ahora? En 2020 la Ley 21.234 obligó al banco a devolver todo cargo no reconocido, y en 2023-2024 eso explotó en 1,3 millones de reclamos. La reforma de 2024 le dio herramientas al banco, pero el incentivo quedó claro: prevenir sale más barato que devolver. Y en 2025-2026 BancoEstado, Nubank y Visa ya ofrecen ver suscripciones: la demanda es real. Y aunque la reforma bajó las pérdidas, en diciembre de 2024 la banca todavía perdía 11 mil millones de pesos al mes por fraude externo. Quien paga: las gerencias de riesgo operacional y canales digitales de 17 bancos y más de 10 emisores de retail financiero. Modelo: licencia por cuenta protegida. Pendiente: validar qué parte de esas pérdidas viene de cobros recurrentes y que el banco lo compraría a un tercero (los bancos ya compran motores antifraude a terceros). Segmento de entrada (hipótesis): emisores digitales con app propia.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Para pasar del gemelo digital a un MVP: datos reales de un emisor para calibrar umbrales, conectar el filtro a las autorizaciones del banco, un piloto de visibilidad con un emisor digital y, después, detener cobros, que ya es técnicamente posible con servicios como el de Visa, pero hay que validarlo con el emisor. Regulación: los datos no salen del banco; la Ley 21.719 de datos personales agrega requisitos, no lo bloquea (validar con asesoría legal). Lo pendiente lo declaramos aquí. CONDOR: cada suscripción a la vista desde el primer cobro.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Cerrar con la pregunta y dejarla unos segundos en silencio. CONDOR: Control de Órdenes y Notificación de Débitos Opacos y Recurrentes.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no se presenta. Fuentes completas de las cifras citadas.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obligatorio según el programa del curso. Revisar y completar antes de subir.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7619970" y="0"/>
            <a:ext cx="4572000" cy="6858000"/>
          </a:xfrm>
          <a:prstGeom prst="rect">
            <a:avLst/>
          </a:prstGeom>
          <a:solidFill>
            <a:schemeClr val="accent5"/>
          </a:solidFill>
          <a:ln/>
        </p:spPr>
      </p:sp>
      <p:pic>
        <p:nvPicPr>
          <p:cNvPr id="3" name="Image 0" descr="C:\Users\ncova\AppData\Local\Temp\claude\c--Users-ncova-prototipo-escudo-suscripciones\6d482855-5fd1-4549-b0f8-7fb2564157b3\scratchpad\pptx\condor_292524.png">    </p:cNvPr>
          <p:cNvPicPr>
            <a:picLocks noChangeAspect="1"/>
          </p:cNvPicPr>
          <p:nvPr/>
        </p:nvPicPr>
        <p:blipFill>
          <a:blip r:embed="rId1"/>
          <a:stretch>
            <a:fillRect/>
          </a:stretch>
        </p:blipFill>
        <p:spPr>
          <a:xfrm>
            <a:off x="761970" y="952530"/>
            <a:ext cx="304770" cy="101590"/>
          </a:xfrm>
          <a:prstGeom prst="rect">
            <a:avLst/>
          </a:prstGeom>
        </p:spPr>
      </p:pic>
      <p:sp>
        <p:nvSpPr>
          <p:cNvPr id="4" name="Text 1"/>
          <p:cNvSpPr/>
          <p:nvPr/>
        </p:nvSpPr>
        <p:spPr>
          <a:xfrm>
            <a:off x="1130290" y="888980"/>
            <a:ext cx="1270010" cy="228600"/>
          </a:xfrm>
          <a:prstGeom prst="rect">
            <a:avLst/>
          </a:prstGeom>
          <a:noFill/>
          <a:ln/>
        </p:spPr>
        <p:txBody>
          <a:bodyPr wrap="square" lIns="0" tIns="0" rIns="0" bIns="0" rtlCol="0" anchor="ctr"/>
          <a:lstStyle/>
          <a:p>
            <a:pPr indent="0" marL="0">
              <a:buNone/>
            </a:pPr>
            <a:r>
              <a:rPr lang="en-US" sz="1100" b="1" spc="300" kern="0" dirty="0">
                <a:solidFill>
                  <a:schemeClr val="tx1"/>
                </a:solidFill>
                <a:latin typeface="+mj-lt" pitchFamily="34" charset="0"/>
                <a:ea typeface="+mj-lt" pitchFamily="34" charset="-122"/>
                <a:cs typeface="+mj-lt" pitchFamily="34" charset="-120"/>
              </a:rPr>
              <a:t>CONDOR</a:t>
            </a:r>
            <a:endParaRPr lang="en-US" sz="1100" dirty="0"/>
          </a:p>
        </p:txBody>
      </p:sp>
      <p:sp>
        <p:nvSpPr>
          <p:cNvPr id="5" name="Text 2"/>
          <p:cNvSpPr/>
          <p:nvPr>
            <p:ph idx="103" type="title" hasCustomPrompt="1"/>
          </p:nvPr>
        </p:nvSpPr>
        <p:spPr>
          <a:xfrm>
            <a:off x="761970" y="2476470"/>
            <a:ext cx="6349959" cy="3047970"/>
          </a:xfrm>
          <a:prstGeom prst="rect">
            <a:avLst/>
          </a:prstGeom>
          <a:noFill/>
          <a:ln/>
        </p:spPr>
        <p:txBody>
          <a:bodyPr wrap="square" rtlCol="0"/>
          <a:lstStyle>
            <a:lvl1pPr algn="l" indent="0" marL="0">
              <a:buNone/>
              <a:defRPr lang="en-US" sz="5400" b="1" dirty="0">
                <a:solidFill>
                  <a:schemeClr val="tx1"/>
                </a:solidFill>
              </a:defRPr>
            </a:lvl1pPr>
          </a:lstStyle>
          <a:p>
            <a:pPr algn="l" indent="0" marL="0">
              <a:buNone/>
            </a:pPr>
            <a:endParaRPr lang="en-US" sz="5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761970" y="279441"/>
            <a:ext cx="368320" cy="368320"/>
          </a:xfrm>
          <a:prstGeom prst="rect">
            <a:avLst/>
          </a:prstGeom>
          <a:solidFill>
            <a:schemeClr val="accent1"/>
          </a:solidFill>
          <a:ln/>
        </p:spPr>
      </p:sp>
      <p:sp>
        <p:nvSpPr>
          <p:cNvPr id="3" name="Shape 1"/>
          <p:cNvSpPr/>
          <p:nvPr/>
        </p:nvSpPr>
        <p:spPr>
          <a:xfrm>
            <a:off x="761970" y="800100"/>
            <a:ext cx="10668030" cy="0"/>
          </a:xfrm>
          <a:prstGeom prst="line">
            <a:avLst/>
          </a:prstGeom>
          <a:noFill/>
          <a:ln w="19050">
            <a:solidFill>
              <a:schemeClr val="tx1"/>
            </a:solidFill>
            <a:prstDash val="solid"/>
          </a:ln>
        </p:spPr>
      </p:sp>
      <p:pic>
        <p:nvPicPr>
          <p:cNvPr id="4" name="Image 0" descr="C:\Users\ncova\AppData\Local\Temp\claude\c--Users-ncova-prototipo-escudo-suscripciones\6d482855-5fd1-4549-b0f8-7fb2564157b3\scratchpad\pptx\condor_292524.png">    </p:cNvPr>
          <p:cNvPicPr>
            <a:picLocks noChangeAspect="1"/>
          </p:cNvPicPr>
          <p:nvPr/>
        </p:nvPicPr>
        <p:blipFill>
          <a:blip r:embed="rId1"/>
          <a:stretch>
            <a:fillRect/>
          </a:stretch>
        </p:blipFill>
        <p:spPr>
          <a:xfrm>
            <a:off x="10299710" y="419070"/>
            <a:ext cx="266730" cy="88880"/>
          </a:xfrm>
          <a:prstGeom prst="rect">
            <a:avLst/>
          </a:prstGeom>
        </p:spPr>
      </p:pic>
      <p:sp>
        <p:nvSpPr>
          <p:cNvPr id="5" name="Text 2"/>
          <p:cNvSpPr/>
          <p:nvPr/>
        </p:nvSpPr>
        <p:spPr>
          <a:xfrm>
            <a:off x="10604480" y="355610"/>
            <a:ext cx="825520" cy="215890"/>
          </a:xfrm>
          <a:prstGeom prst="rect">
            <a:avLst/>
          </a:prstGeom>
          <a:noFill/>
          <a:ln/>
        </p:spPr>
        <p:txBody>
          <a:bodyPr wrap="square" lIns="0" tIns="0" rIns="0" bIns="0" rtlCol="0" anchor="ctr"/>
          <a:lstStyle/>
          <a:p>
            <a:pPr algn="r" indent="0" marL="0">
              <a:buNone/>
            </a:pPr>
            <a:r>
              <a:rPr lang="en-US" sz="1000" b="1" spc="300" kern="0" dirty="0">
                <a:solidFill>
                  <a:schemeClr val="tx1"/>
                </a:solidFill>
                <a:latin typeface="+mj-lt" pitchFamily="34" charset="0"/>
                <a:ea typeface="+mj-lt" pitchFamily="34" charset="-122"/>
                <a:cs typeface="+mj-lt" pitchFamily="34" charset="-120"/>
              </a:rPr>
              <a:t>CONDOR</a:t>
            </a:r>
            <a:endParaRPr lang="en-US" sz="1000" dirty="0"/>
          </a:p>
        </p:txBody>
      </p:sp>
      <p:sp>
        <p:nvSpPr>
          <p:cNvPr id="6" name="Text 3"/>
          <p:cNvSpPr/>
          <p:nvPr>
            <p:ph idx="104" type="title" hasCustomPrompt="1"/>
          </p:nvPr>
        </p:nvSpPr>
        <p:spPr>
          <a:xfrm>
            <a:off x="761970" y="1047720"/>
            <a:ext cx="10159990" cy="1079541"/>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761970" y="279441"/>
            <a:ext cx="368320" cy="368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Inter"/>
                <a:ea typeface="Inter"/>
                <a:cs typeface="Inter"/>
              </a:defRPr>
            </a:lvl1pPr>
          </a:lstStyle>
          <a:p>
            <a:pPr algn="ctr"/>
            <a:fld id="{F7021451-1387-4CA6-816F-3879F97B5CBC}" type="slidenum">
              <a:rPr b="1"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61970" y="279441"/>
            <a:ext cx="368320" cy="368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Inter"/>
                <a:ea typeface="Inter"/>
                <a:cs typeface="Inter"/>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www.df.cl/reclamos-contra-el-mercado-financiero-aumentan-11-y-superan-las-53-mil" TargetMode="External"/><Relationship Id="rId2" Type="http://schemas.openxmlformats.org/officeDocument/2006/relationships/hyperlink" Target="https://www.theclinic.cl/2025/06/12/estudio-revelo-que-el-gasto-promedio-mensual-de-los-chilenos-en-plataformas-de-streaming-alcanza-los-22-809/" TargetMode="External"/><Relationship Id="rId3" Type="http://schemas.openxmlformats.org/officeDocument/2006/relationships/hyperlink" Target="https://www.cmfchile.cl/portal/estadisticas/617/articles-100079_doc_pdf.pdf" TargetMode="External"/><Relationship Id="rId4" Type="http://schemas.openxmlformats.org/officeDocument/2006/relationships/hyperlink" Target="https://www.theclinic.cl/2024/04/03/sernac-rappi-cobros-indebidos-oficio/" TargetMode="External"/><Relationship Id="rId5" Type="http://schemas.openxmlformats.org/officeDocument/2006/relationships/hyperlink" Target="https://corporate.visa.com/en/sites/visa-perspectives/newsroom/visa-enhanced-subscription-manager-launch.html" TargetMode="External"/><Relationship Id="rId6" Type="http://schemas.openxmlformats.org/officeDocument/2006/relationships/hyperlink" Target="https://nu.com/en/newsroom/consumers/nubank-launches-subscription-manager-to-help-control-recurring-charges" TargetMode="External"/><Relationship Id="rId7" Type="http://schemas.openxmlformats.org/officeDocument/2006/relationships/hyperlink" Target="https://www.rocketmoney.com" TargetMode="External"/><Relationship Id="rId8" Type="http://schemas.openxmlformats.org/officeDocument/2006/relationships/hyperlink" Target="https://www.cmfchile.cl/portal/prensa/625/w4-article-109087.html" TargetMode="External"/><Relationship Id="rId9" Type="http://schemas.openxmlformats.org/officeDocument/2006/relationships/hyperlink" Target="https://www.bancoestado.cl/content/bancoestado-public/cl/es/home/home/app-bancoestado/mis-suscripciones-app---bancoestado-personas.html" TargetMode="External"/><Relationship Id="rId10" Type="http://schemas.openxmlformats.org/officeDocument/2006/relationships/hyperlink" Target="https://developer.visa.com/capabilities/visa-stop-payment-service/overview" TargetMode="External"/><Relationship Id="rId11" Type="http://schemas.openxmlformats.org/officeDocument/2006/relationships/slideLayout" Target="../slideLayouts/slideLayout3.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2"/>
          <p:cNvSpPr/>
          <p:nvPr>
            <p:ph idx="103" type="title" hasCustomPrompt="1"/>
          </p:nvPr>
        </p:nvSpPr>
        <p:spPr>
          <a:xfrm>
            <a:off x="761970" y="2476470"/>
            <a:ext cx="6349959" cy="3047970"/>
          </a:xfrm>
          <a:prstGeom prst="rect">
            <a:avLst/>
          </a:prstGeom>
          <a:noFill/>
          <a:ln/>
        </p:spPr>
        <p:txBody>
          <a:bodyPr wrap="square" lIns="0" tIns="0" rIns="0" bIns="0" rtlCol="0" anchor="t"/>
          <a:lstStyle/>
          <a:p>
            <a:pPr algn="l" indent="0" marL="0">
              <a:buNone/>
            </a:pPr>
            <a:r>
              <a:rPr lang="en-US" sz="5400" b="1" dirty="0">
                <a:solidFill>
                  <a:schemeClr val="tx1"/>
                </a:solidFill>
              </a:rPr>
              <a:t>Que ninguna</a:t>
            </a:r>
            <a:endParaRPr lang="en-US" sz="5400" dirty="0"/>
          </a:p>
          <a:p>
            <a:pPr algn="l" indent="0" marL="0">
              <a:buNone/>
            </a:pPr>
            <a:r>
              <a:rPr lang="en-US" sz="5400" b="1" dirty="0">
                <a:solidFill>
                  <a:schemeClr val="tx1"/>
                </a:solidFill>
              </a:rPr>
              <a:t>suscripción se</a:t>
            </a:r>
            <a:endParaRPr lang="en-US" sz="5400" dirty="0"/>
          </a:p>
          <a:p>
            <a:pPr algn="l" indent="0" marL="0">
              <a:buNone/>
            </a:pPr>
            <a:r>
              <a:rPr lang="en-US" sz="5400" b="1" dirty="0">
                <a:solidFill>
                  <a:schemeClr val="tx1"/>
                </a:solidFill>
              </a:rPr>
              <a:t>cobre sin que</a:t>
            </a:r>
            <a:endParaRPr lang="en-US" sz="5400" dirty="0"/>
          </a:p>
          <a:p>
            <a:pPr algn="l" indent="0" marL="0">
              <a:buNone/>
            </a:pPr>
            <a:r>
              <a:rPr lang="en-US" sz="5400" b="1" dirty="0">
                <a:solidFill>
                  <a:schemeClr val="tx1"/>
                </a:solidFill>
              </a:rPr>
              <a:t>la veas.</a:t>
            </a:r>
            <a:endParaRPr lang="en-US" sz="5400" dirty="0"/>
          </a:p>
        </p:txBody>
      </p:sp>
      <p:sp>
        <p:nvSpPr>
          <p:cNvPr id="4" name="Shape 1"/>
          <p:cNvSpPr/>
          <p:nvPr/>
        </p:nvSpPr>
        <p:spPr>
          <a:xfrm>
            <a:off x="761970" y="5918180"/>
            <a:ext cx="6223041" cy="0"/>
          </a:xfrm>
          <a:prstGeom prst="line">
            <a:avLst/>
          </a:prstGeom>
          <a:noFill/>
          <a:ln w="9525">
            <a:solidFill>
              <a:schemeClr val="accent4"/>
            </a:solidFill>
            <a:prstDash val="solid"/>
          </a:ln>
        </p:spPr>
      </p:sp>
      <p:sp>
        <p:nvSpPr>
          <p:cNvPr id="5" name="Text 2"/>
          <p:cNvSpPr txBox="1"/>
          <p:nvPr/>
        </p:nvSpPr>
        <p:spPr>
          <a:xfrm>
            <a:off x="761970" y="6045190"/>
            <a:ext cx="761970" cy="190470"/>
          </a:xfrm>
          <a:prstGeom prst="rect">
            <a:avLst/>
          </a:prstGeom>
          <a:noFill/>
          <a:ln/>
        </p:spPr>
        <p:txBody>
          <a:bodyPr wrap="square" lIns="0" tIns="0" rIns="0" bIns="0" rtlCol="0" anchor="t"/>
          <a:lstStyle/>
          <a:p>
            <a:pPr indent="0" marL="0">
              <a:buNone/>
            </a:pPr>
            <a:r>
              <a:rPr lang="en-US" sz="800" b="1" spc="100" kern="0" dirty="0">
                <a:solidFill>
                  <a:schemeClr val="tx1"/>
                </a:solidFill>
              </a:rPr>
              <a:t>GRUPO 68</a:t>
            </a:r>
            <a:endParaRPr lang="en-US" sz="800" dirty="0"/>
          </a:p>
        </p:txBody>
      </p:sp>
      <p:sp>
        <p:nvSpPr>
          <p:cNvPr id="6" name="Text 3"/>
          <p:cNvSpPr txBox="1"/>
          <p:nvPr/>
        </p:nvSpPr>
        <p:spPr>
          <a:xfrm>
            <a:off x="1524030" y="6032480"/>
            <a:ext cx="5460980" cy="215890"/>
          </a:xfrm>
          <a:prstGeom prst="rect">
            <a:avLst/>
          </a:prstGeom>
          <a:noFill/>
          <a:ln/>
        </p:spPr>
        <p:txBody>
          <a:bodyPr wrap="square" lIns="0" tIns="0" rIns="0" bIns="0" rtlCol="0" anchor="t"/>
          <a:lstStyle/>
          <a:p>
            <a:pPr indent="0" marL="0">
              <a:buNone/>
            </a:pPr>
            <a:r>
              <a:rPr lang="en-US" sz="900" dirty="0">
                <a:solidFill>
                  <a:schemeClr val="accent3"/>
                </a:solidFill>
              </a:rPr>
              <a:t>Agustín Tupper · Baltazar Herreros · Benjamin Garrido · Florencia Candia · Nicolás Covarrubias</a:t>
            </a:r>
            <a:endParaRPr lang="en-US" sz="900" dirty="0"/>
          </a:p>
        </p:txBody>
      </p:sp>
      <p:sp>
        <p:nvSpPr>
          <p:cNvPr id="7" name="Tarjeta de cobros"/>
          <p:cNvSpPr/>
          <p:nvPr/>
        </p:nvSpPr>
        <p:spPr>
          <a:xfrm>
            <a:off x="8128010" y="1936791"/>
            <a:ext cx="3556010" cy="2984510"/>
          </a:xfrm>
          <a:prstGeom prst="rect">
            <a:avLst/>
          </a:prstGeom>
          <a:solidFill>
            <a:schemeClr val="bg1"/>
          </a:solidFill>
          <a:ln/>
          <a:effectLst>
            <a:outerShdw sx="100000" sy="100000" kx="0" ky="0" algn="bl" rotWithShape="0" blurRad="152400" dist="50800" dir="5400000">
              <a:srgbClr val="28326E">
                <a:alpha val="14000"/>
              </a:srgbClr>
            </a:outerShdw>
          </a:effectLst>
        </p:spPr>
      </p:sp>
      <p:sp>
        <p:nvSpPr>
          <p:cNvPr id="8" name="Text 5"/>
          <p:cNvSpPr txBox="1"/>
          <p:nvPr/>
        </p:nvSpPr>
        <p:spPr>
          <a:xfrm>
            <a:off x="8305770" y="2044690"/>
            <a:ext cx="1904970" cy="190470"/>
          </a:xfrm>
          <a:prstGeom prst="rect">
            <a:avLst/>
          </a:prstGeom>
          <a:noFill/>
          <a:ln/>
        </p:spPr>
        <p:txBody>
          <a:bodyPr wrap="square" lIns="0" tIns="0" rIns="0" bIns="0" rtlCol="0" anchor="ctr"/>
          <a:lstStyle/>
          <a:p>
            <a:pPr indent="0" marL="0">
              <a:buNone/>
            </a:pPr>
            <a:r>
              <a:rPr lang="en-US" sz="800" b="1" spc="100" kern="0" dirty="0">
                <a:solidFill>
                  <a:schemeClr val="tx1"/>
                </a:solidFill>
              </a:rPr>
              <a:t>COBROS DE OCTUBRE</a:t>
            </a:r>
            <a:endParaRPr lang="en-US" sz="800" dirty="0"/>
          </a:p>
        </p:txBody>
      </p:sp>
      <p:sp>
        <p:nvSpPr>
          <p:cNvPr id="9" name="Text 6"/>
          <p:cNvSpPr txBox="1"/>
          <p:nvPr/>
        </p:nvSpPr>
        <p:spPr>
          <a:xfrm>
            <a:off x="10236159" y="2044690"/>
            <a:ext cx="1270010" cy="190470"/>
          </a:xfrm>
          <a:prstGeom prst="rect">
            <a:avLst/>
          </a:prstGeom>
          <a:noFill/>
          <a:ln/>
        </p:spPr>
        <p:txBody>
          <a:bodyPr wrap="square" lIns="0" tIns="0" rIns="0" bIns="0" rtlCol="0" anchor="ctr"/>
          <a:lstStyle/>
          <a:p>
            <a:pPr algn="r" indent="0" marL="0">
              <a:buNone/>
            </a:pPr>
            <a:r>
              <a:rPr lang="en-US" sz="800" b="1" spc="100" kern="0" dirty="0">
                <a:solidFill>
                  <a:schemeClr val="tx1"/>
                </a:solidFill>
              </a:rPr>
              <a:t>CONDOR</a:t>
            </a:r>
            <a:endParaRPr lang="en-US" sz="800" dirty="0"/>
          </a:p>
        </p:txBody>
      </p:sp>
      <p:sp>
        <p:nvSpPr>
          <p:cNvPr id="10" name="Shape 7"/>
          <p:cNvSpPr/>
          <p:nvPr/>
        </p:nvSpPr>
        <p:spPr>
          <a:xfrm>
            <a:off x="8128010" y="2324130"/>
            <a:ext cx="3556010" cy="0"/>
          </a:xfrm>
          <a:prstGeom prst="line">
            <a:avLst/>
          </a:prstGeom>
          <a:noFill/>
          <a:ln w="15875">
            <a:solidFill>
              <a:schemeClr val="tx1"/>
            </a:solidFill>
            <a:prstDash val="solid"/>
          </a:ln>
        </p:spPr>
      </p:sp>
      <p:sp>
        <p:nvSpPr>
          <p:cNvPr id="11" name="Text 8"/>
          <p:cNvSpPr txBox="1"/>
          <p:nvPr/>
        </p:nvSpPr>
        <p:spPr>
          <a:xfrm>
            <a:off x="8305770" y="2463759"/>
            <a:ext cx="1904970" cy="190470"/>
          </a:xfrm>
          <a:prstGeom prst="rect">
            <a:avLst/>
          </a:prstGeom>
          <a:noFill/>
          <a:ln/>
        </p:spPr>
        <p:txBody>
          <a:bodyPr wrap="square" lIns="0" tIns="0" rIns="0" bIns="0" rtlCol="0" anchor="ctr"/>
          <a:lstStyle/>
          <a:p>
            <a:pPr indent="0" marL="0">
              <a:buNone/>
            </a:pPr>
            <a:r>
              <a:rPr lang="en-US" sz="1100" b="1" dirty="0">
                <a:solidFill>
                  <a:schemeClr val="tx1"/>
                </a:solidFill>
              </a:rPr>
              <a:t>NETFLIX.COM</a:t>
            </a:r>
            <a:endParaRPr lang="en-US" sz="1100" dirty="0"/>
          </a:p>
        </p:txBody>
      </p:sp>
      <p:sp>
        <p:nvSpPr>
          <p:cNvPr id="12" name="Text 9"/>
          <p:cNvSpPr txBox="1"/>
          <p:nvPr/>
        </p:nvSpPr>
        <p:spPr>
          <a:xfrm>
            <a:off x="10159990" y="2463759"/>
            <a:ext cx="1346180" cy="190470"/>
          </a:xfrm>
          <a:prstGeom prst="rect">
            <a:avLst/>
          </a:prstGeom>
          <a:noFill/>
          <a:ln/>
        </p:spPr>
        <p:txBody>
          <a:bodyPr wrap="square" lIns="0" tIns="0" rIns="0" bIns="0" rtlCol="0" anchor="ctr"/>
          <a:lstStyle/>
          <a:p>
            <a:pPr algn="r" indent="0" marL="0">
              <a:buNone/>
            </a:pPr>
            <a:r>
              <a:rPr lang="en-US" sz="1100" dirty="0">
                <a:solidFill>
                  <a:schemeClr val="tx1"/>
                </a:solidFill>
              </a:rPr>
              <a:t>$10.090</a:t>
            </a:r>
            <a:endParaRPr lang="en-US" sz="1100" dirty="0"/>
          </a:p>
        </p:txBody>
      </p:sp>
      <p:sp>
        <p:nvSpPr>
          <p:cNvPr id="13" name="Text 10"/>
          <p:cNvSpPr/>
          <p:nvPr/>
        </p:nvSpPr>
        <p:spPr>
          <a:xfrm>
            <a:off x="8305770" y="2692359"/>
            <a:ext cx="812810" cy="165141"/>
          </a:xfrm>
          <a:prstGeom prst="rect">
            <a:avLst/>
          </a:prstGeom>
          <a:solidFill>
            <a:srgbClr val="F0EFED"/>
          </a:solidFill>
          <a:ln/>
        </p:spPr>
        <p:txBody>
          <a:bodyPr wrap="square" lIns="0" tIns="0" rIns="0" bIns="0" rtlCol="0" anchor="ctr"/>
          <a:lstStyle/>
          <a:p>
            <a:pPr algn="ctr" indent="0" marL="0">
              <a:buNone/>
            </a:pPr>
            <a:r>
              <a:rPr lang="en-US" sz="700" b="1" spc="100" kern="0" dirty="0">
                <a:solidFill>
                  <a:schemeClr val="tx2"/>
                </a:solidFill>
              </a:rPr>
              <a:t>SUSCRIPCIÓN</a:t>
            </a:r>
            <a:endParaRPr lang="en-US" sz="700" dirty="0"/>
          </a:p>
        </p:txBody>
      </p:sp>
      <p:sp>
        <p:nvSpPr>
          <p:cNvPr id="14" name="Text 11"/>
          <p:cNvSpPr txBox="1"/>
          <p:nvPr/>
        </p:nvSpPr>
        <p:spPr>
          <a:xfrm>
            <a:off x="10159990" y="2692359"/>
            <a:ext cx="1346180" cy="165141"/>
          </a:xfrm>
          <a:prstGeom prst="rect">
            <a:avLst/>
          </a:prstGeom>
          <a:noFill/>
          <a:ln/>
        </p:spPr>
        <p:txBody>
          <a:bodyPr wrap="square" lIns="0" tIns="0" rIns="0" bIns="0" rtlCol="0" anchor="ctr"/>
          <a:lstStyle/>
          <a:p>
            <a:pPr algn="r" indent="0" marL="0">
              <a:buNone/>
            </a:pPr>
            <a:r>
              <a:rPr lang="en-US" sz="800" dirty="0">
                <a:solidFill>
                  <a:schemeClr val="accent3"/>
                </a:solidFill>
              </a:rPr>
              <a:t>mensual</a:t>
            </a:r>
            <a:endParaRPr lang="en-US" sz="800" dirty="0"/>
          </a:p>
        </p:txBody>
      </p:sp>
      <p:sp>
        <p:nvSpPr>
          <p:cNvPr id="15" name="Shape 12"/>
          <p:cNvSpPr/>
          <p:nvPr/>
        </p:nvSpPr>
        <p:spPr>
          <a:xfrm>
            <a:off x="8128010" y="2971800"/>
            <a:ext cx="3556010" cy="0"/>
          </a:xfrm>
          <a:prstGeom prst="line">
            <a:avLst/>
          </a:prstGeom>
          <a:noFill/>
          <a:ln w="9525">
            <a:solidFill>
              <a:schemeClr val="accent4"/>
            </a:solidFill>
            <a:prstDash val="solid"/>
          </a:ln>
        </p:spPr>
      </p:sp>
      <p:sp>
        <p:nvSpPr>
          <p:cNvPr id="16" name="Text 13"/>
          <p:cNvSpPr txBox="1"/>
          <p:nvPr/>
        </p:nvSpPr>
        <p:spPr>
          <a:xfrm>
            <a:off x="8305770" y="3111520"/>
            <a:ext cx="1904970" cy="190470"/>
          </a:xfrm>
          <a:prstGeom prst="rect">
            <a:avLst/>
          </a:prstGeom>
          <a:noFill/>
          <a:ln/>
        </p:spPr>
        <p:txBody>
          <a:bodyPr wrap="square" lIns="0" tIns="0" rIns="0" bIns="0" rtlCol="0" anchor="ctr"/>
          <a:lstStyle/>
          <a:p>
            <a:pPr indent="0" marL="0">
              <a:buNone/>
            </a:pPr>
            <a:r>
              <a:rPr lang="en-US" sz="1100" b="1" dirty="0">
                <a:solidFill>
                  <a:schemeClr val="tx1"/>
                </a:solidFill>
              </a:rPr>
              <a:t>FITNESS CLUB</a:t>
            </a:r>
            <a:endParaRPr lang="en-US" sz="1100" dirty="0"/>
          </a:p>
        </p:txBody>
      </p:sp>
      <p:sp>
        <p:nvSpPr>
          <p:cNvPr id="17" name="Text 14"/>
          <p:cNvSpPr txBox="1"/>
          <p:nvPr/>
        </p:nvSpPr>
        <p:spPr>
          <a:xfrm>
            <a:off x="10159990" y="3111520"/>
            <a:ext cx="1346180" cy="190470"/>
          </a:xfrm>
          <a:prstGeom prst="rect">
            <a:avLst/>
          </a:prstGeom>
          <a:noFill/>
          <a:ln/>
        </p:spPr>
        <p:txBody>
          <a:bodyPr wrap="square" lIns="0" tIns="0" rIns="0" bIns="0" rtlCol="0" anchor="ctr"/>
          <a:lstStyle/>
          <a:p>
            <a:pPr algn="r" indent="0" marL="0">
              <a:buNone/>
            </a:pPr>
            <a:r>
              <a:rPr lang="en-US" sz="1100" dirty="0">
                <a:solidFill>
                  <a:schemeClr val="tx1"/>
                </a:solidFill>
              </a:rPr>
              <a:t>$29.249</a:t>
            </a:r>
            <a:endParaRPr lang="en-US" sz="1100" dirty="0"/>
          </a:p>
        </p:txBody>
      </p:sp>
      <p:sp>
        <p:nvSpPr>
          <p:cNvPr id="18" name="Text 15"/>
          <p:cNvSpPr/>
          <p:nvPr/>
        </p:nvSpPr>
        <p:spPr>
          <a:xfrm>
            <a:off x="8305770" y="3340120"/>
            <a:ext cx="1174730" cy="165141"/>
          </a:xfrm>
          <a:prstGeom prst="rect">
            <a:avLst/>
          </a:prstGeom>
          <a:solidFill>
            <a:srgbClr val="059669"/>
          </a:solidFill>
          <a:ln/>
        </p:spPr>
        <p:txBody>
          <a:bodyPr wrap="square" lIns="0" tIns="0" rIns="0" bIns="0" rtlCol="0" anchor="ctr"/>
          <a:lstStyle/>
          <a:p>
            <a:pPr algn="ctr" indent="0" marL="0">
              <a:buNone/>
            </a:pPr>
            <a:r>
              <a:rPr lang="en-US" sz="700" b="1" spc="100" kern="0" dirty="0">
                <a:solidFill>
                  <a:schemeClr val="bg1"/>
                </a:solidFill>
              </a:rPr>
              <a:t>NUEVA SUSCRIPCIÓN</a:t>
            </a:r>
            <a:endParaRPr lang="en-US" sz="700" dirty="0"/>
          </a:p>
        </p:txBody>
      </p:sp>
      <p:sp>
        <p:nvSpPr>
          <p:cNvPr id="19" name="Text 16"/>
          <p:cNvSpPr txBox="1"/>
          <p:nvPr/>
        </p:nvSpPr>
        <p:spPr>
          <a:xfrm>
            <a:off x="10159990" y="3340120"/>
            <a:ext cx="1346180" cy="165141"/>
          </a:xfrm>
          <a:prstGeom prst="rect">
            <a:avLst/>
          </a:prstGeom>
          <a:noFill/>
          <a:ln/>
        </p:spPr>
        <p:txBody>
          <a:bodyPr wrap="square" lIns="0" tIns="0" rIns="0" bIns="0" rtlCol="0" anchor="ctr"/>
          <a:lstStyle/>
          <a:p>
            <a:pPr algn="r" indent="0" marL="0">
              <a:buNone/>
            </a:pPr>
            <a:r>
              <a:rPr lang="en-US" sz="800" dirty="0">
                <a:solidFill>
                  <a:schemeClr val="accent3"/>
                </a:solidFill>
              </a:rPr>
              <a:t>1er cobro</a:t>
            </a:r>
            <a:endParaRPr lang="en-US" sz="800" dirty="0"/>
          </a:p>
        </p:txBody>
      </p:sp>
      <p:sp>
        <p:nvSpPr>
          <p:cNvPr id="20" name="Shape 17"/>
          <p:cNvSpPr/>
          <p:nvPr/>
        </p:nvSpPr>
        <p:spPr>
          <a:xfrm>
            <a:off x="8128010" y="3619470"/>
            <a:ext cx="3556010" cy="0"/>
          </a:xfrm>
          <a:prstGeom prst="line">
            <a:avLst/>
          </a:prstGeom>
          <a:noFill/>
          <a:ln w="9525">
            <a:solidFill>
              <a:schemeClr val="accent4"/>
            </a:solidFill>
            <a:prstDash val="solid"/>
          </a:ln>
        </p:spPr>
      </p:sp>
      <p:sp>
        <p:nvSpPr>
          <p:cNvPr id="21" name="Text 18"/>
          <p:cNvSpPr txBox="1"/>
          <p:nvPr/>
        </p:nvSpPr>
        <p:spPr>
          <a:xfrm>
            <a:off x="8305770" y="3759190"/>
            <a:ext cx="1904970" cy="190470"/>
          </a:xfrm>
          <a:prstGeom prst="rect">
            <a:avLst/>
          </a:prstGeom>
          <a:noFill/>
          <a:ln/>
        </p:spPr>
        <p:txBody>
          <a:bodyPr wrap="square" lIns="0" tIns="0" rIns="0" bIns="0" rtlCol="0" anchor="ctr"/>
          <a:lstStyle/>
          <a:p>
            <a:pPr indent="0" marL="0">
              <a:buNone/>
            </a:pPr>
            <a:r>
              <a:rPr lang="en-US" sz="1100" b="1" dirty="0">
                <a:solidFill>
                  <a:schemeClr val="tx1"/>
                </a:solidFill>
              </a:rPr>
              <a:t>SPOTIFY</a:t>
            </a:r>
            <a:endParaRPr lang="en-US" sz="1100" dirty="0"/>
          </a:p>
        </p:txBody>
      </p:sp>
      <p:sp>
        <p:nvSpPr>
          <p:cNvPr id="22" name="Text 19"/>
          <p:cNvSpPr txBox="1"/>
          <p:nvPr/>
        </p:nvSpPr>
        <p:spPr>
          <a:xfrm>
            <a:off x="10159990" y="3759190"/>
            <a:ext cx="1346180" cy="190470"/>
          </a:xfrm>
          <a:prstGeom prst="rect">
            <a:avLst/>
          </a:prstGeom>
          <a:noFill/>
          <a:ln/>
        </p:spPr>
        <p:txBody>
          <a:bodyPr wrap="square" lIns="0" tIns="0" rIns="0" bIns="0" rtlCol="0" anchor="ctr"/>
          <a:lstStyle/>
          <a:p>
            <a:pPr algn="r" indent="0" marL="0">
              <a:buNone/>
            </a:pPr>
            <a:r>
              <a:rPr lang="en-US" sz="1100" dirty="0">
                <a:solidFill>
                  <a:schemeClr val="tx1"/>
                </a:solidFill>
              </a:rPr>
              <a:t>$6.490</a:t>
            </a:r>
            <a:endParaRPr lang="en-US" sz="1100" dirty="0"/>
          </a:p>
        </p:txBody>
      </p:sp>
      <p:sp>
        <p:nvSpPr>
          <p:cNvPr id="23" name="Text 20"/>
          <p:cNvSpPr/>
          <p:nvPr/>
        </p:nvSpPr>
        <p:spPr>
          <a:xfrm>
            <a:off x="8305770" y="3987790"/>
            <a:ext cx="812810" cy="165141"/>
          </a:xfrm>
          <a:prstGeom prst="rect">
            <a:avLst/>
          </a:prstGeom>
          <a:solidFill>
            <a:srgbClr val="3B82F6"/>
          </a:solidFill>
          <a:ln/>
        </p:spPr>
        <p:txBody>
          <a:bodyPr wrap="square" lIns="0" tIns="0" rIns="0" bIns="0" rtlCol="0" anchor="ctr"/>
          <a:lstStyle/>
          <a:p>
            <a:pPr algn="ctr" indent="0" marL="0">
              <a:buNone/>
            </a:pPr>
            <a:r>
              <a:rPr lang="en-US" sz="700" b="1" spc="100" kern="0" dirty="0">
                <a:solidFill>
                  <a:schemeClr val="bg1"/>
                </a:solidFill>
              </a:rPr>
              <a:t>SUBIÓ 22,7%</a:t>
            </a:r>
            <a:endParaRPr lang="en-US" sz="700" dirty="0"/>
          </a:p>
        </p:txBody>
      </p:sp>
      <p:sp>
        <p:nvSpPr>
          <p:cNvPr id="24" name="Text 21"/>
          <p:cNvSpPr txBox="1"/>
          <p:nvPr/>
        </p:nvSpPr>
        <p:spPr>
          <a:xfrm>
            <a:off x="10159990" y="3987790"/>
            <a:ext cx="1346180" cy="165141"/>
          </a:xfrm>
          <a:prstGeom prst="rect">
            <a:avLst/>
          </a:prstGeom>
          <a:noFill/>
          <a:ln/>
        </p:spPr>
        <p:txBody>
          <a:bodyPr wrap="square" lIns="0" tIns="0" rIns="0" bIns="0" rtlCol="0" anchor="ctr"/>
          <a:lstStyle/>
          <a:p>
            <a:pPr algn="r" indent="0" marL="0">
              <a:buNone/>
            </a:pPr>
            <a:r>
              <a:rPr lang="en-US" sz="800" dirty="0">
                <a:solidFill>
                  <a:schemeClr val="accent3"/>
                </a:solidFill>
              </a:rPr>
              <a:t>antes $5.290</a:t>
            </a:r>
            <a:endParaRPr lang="en-US" sz="800" dirty="0"/>
          </a:p>
        </p:txBody>
      </p:sp>
      <p:sp>
        <p:nvSpPr>
          <p:cNvPr id="25" name="Shape 22"/>
          <p:cNvSpPr/>
          <p:nvPr/>
        </p:nvSpPr>
        <p:spPr>
          <a:xfrm>
            <a:off x="8128010" y="4267230"/>
            <a:ext cx="3556010" cy="0"/>
          </a:xfrm>
          <a:prstGeom prst="line">
            <a:avLst/>
          </a:prstGeom>
          <a:noFill/>
          <a:ln w="9525">
            <a:solidFill>
              <a:schemeClr val="accent4"/>
            </a:solidFill>
            <a:prstDash val="solid"/>
          </a:ln>
        </p:spPr>
      </p:sp>
      <p:sp>
        <p:nvSpPr>
          <p:cNvPr id="26" name="Text 23"/>
          <p:cNvSpPr txBox="1"/>
          <p:nvPr/>
        </p:nvSpPr>
        <p:spPr>
          <a:xfrm>
            <a:off x="8305770" y="4406859"/>
            <a:ext cx="1904970" cy="190470"/>
          </a:xfrm>
          <a:prstGeom prst="rect">
            <a:avLst/>
          </a:prstGeom>
          <a:noFill/>
          <a:ln/>
        </p:spPr>
        <p:txBody>
          <a:bodyPr wrap="square" lIns="0" tIns="0" rIns="0" bIns="0" rtlCol="0" anchor="ctr"/>
          <a:lstStyle/>
          <a:p>
            <a:pPr indent="0" marL="0">
              <a:buNone/>
            </a:pPr>
            <a:r>
              <a:rPr lang="en-US" sz="1100" b="1" dirty="0">
                <a:solidFill>
                  <a:schemeClr val="tx1"/>
                </a:solidFill>
              </a:rPr>
              <a:t>UBER *TRIP</a:t>
            </a:r>
            <a:endParaRPr lang="en-US" sz="1100" dirty="0"/>
          </a:p>
        </p:txBody>
      </p:sp>
      <p:sp>
        <p:nvSpPr>
          <p:cNvPr id="27" name="Text 24"/>
          <p:cNvSpPr txBox="1"/>
          <p:nvPr/>
        </p:nvSpPr>
        <p:spPr>
          <a:xfrm>
            <a:off x="10159990" y="4406859"/>
            <a:ext cx="1346180" cy="190470"/>
          </a:xfrm>
          <a:prstGeom prst="rect">
            <a:avLst/>
          </a:prstGeom>
          <a:noFill/>
          <a:ln/>
        </p:spPr>
        <p:txBody>
          <a:bodyPr wrap="square" lIns="0" tIns="0" rIns="0" bIns="0" rtlCol="0" anchor="ctr"/>
          <a:lstStyle/>
          <a:p>
            <a:pPr algn="r" indent="0" marL="0">
              <a:buNone/>
            </a:pPr>
            <a:r>
              <a:rPr lang="en-US" sz="1100" dirty="0">
                <a:solidFill>
                  <a:schemeClr val="tx1"/>
                </a:solidFill>
              </a:rPr>
              <a:t>$4.380</a:t>
            </a:r>
            <a:endParaRPr lang="en-US" sz="1100" dirty="0"/>
          </a:p>
        </p:txBody>
      </p:sp>
      <p:sp>
        <p:nvSpPr>
          <p:cNvPr id="28" name="Text 25"/>
          <p:cNvSpPr txBox="1"/>
          <p:nvPr/>
        </p:nvSpPr>
        <p:spPr>
          <a:xfrm>
            <a:off x="8305770" y="4648170"/>
            <a:ext cx="1651041" cy="152430"/>
          </a:xfrm>
          <a:prstGeom prst="rect">
            <a:avLst/>
          </a:prstGeom>
          <a:noFill/>
          <a:ln/>
        </p:spPr>
        <p:txBody>
          <a:bodyPr wrap="square" lIns="0" tIns="0" rIns="0" bIns="0" rtlCol="0" anchor="ctr"/>
          <a:lstStyle/>
          <a:p>
            <a:pPr indent="0" marL="0">
              <a:buNone/>
            </a:pPr>
            <a:r>
              <a:rPr lang="en-US" sz="700" b="1" spc="100" kern="0" dirty="0">
                <a:solidFill>
                  <a:schemeClr val="accent3"/>
                </a:solidFill>
              </a:rPr>
              <a:t>COMPRA PUNTUAL</a:t>
            </a:r>
            <a:endParaRPr lang="en-US" sz="700" dirty="0"/>
          </a:p>
        </p:txBody>
      </p:sp>
      <p:sp>
        <p:nvSpPr>
          <p:cNvPr id="29" name="Text 26"/>
          <p:cNvSpPr txBox="1"/>
          <p:nvPr/>
        </p:nvSpPr>
        <p:spPr>
          <a:xfrm>
            <a:off x="10159990" y="4635459"/>
            <a:ext cx="1346180" cy="165141"/>
          </a:xfrm>
          <a:prstGeom prst="rect">
            <a:avLst/>
          </a:prstGeom>
          <a:noFill/>
          <a:ln/>
        </p:spPr>
        <p:txBody>
          <a:bodyPr wrap="square" lIns="0" tIns="0" rIns="0" bIns="0" rtlCol="0" anchor="ctr"/>
          <a:lstStyle/>
          <a:p>
            <a:pPr algn="r" indent="0" marL="0">
              <a:buNone/>
            </a:pP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Sección"/>
          <p:cNvSpPr txBox="1"/>
          <p:nvPr/>
        </p:nvSpPr>
        <p:spPr>
          <a:xfrm>
            <a:off x="1257300" y="279441"/>
            <a:ext cx="3810030" cy="368320"/>
          </a:xfrm>
          <a:prstGeom prst="rect">
            <a:avLst/>
          </a:prstGeom>
          <a:noFill/>
          <a:ln/>
        </p:spPr>
        <p:txBody>
          <a:bodyPr wrap="square" lIns="0" tIns="0" rIns="0" bIns="0" rtlCol="0" anchor="ctr"/>
          <a:lstStyle/>
          <a:p>
            <a:pPr indent="0" marL="0">
              <a:buNone/>
            </a:pPr>
            <a:r>
              <a:rPr lang="en-US" sz="800" spc="100" kern="0" dirty="0">
                <a:solidFill>
                  <a:schemeClr val="tx2"/>
                </a:solidFill>
              </a:rPr>
              <a:t>PROBLEMA</a:t>
            </a:r>
            <a:endParaRPr lang="en-US" sz="800" dirty="0"/>
          </a:p>
        </p:txBody>
      </p:sp>
      <p:sp>
        <p:nvSpPr>
          <p:cNvPr id="4" name="Text 3"/>
          <p:cNvSpPr/>
          <p:nvPr>
            <p:ph idx="104" type="title" hasCustomPrompt="1"/>
          </p:nvPr>
        </p:nvSpPr>
        <p:spPr>
          <a:xfrm>
            <a:off x="761970" y="1047720"/>
            <a:ext cx="10159990" cy="1079541"/>
          </a:xfrm>
          <a:prstGeom prst="rect">
            <a:avLst/>
          </a:prstGeom>
          <a:noFill/>
          <a:ln/>
        </p:spPr>
        <p:txBody>
          <a:bodyPr wrap="square" lIns="0" tIns="0" rIns="0" bIns="0" rtlCol="0" anchor="t"/>
          <a:lstStyle/>
          <a:p>
            <a:pPr algn="l" indent="0" marL="0">
              <a:buNone/>
            </a:pPr>
            <a:r>
              <a:rPr lang="en-US" sz="3200" b="1" dirty="0">
                <a:solidFill>
                  <a:schemeClr val="tx1"/>
                </a:solidFill>
              </a:rPr>
              <a:t>Te enteras del cobro cuando la plata ya salió.</a:t>
            </a:r>
            <a:endParaRPr lang="en-US" sz="3200" dirty="0"/>
          </a:p>
        </p:txBody>
      </p:sp>
      <p:sp>
        <p:nvSpPr>
          <p:cNvPr id="5" name="Shape 2"/>
          <p:cNvSpPr/>
          <p:nvPr/>
        </p:nvSpPr>
        <p:spPr>
          <a:xfrm>
            <a:off x="761970" y="1790670"/>
            <a:ext cx="10668030" cy="0"/>
          </a:xfrm>
          <a:prstGeom prst="line">
            <a:avLst/>
          </a:prstGeom>
          <a:noFill/>
          <a:ln w="9525">
            <a:solidFill>
              <a:schemeClr val="accent4"/>
            </a:solidFill>
            <a:prstDash val="solid"/>
          </a:ln>
        </p:spPr>
      </p:sp>
      <p:sp>
        <p:nvSpPr>
          <p:cNvPr id="6" name="Shape 3"/>
          <p:cNvSpPr/>
          <p:nvPr/>
        </p:nvSpPr>
        <p:spPr>
          <a:xfrm>
            <a:off x="6096030" y="1790670"/>
            <a:ext cx="0" cy="4444990"/>
          </a:xfrm>
          <a:prstGeom prst="line">
            <a:avLst/>
          </a:prstGeom>
          <a:noFill/>
          <a:ln w="9525">
            <a:solidFill>
              <a:schemeClr val="accent4"/>
            </a:solidFill>
            <a:prstDash val="solid"/>
          </a:ln>
        </p:spPr>
      </p:sp>
      <p:sp>
        <p:nvSpPr>
          <p:cNvPr id="7" name="Text 4"/>
          <p:cNvSpPr txBox="1"/>
          <p:nvPr/>
        </p:nvSpPr>
        <p:spPr>
          <a:xfrm>
            <a:off x="761970" y="2095530"/>
            <a:ext cx="2540020" cy="190470"/>
          </a:xfrm>
          <a:prstGeom prst="rect">
            <a:avLst/>
          </a:prstGeom>
          <a:noFill/>
          <a:ln/>
        </p:spPr>
        <p:txBody>
          <a:bodyPr wrap="square" lIns="0" tIns="0" rIns="0" bIns="0" rtlCol="0" anchor="t"/>
          <a:lstStyle/>
          <a:p>
            <a:pPr indent="0" marL="0">
              <a:buNone/>
            </a:pPr>
            <a:r>
              <a:rPr lang="en-US" sz="800" b="1" spc="100" kern="0" dirty="0">
                <a:solidFill>
                  <a:schemeClr val="tx2"/>
                </a:solidFill>
              </a:rPr>
              <a:t>LO SUFRE</a:t>
            </a:r>
            <a:endParaRPr lang="en-US" sz="800" dirty="0"/>
          </a:p>
        </p:txBody>
      </p:sp>
      <p:sp>
        <p:nvSpPr>
          <p:cNvPr id="8" name="Text 5"/>
          <p:cNvSpPr txBox="1"/>
          <p:nvPr/>
        </p:nvSpPr>
        <p:spPr>
          <a:xfrm>
            <a:off x="761970" y="2254270"/>
            <a:ext cx="4953030" cy="31748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El titular de la cuenta</a:t>
            </a:r>
            <a:endParaRPr lang="en-US" sz="1800" dirty="0"/>
          </a:p>
        </p:txBody>
      </p:sp>
      <p:sp>
        <p:nvSpPr>
          <p:cNvPr id="9" name="Text 6"/>
          <p:cNvSpPr txBox="1"/>
          <p:nvPr/>
        </p:nvSpPr>
        <p:spPr>
          <a:xfrm>
            <a:off x="761970" y="2635209"/>
            <a:ext cx="5080041" cy="825520"/>
          </a:xfrm>
          <a:prstGeom prst="rect">
            <a:avLst/>
          </a:prstGeom>
          <a:noFill/>
          <a:ln/>
        </p:spPr>
        <p:txBody>
          <a:bodyPr wrap="square" lIns="0" tIns="0" rIns="0" bIns="0" rtlCol="0" anchor="ctr"/>
          <a:lstStyle/>
          <a:p>
            <a:pPr indent="0" marL="0">
              <a:buNone/>
            </a:pPr>
            <a:r>
              <a:rPr lang="en-US" sz="5800" b="1" dirty="0">
                <a:solidFill>
                  <a:schemeClr val="tx1"/>
                </a:solidFill>
                <a:latin typeface="+mj-lt" pitchFamily="34" charset="0"/>
                <a:ea typeface="+mj-lt" pitchFamily="34" charset="-122"/>
                <a:cs typeface="+mj-lt" pitchFamily="34" charset="-120"/>
              </a:rPr>
              <a:t>~37 mil</a:t>
            </a:r>
            <a:endParaRPr lang="en-US" sz="5800" dirty="0"/>
          </a:p>
        </p:txBody>
      </p:sp>
      <p:sp>
        <p:nvSpPr>
          <p:cNvPr id="10" name="Text 7"/>
          <p:cNvSpPr txBox="1"/>
          <p:nvPr/>
        </p:nvSpPr>
        <p:spPr>
          <a:xfrm>
            <a:off x="761970" y="3524280"/>
            <a:ext cx="4953030" cy="381030"/>
          </a:xfrm>
          <a:prstGeom prst="rect">
            <a:avLst/>
          </a:prstGeom>
          <a:noFill/>
          <a:ln/>
        </p:spPr>
        <p:txBody>
          <a:bodyPr wrap="square" lIns="0" tIns="0" rIns="0" bIns="0" rtlCol="0" anchor="t"/>
          <a:lstStyle/>
          <a:p>
            <a:pPr indent="0" marL="0">
              <a:buNone/>
            </a:pPr>
            <a:r>
              <a:rPr lang="en-US" sz="1000" dirty="0">
                <a:solidFill>
                  <a:schemeClr val="tx2"/>
                </a:solidFill>
              </a:rPr>
              <a:t>reclamos al año por cobros indebidos en el mercado financiero</a:t>
            </a:r>
            <a:pPr indent="0" marL="0">
              <a:buNone/>
            </a:pPr>
            <a:r>
              <a:rPr lang="en-US" sz="1000" baseline="30000" dirty="0">
                <a:solidFill>
                  <a:schemeClr val="accent1"/>
                </a:solidFill>
              </a:rPr>
              <a:t>1</a:t>
            </a:r>
            <a:endParaRPr lang="en-US" sz="1000" dirty="0"/>
          </a:p>
        </p:txBody>
      </p:sp>
      <p:sp>
        <p:nvSpPr>
          <p:cNvPr id="11" name="Text 8"/>
          <p:cNvSpPr txBox="1"/>
          <p:nvPr/>
        </p:nvSpPr>
        <p:spPr>
          <a:xfrm>
            <a:off x="6483370" y="2095530"/>
            <a:ext cx="2540020" cy="190470"/>
          </a:xfrm>
          <a:prstGeom prst="rect">
            <a:avLst/>
          </a:prstGeom>
          <a:noFill/>
          <a:ln/>
        </p:spPr>
        <p:txBody>
          <a:bodyPr wrap="square" lIns="0" tIns="0" rIns="0" bIns="0" rtlCol="0" anchor="t"/>
          <a:lstStyle/>
          <a:p>
            <a:pPr indent="0" marL="0">
              <a:buNone/>
            </a:pPr>
            <a:r>
              <a:rPr lang="en-US" sz="800" b="1" spc="100" kern="0" dirty="0">
                <a:solidFill>
                  <a:schemeClr val="tx2"/>
                </a:solidFill>
              </a:rPr>
              <a:t>LO PAGA</a:t>
            </a:r>
            <a:endParaRPr lang="en-US" sz="800" dirty="0"/>
          </a:p>
        </p:txBody>
      </p:sp>
      <p:sp>
        <p:nvSpPr>
          <p:cNvPr id="12" name="Text 9"/>
          <p:cNvSpPr txBox="1"/>
          <p:nvPr/>
        </p:nvSpPr>
        <p:spPr>
          <a:xfrm>
            <a:off x="6483370" y="2254270"/>
            <a:ext cx="4953030" cy="31748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El banco emisor</a:t>
            </a:r>
            <a:endParaRPr lang="en-US" sz="1800" dirty="0"/>
          </a:p>
        </p:txBody>
      </p:sp>
      <p:sp>
        <p:nvSpPr>
          <p:cNvPr id="13" name="Text 10"/>
          <p:cNvSpPr txBox="1"/>
          <p:nvPr/>
        </p:nvSpPr>
        <p:spPr>
          <a:xfrm>
            <a:off x="6483370" y="2635209"/>
            <a:ext cx="5080041" cy="825520"/>
          </a:xfrm>
          <a:prstGeom prst="rect">
            <a:avLst/>
          </a:prstGeom>
          <a:noFill/>
          <a:ln/>
        </p:spPr>
        <p:txBody>
          <a:bodyPr wrap="square" lIns="0" tIns="0" rIns="0" bIns="0" rtlCol="0" anchor="ctr"/>
          <a:lstStyle/>
          <a:p>
            <a:pPr indent="0" marL="0">
              <a:buNone/>
            </a:pPr>
            <a:r>
              <a:rPr lang="en-US" sz="5800" b="1" dirty="0">
                <a:solidFill>
                  <a:schemeClr val="accent2"/>
                </a:solidFill>
                <a:latin typeface="+mj-lt" pitchFamily="34" charset="0"/>
                <a:ea typeface="+mj-lt" pitchFamily="34" charset="-122"/>
                <a:cs typeface="+mj-lt" pitchFamily="34" charset="-120"/>
              </a:rPr>
              <a:t>$72.000 MM</a:t>
            </a:r>
            <a:endParaRPr lang="en-US" sz="5800" dirty="0"/>
          </a:p>
        </p:txBody>
      </p:sp>
      <p:sp>
        <p:nvSpPr>
          <p:cNvPr id="14" name="Text 11"/>
          <p:cNvSpPr txBox="1"/>
          <p:nvPr/>
        </p:nvSpPr>
        <p:spPr>
          <a:xfrm>
            <a:off x="6483370" y="3524280"/>
            <a:ext cx="4953030" cy="381030"/>
          </a:xfrm>
          <a:prstGeom prst="rect">
            <a:avLst/>
          </a:prstGeom>
          <a:noFill/>
          <a:ln/>
        </p:spPr>
        <p:txBody>
          <a:bodyPr wrap="square" lIns="0" tIns="0" rIns="0" bIns="0" rtlCol="0" anchor="t"/>
          <a:lstStyle/>
          <a:p>
            <a:pPr indent="0" marL="0">
              <a:buNone/>
            </a:pPr>
            <a:r>
              <a:rPr lang="en-US" sz="1000" dirty="0">
                <a:solidFill>
                  <a:schemeClr val="tx2"/>
                </a:solidFill>
              </a:rPr>
              <a:t>perdidos por fraude externo en un solo mes, marzo de 2024</a:t>
            </a:r>
            <a:pPr indent="0" marL="0">
              <a:buNone/>
            </a:pPr>
            <a:r>
              <a:rPr lang="en-US" sz="1000" baseline="30000" dirty="0">
                <a:solidFill>
                  <a:schemeClr val="accent1"/>
                </a:solidFill>
              </a:rPr>
              <a:t>3</a:t>
            </a:r>
            <a:endParaRPr lang="en-US" sz="1000" dirty="0"/>
          </a:p>
        </p:txBody>
      </p:sp>
      <p:sp>
        <p:nvSpPr>
          <p:cNvPr id="15" name="Puente legal"/>
          <p:cNvSpPr/>
          <p:nvPr/>
        </p:nvSpPr>
        <p:spPr>
          <a:xfrm>
            <a:off x="4762470" y="5283220"/>
            <a:ext cx="2667030" cy="749259"/>
          </a:xfrm>
          <a:prstGeom prst="rect">
            <a:avLst/>
          </a:prstGeom>
          <a:solidFill>
            <a:schemeClr val="accent1"/>
          </a:solidFill>
          <a:ln/>
        </p:spPr>
        <p:txBody>
          <a:bodyPr wrap="square" lIns="101600" tIns="101600" rIns="101600" bIns="101600" rtlCol="0" anchor="ctr"/>
          <a:lstStyle/>
          <a:p>
            <a:pPr algn="ctr" indent="0" marL="0">
              <a:spcAft>
                <a:spcPts val="400"/>
              </a:spcAft>
              <a:buNone/>
            </a:pPr>
            <a:r>
              <a:rPr lang="en-US" sz="700" b="1" spc="100" kern="0" dirty="0">
                <a:solidFill>
                  <a:schemeClr val="bg1"/>
                </a:solidFill>
              </a:rPr>
              <a:t>LEY 20.009</a:t>
            </a:r>
            <a:endParaRPr lang="en-US" sz="700" dirty="0"/>
          </a:p>
          <a:p>
            <a:pPr algn="ctr" indent="0" marL="0">
              <a:spcAft>
                <a:spcPts val="400"/>
              </a:spcAft>
              <a:buNone/>
            </a:pPr>
            <a:r>
              <a:rPr lang="en-US" sz="1000" dirty="0">
                <a:solidFill>
                  <a:schemeClr val="bg1"/>
                </a:solidFill>
              </a:rPr>
              <a:t>lo que el cliente no reconoce, el banco lo devuelve</a:t>
            </a:r>
            <a:endParaRPr lang="en-US" sz="700" dirty="0"/>
          </a:p>
        </p:txBody>
      </p:sp>
      <p:sp>
        <p:nvSpPr>
          <p:cNvPr id="16" name="Fuente"/>
          <p:cNvSpPr txBox="1"/>
          <p:nvPr/>
        </p:nvSpPr>
        <p:spPr>
          <a:xfrm>
            <a:off x="761970" y="6464259"/>
            <a:ext cx="10668030" cy="190470"/>
          </a:xfrm>
          <a:prstGeom prst="rect">
            <a:avLst/>
          </a:prstGeom>
          <a:noFill/>
          <a:ln/>
        </p:spPr>
        <p:txBody>
          <a:bodyPr wrap="square" lIns="0" tIns="0" rIns="0" bIns="0" rtlCol="0" anchor="t"/>
          <a:lstStyle/>
          <a:p>
            <a:pPr indent="0" marL="0">
              <a:buNone/>
            </a:pPr>
            <a:r>
              <a:rPr lang="en-US" sz="700" dirty="0">
                <a:solidFill>
                  <a:schemeClr val="accent3"/>
                </a:solidFill>
              </a:rPr>
              <a:t>[1] SERNAC, Ranking Financiero 2022, estimación anual del equipo · [3] CMF, Nota Técnica Ley de Fraudes, oct-2025</a:t>
            </a:r>
            <a:endParaRPr lang="en-US" sz="700" dirty="0"/>
          </a:p>
        </p:txBody>
      </p:sp>
      <p:sp>
        <p:nvSpPr>
          <p:cNvPr id="25" name="Slide Number Placeholder 0"/>
          <p:cNvSpPr>
            <a:spLocks noGrp="1"/>
          </p:cNvSpPr>
          <p:nvPr>
            <p:ph type="sldNum" sz="quarter" idx="4294967295"/>
          </p:nvPr>
        </p:nvSpPr>
        <p:spPr>
          <a:xfrm>
            <a:off x="761970" y="279441"/>
            <a:ext cx="368320" cy="368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Inter"/>
                <a:ea typeface="Inter"/>
                <a:cs typeface="Inter"/>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Sección"/>
          <p:cNvSpPr txBox="1"/>
          <p:nvPr/>
        </p:nvSpPr>
        <p:spPr>
          <a:xfrm>
            <a:off x="1257300" y="279441"/>
            <a:ext cx="3810030" cy="368320"/>
          </a:xfrm>
          <a:prstGeom prst="rect">
            <a:avLst/>
          </a:prstGeom>
          <a:noFill/>
          <a:ln/>
        </p:spPr>
        <p:txBody>
          <a:bodyPr wrap="square" lIns="0" tIns="0" rIns="0" bIns="0" rtlCol="0" anchor="ctr"/>
          <a:lstStyle/>
          <a:p>
            <a:pPr indent="0" marL="0">
              <a:buNone/>
            </a:pPr>
            <a:r>
              <a:rPr lang="en-US" sz="800" spc="100" kern="0" dirty="0">
                <a:solidFill>
                  <a:schemeClr val="tx2"/>
                </a:solidFill>
              </a:rPr>
              <a:t>VIAJE</a:t>
            </a:r>
            <a:endParaRPr lang="en-US" sz="800" dirty="0"/>
          </a:p>
        </p:txBody>
      </p:sp>
      <p:sp>
        <p:nvSpPr>
          <p:cNvPr id="4" name="Text 3"/>
          <p:cNvSpPr/>
          <p:nvPr>
            <p:ph idx="104" type="title" hasCustomPrompt="1"/>
          </p:nvPr>
        </p:nvSpPr>
        <p:spPr>
          <a:xfrm>
            <a:off x="761970" y="1047720"/>
            <a:ext cx="10159990" cy="1079541"/>
          </a:xfrm>
          <a:prstGeom prst="rect">
            <a:avLst/>
          </a:prstGeom>
          <a:noFill/>
          <a:ln/>
        </p:spPr>
        <p:txBody>
          <a:bodyPr wrap="square" lIns="0" tIns="0" rIns="0" bIns="0" rtlCol="0" anchor="t"/>
          <a:lstStyle/>
          <a:p>
            <a:pPr algn="l" indent="0" marL="0">
              <a:buNone/>
            </a:pPr>
            <a:r>
              <a:rPr lang="en-US" sz="3200" b="1" dirty="0">
                <a:solidFill>
                  <a:schemeClr val="tx1"/>
                </a:solidFill>
              </a:rPr>
              <a:t>Lo que cambiamos en el camino.</a:t>
            </a:r>
            <a:endParaRPr lang="en-US" sz="3200" dirty="0"/>
          </a:p>
        </p:txBody>
      </p:sp>
      <p:sp>
        <p:nvSpPr>
          <p:cNvPr id="5" name="Shape 2"/>
          <p:cNvSpPr/>
          <p:nvPr/>
        </p:nvSpPr>
        <p:spPr>
          <a:xfrm>
            <a:off x="761970" y="2590770"/>
            <a:ext cx="10668030" cy="0"/>
          </a:xfrm>
          <a:prstGeom prst="line">
            <a:avLst/>
          </a:prstGeom>
          <a:noFill/>
          <a:ln w="19050">
            <a:solidFill>
              <a:schemeClr val="tx1"/>
            </a:solidFill>
            <a:prstDash val="solid"/>
          </a:ln>
        </p:spPr>
      </p:sp>
      <p:sp>
        <p:nvSpPr>
          <p:cNvPr id="6" name="Text 3"/>
          <p:cNvSpPr txBox="1"/>
          <p:nvPr/>
        </p:nvSpPr>
        <p:spPr>
          <a:xfrm>
            <a:off x="761970" y="2590770"/>
            <a:ext cx="381030" cy="660380"/>
          </a:xfrm>
          <a:prstGeom prst="rect">
            <a:avLst/>
          </a:prstGeom>
          <a:noFill/>
          <a:ln/>
        </p:spPr>
        <p:txBody>
          <a:bodyPr wrap="square" lIns="0" tIns="0" rIns="0" bIns="0" rtlCol="0" anchor="ctr"/>
          <a:lstStyle/>
          <a:p>
            <a:pPr indent="0" marL="0">
              <a:buNone/>
            </a:pPr>
            <a:r>
              <a:rPr lang="en-US" sz="800" dirty="0">
                <a:solidFill>
                  <a:schemeClr val="accent3"/>
                </a:solidFill>
              </a:rPr>
              <a:t>01</a:t>
            </a:r>
            <a:endParaRPr lang="en-US" sz="800" dirty="0"/>
          </a:p>
        </p:txBody>
      </p:sp>
      <p:sp>
        <p:nvSpPr>
          <p:cNvPr id="7" name="Text 4"/>
          <p:cNvSpPr txBox="1"/>
          <p:nvPr/>
        </p:nvSpPr>
        <p:spPr>
          <a:xfrm>
            <a:off x="1206459" y="2590770"/>
            <a:ext cx="3556010" cy="660380"/>
          </a:xfrm>
          <a:prstGeom prst="rect">
            <a:avLst/>
          </a:prstGeom>
          <a:noFill/>
          <a:ln/>
        </p:spPr>
        <p:txBody>
          <a:bodyPr wrap="square" lIns="0" tIns="0" rIns="0" bIns="0" rtlCol="0" anchor="ctr"/>
          <a:lstStyle/>
          <a:p>
            <a:pPr indent="0" marL="0">
              <a:buNone/>
            </a:pPr>
            <a:r>
              <a:rPr lang="en-US" sz="1700" b="1" strike="sngStrike" dirty="0">
                <a:solidFill>
                  <a:schemeClr val="accent3"/>
                </a:solidFill>
                <a:latin typeface="+mj-lt" pitchFamily="34" charset="0"/>
                <a:ea typeface="+mj-lt" pitchFamily="34" charset="-122"/>
                <a:cs typeface="+mj-lt" pitchFamily="34" charset="-120"/>
              </a:rPr>
              <a:t>Detener cualquier cobro</a:t>
            </a:r>
            <a:endParaRPr lang="en-US" sz="1700" dirty="0"/>
          </a:p>
        </p:txBody>
      </p:sp>
      <p:sp>
        <p:nvSpPr>
          <p:cNvPr id="8" name="Text 5"/>
          <p:cNvSpPr/>
          <p:nvPr/>
        </p:nvSpPr>
        <p:spPr>
          <a:xfrm>
            <a:off x="4870460" y="2794041"/>
            <a:ext cx="254020" cy="254020"/>
          </a:xfrm>
          <a:prstGeom prst="rect">
            <a:avLst/>
          </a:prstGeom>
          <a:solidFill>
            <a:schemeClr val="accent1"/>
          </a:solidFill>
          <a:ln/>
        </p:spPr>
        <p:txBody>
          <a:bodyPr wrap="square" lIns="0" tIns="0" rIns="0" bIns="0" rtlCol="0" anchor="ctr"/>
          <a:lstStyle/>
          <a:p>
            <a:pPr algn="ctr" indent="0" marL="0">
              <a:buNone/>
            </a:pPr>
            <a:r>
              <a:rPr lang="en-US" sz="1100" b="1" dirty="0">
                <a:solidFill>
                  <a:schemeClr val="bg1"/>
                </a:solidFill>
              </a:rPr>
              <a:t>→</a:t>
            </a:r>
            <a:endParaRPr lang="en-US" sz="1100" dirty="0"/>
          </a:p>
        </p:txBody>
      </p:sp>
      <p:sp>
        <p:nvSpPr>
          <p:cNvPr id="9" name="Text 6"/>
          <p:cNvSpPr txBox="1"/>
          <p:nvPr/>
        </p:nvSpPr>
        <p:spPr>
          <a:xfrm>
            <a:off x="5314950" y="2590770"/>
            <a:ext cx="4317980" cy="660380"/>
          </a:xfrm>
          <a:prstGeom prst="rect">
            <a:avLst/>
          </a:prstGeom>
          <a:noFill/>
          <a:ln/>
        </p:spPr>
        <p:txBody>
          <a:bodyPr wrap="square" lIns="0" tIns="0" rIns="0" bIns="0" rtlCol="0" anchor="ctr"/>
          <a:lstStyle/>
          <a:p>
            <a:pPr indent="0" marL="0">
              <a:buNone/>
            </a:pPr>
            <a:r>
              <a:rPr lang="en-US" sz="1900" b="1" dirty="0">
                <a:solidFill>
                  <a:schemeClr val="tx1"/>
                </a:solidFill>
                <a:latin typeface="+mj-lt" pitchFamily="34" charset="0"/>
                <a:ea typeface="+mj-lt" pitchFamily="34" charset="-122"/>
                <a:cs typeface="+mj-lt" pitchFamily="34" charset="-120"/>
              </a:rPr>
              <a:t>Ver y avisar primero</a:t>
            </a:r>
            <a:endParaRPr lang="en-US" sz="1900" dirty="0"/>
          </a:p>
        </p:txBody>
      </p:sp>
      <p:sp>
        <p:nvSpPr>
          <p:cNvPr id="10" name="Text 7"/>
          <p:cNvSpPr txBox="1"/>
          <p:nvPr/>
        </p:nvSpPr>
        <p:spPr>
          <a:xfrm>
            <a:off x="9525030" y="2590770"/>
            <a:ext cx="1904970" cy="660380"/>
          </a:xfrm>
          <a:prstGeom prst="rect">
            <a:avLst/>
          </a:prstGeom>
          <a:noFill/>
          <a:ln/>
        </p:spPr>
        <p:txBody>
          <a:bodyPr wrap="square" lIns="0" tIns="0" rIns="0" bIns="0" rtlCol="0" anchor="ctr"/>
          <a:lstStyle/>
          <a:p>
            <a:pPr algn="r" indent="0" marL="0">
              <a:buNone/>
            </a:pPr>
            <a:r>
              <a:rPr lang="en-US" sz="800" dirty="0">
                <a:solidFill>
                  <a:schemeClr val="accent3"/>
                </a:solidFill>
              </a:rPr>
              <a:t>Feedback del equipo</a:t>
            </a:r>
            <a:endParaRPr lang="en-US" sz="800" dirty="0"/>
          </a:p>
          <a:p>
            <a:pPr algn="r" indent="0" marL="0">
              <a:buNone/>
            </a:pPr>
            <a:r>
              <a:rPr lang="en-US" sz="800" dirty="0">
                <a:solidFill>
                  <a:schemeClr val="accent3"/>
                </a:solidFill>
              </a:rPr>
              <a:t>+ Visa Stop Payment Service</a:t>
            </a:r>
            <a:pPr algn="r" indent="0" marL="0">
              <a:buNone/>
            </a:pPr>
            <a:r>
              <a:rPr lang="en-US" sz="800" baseline="30000" dirty="0">
                <a:solidFill>
                  <a:schemeClr val="accent1"/>
                </a:solidFill>
              </a:rPr>
              <a:t>13</a:t>
            </a:r>
            <a:endParaRPr lang="en-US" sz="800" dirty="0"/>
          </a:p>
        </p:txBody>
      </p:sp>
      <p:sp>
        <p:nvSpPr>
          <p:cNvPr id="11" name="Shape 8"/>
          <p:cNvSpPr/>
          <p:nvPr/>
        </p:nvSpPr>
        <p:spPr>
          <a:xfrm>
            <a:off x="761970" y="3251241"/>
            <a:ext cx="10668030" cy="0"/>
          </a:xfrm>
          <a:prstGeom prst="line">
            <a:avLst/>
          </a:prstGeom>
          <a:noFill/>
          <a:ln w="9525">
            <a:solidFill>
              <a:schemeClr val="accent4"/>
            </a:solidFill>
            <a:prstDash val="solid"/>
          </a:ln>
        </p:spPr>
      </p:sp>
      <p:sp>
        <p:nvSpPr>
          <p:cNvPr id="12" name="Text 9"/>
          <p:cNvSpPr txBox="1"/>
          <p:nvPr/>
        </p:nvSpPr>
        <p:spPr>
          <a:xfrm>
            <a:off x="761970" y="3251241"/>
            <a:ext cx="381030" cy="660380"/>
          </a:xfrm>
          <a:prstGeom prst="rect">
            <a:avLst/>
          </a:prstGeom>
          <a:noFill/>
          <a:ln/>
        </p:spPr>
        <p:txBody>
          <a:bodyPr wrap="square" lIns="0" tIns="0" rIns="0" bIns="0" rtlCol="0" anchor="ctr"/>
          <a:lstStyle/>
          <a:p>
            <a:pPr indent="0" marL="0">
              <a:buNone/>
            </a:pPr>
            <a:r>
              <a:rPr lang="en-US" sz="800" dirty="0">
                <a:solidFill>
                  <a:schemeClr val="accent3"/>
                </a:solidFill>
              </a:rPr>
              <a:t>02</a:t>
            </a:r>
            <a:endParaRPr lang="en-US" sz="800" dirty="0"/>
          </a:p>
        </p:txBody>
      </p:sp>
      <p:sp>
        <p:nvSpPr>
          <p:cNvPr id="13" name="Text 10"/>
          <p:cNvSpPr txBox="1"/>
          <p:nvPr/>
        </p:nvSpPr>
        <p:spPr>
          <a:xfrm>
            <a:off x="1206459" y="3251241"/>
            <a:ext cx="3556010" cy="660380"/>
          </a:xfrm>
          <a:prstGeom prst="rect">
            <a:avLst/>
          </a:prstGeom>
          <a:noFill/>
          <a:ln/>
        </p:spPr>
        <p:txBody>
          <a:bodyPr wrap="square" lIns="0" tIns="0" rIns="0" bIns="0" rtlCol="0" anchor="ctr"/>
          <a:lstStyle/>
          <a:p>
            <a:pPr indent="0" marL="0">
              <a:buNone/>
            </a:pPr>
            <a:r>
              <a:rPr lang="en-US" sz="1700" b="1" strike="sngStrike" dirty="0">
                <a:solidFill>
                  <a:schemeClr val="accent3"/>
                </a:solidFill>
                <a:latin typeface="+mj-lt" pitchFamily="34" charset="0"/>
                <a:ea typeface="+mj-lt" pitchFamily="34" charset="-122"/>
                <a:cs typeface="+mj-lt" pitchFamily="34" charset="-120"/>
              </a:rPr>
              <a:t>Que pague el usuario</a:t>
            </a:r>
            <a:endParaRPr lang="en-US" sz="1700" dirty="0"/>
          </a:p>
        </p:txBody>
      </p:sp>
      <p:sp>
        <p:nvSpPr>
          <p:cNvPr id="14" name="Text 11"/>
          <p:cNvSpPr/>
          <p:nvPr/>
        </p:nvSpPr>
        <p:spPr>
          <a:xfrm>
            <a:off x="4870460" y="3454420"/>
            <a:ext cx="254020" cy="254020"/>
          </a:xfrm>
          <a:prstGeom prst="rect">
            <a:avLst/>
          </a:prstGeom>
          <a:solidFill>
            <a:schemeClr val="accent1"/>
          </a:solidFill>
          <a:ln/>
        </p:spPr>
        <p:txBody>
          <a:bodyPr wrap="square" lIns="0" tIns="0" rIns="0" bIns="0" rtlCol="0" anchor="ctr"/>
          <a:lstStyle/>
          <a:p>
            <a:pPr algn="ctr" indent="0" marL="0">
              <a:buNone/>
            </a:pPr>
            <a:r>
              <a:rPr lang="en-US" sz="1100" b="1" dirty="0">
                <a:solidFill>
                  <a:schemeClr val="bg1"/>
                </a:solidFill>
              </a:rPr>
              <a:t>→</a:t>
            </a:r>
            <a:endParaRPr lang="en-US" sz="1100" dirty="0"/>
          </a:p>
        </p:txBody>
      </p:sp>
      <p:sp>
        <p:nvSpPr>
          <p:cNvPr id="15" name="Text 12"/>
          <p:cNvSpPr txBox="1"/>
          <p:nvPr/>
        </p:nvSpPr>
        <p:spPr>
          <a:xfrm>
            <a:off x="5314950" y="3251241"/>
            <a:ext cx="4317980" cy="660380"/>
          </a:xfrm>
          <a:prstGeom prst="rect">
            <a:avLst/>
          </a:prstGeom>
          <a:noFill/>
          <a:ln/>
        </p:spPr>
        <p:txBody>
          <a:bodyPr wrap="square" lIns="0" tIns="0" rIns="0" bIns="0" rtlCol="0" anchor="ctr"/>
          <a:lstStyle/>
          <a:p>
            <a:pPr indent="0" marL="0">
              <a:buNone/>
            </a:pPr>
            <a:r>
              <a:rPr lang="en-US" sz="1900" b="1" dirty="0">
                <a:solidFill>
                  <a:schemeClr val="tx1"/>
                </a:solidFill>
                <a:latin typeface="+mj-lt" pitchFamily="34" charset="0"/>
                <a:ea typeface="+mj-lt" pitchFamily="34" charset="-122"/>
                <a:cs typeface="+mj-lt" pitchFamily="34" charset="-120"/>
              </a:rPr>
              <a:t>Que pague el banco</a:t>
            </a:r>
            <a:endParaRPr lang="en-US" sz="1900" dirty="0"/>
          </a:p>
        </p:txBody>
      </p:sp>
      <p:sp>
        <p:nvSpPr>
          <p:cNvPr id="16" name="Text 13"/>
          <p:cNvSpPr txBox="1"/>
          <p:nvPr/>
        </p:nvSpPr>
        <p:spPr>
          <a:xfrm>
            <a:off x="9525030" y="3251241"/>
            <a:ext cx="1904970" cy="660380"/>
          </a:xfrm>
          <a:prstGeom prst="rect">
            <a:avLst/>
          </a:prstGeom>
          <a:noFill/>
          <a:ln/>
        </p:spPr>
        <p:txBody>
          <a:bodyPr wrap="square" lIns="0" tIns="0" rIns="0" bIns="0" rtlCol="0" anchor="ctr"/>
          <a:lstStyle/>
          <a:p>
            <a:pPr algn="r" indent="0" marL="0">
              <a:buNone/>
            </a:pPr>
            <a:r>
              <a:rPr lang="en-US" sz="800" dirty="0">
                <a:solidFill>
                  <a:srgbClr val="2563EB"/>
                </a:solidFill>
                <a:highlight>
                  <a:srgbClr val="E8EFFC"/>
                </a:highlight>
              </a:rPr>
              <a:t>entrevistas</a:t>
            </a:r>
            <a:pPr algn="r" indent="0" marL="0">
              <a:buNone/>
            </a:pPr>
            <a:r>
              <a:rPr lang="en-US" sz="800" dirty="0">
                <a:solidFill>
                  <a:schemeClr val="accent3"/>
                </a:solidFill>
              </a:rPr>
              <a:t> + Ley 20.009</a:t>
            </a:r>
            <a:endParaRPr lang="en-US" sz="800" dirty="0"/>
          </a:p>
        </p:txBody>
      </p:sp>
      <p:sp>
        <p:nvSpPr>
          <p:cNvPr id="17" name="Shape 14"/>
          <p:cNvSpPr/>
          <p:nvPr/>
        </p:nvSpPr>
        <p:spPr>
          <a:xfrm>
            <a:off x="761970" y="3911620"/>
            <a:ext cx="10668030" cy="0"/>
          </a:xfrm>
          <a:prstGeom prst="line">
            <a:avLst/>
          </a:prstGeom>
          <a:noFill/>
          <a:ln w="9525">
            <a:solidFill>
              <a:schemeClr val="accent4"/>
            </a:solidFill>
            <a:prstDash val="solid"/>
          </a:ln>
        </p:spPr>
      </p:sp>
      <p:sp>
        <p:nvSpPr>
          <p:cNvPr id="18" name="Text 15"/>
          <p:cNvSpPr txBox="1"/>
          <p:nvPr/>
        </p:nvSpPr>
        <p:spPr>
          <a:xfrm>
            <a:off x="761970" y="3911620"/>
            <a:ext cx="381030" cy="660380"/>
          </a:xfrm>
          <a:prstGeom prst="rect">
            <a:avLst/>
          </a:prstGeom>
          <a:noFill/>
          <a:ln/>
        </p:spPr>
        <p:txBody>
          <a:bodyPr wrap="square" lIns="0" tIns="0" rIns="0" bIns="0" rtlCol="0" anchor="ctr"/>
          <a:lstStyle/>
          <a:p>
            <a:pPr indent="0" marL="0">
              <a:buNone/>
            </a:pPr>
            <a:r>
              <a:rPr lang="en-US" sz="800" dirty="0">
                <a:solidFill>
                  <a:schemeClr val="accent3"/>
                </a:solidFill>
              </a:rPr>
              <a:t>03</a:t>
            </a:r>
            <a:endParaRPr lang="en-US" sz="800" dirty="0"/>
          </a:p>
        </p:txBody>
      </p:sp>
      <p:sp>
        <p:nvSpPr>
          <p:cNvPr id="19" name="Text 16"/>
          <p:cNvSpPr txBox="1"/>
          <p:nvPr/>
        </p:nvSpPr>
        <p:spPr>
          <a:xfrm>
            <a:off x="1206459" y="3911620"/>
            <a:ext cx="3556010" cy="660380"/>
          </a:xfrm>
          <a:prstGeom prst="rect">
            <a:avLst/>
          </a:prstGeom>
          <a:noFill/>
          <a:ln/>
        </p:spPr>
        <p:txBody>
          <a:bodyPr wrap="square" lIns="0" tIns="0" rIns="0" bIns="0" rtlCol="0" anchor="ctr"/>
          <a:lstStyle/>
          <a:p>
            <a:pPr indent="0" marL="0">
              <a:buNone/>
            </a:pPr>
            <a:r>
              <a:rPr lang="en-US" sz="1700" b="1" strike="sngStrike" dirty="0">
                <a:solidFill>
                  <a:schemeClr val="accent3"/>
                </a:solidFill>
                <a:latin typeface="+mj-lt" pitchFamily="34" charset="0"/>
                <a:ea typeface="+mj-lt" pitchFamily="34" charset="-122"/>
                <a:cs typeface="+mj-lt" pitchFamily="34" charset="-120"/>
              </a:rPr>
              <a:t>Reconocer por el nombre</a:t>
            </a:r>
            <a:endParaRPr lang="en-US" sz="1700" dirty="0"/>
          </a:p>
        </p:txBody>
      </p:sp>
      <p:sp>
        <p:nvSpPr>
          <p:cNvPr id="20" name="Text 17"/>
          <p:cNvSpPr/>
          <p:nvPr/>
        </p:nvSpPr>
        <p:spPr>
          <a:xfrm>
            <a:off x="4870460" y="4114800"/>
            <a:ext cx="254020" cy="254020"/>
          </a:xfrm>
          <a:prstGeom prst="rect">
            <a:avLst/>
          </a:prstGeom>
          <a:solidFill>
            <a:schemeClr val="accent1"/>
          </a:solidFill>
          <a:ln/>
        </p:spPr>
        <p:txBody>
          <a:bodyPr wrap="square" lIns="0" tIns="0" rIns="0" bIns="0" rtlCol="0" anchor="ctr"/>
          <a:lstStyle/>
          <a:p>
            <a:pPr algn="ctr" indent="0" marL="0">
              <a:buNone/>
            </a:pPr>
            <a:r>
              <a:rPr lang="en-US" sz="1100" b="1" dirty="0">
                <a:solidFill>
                  <a:schemeClr val="bg1"/>
                </a:solidFill>
              </a:rPr>
              <a:t>→</a:t>
            </a:r>
            <a:endParaRPr lang="en-US" sz="1100" dirty="0"/>
          </a:p>
        </p:txBody>
      </p:sp>
      <p:sp>
        <p:nvSpPr>
          <p:cNvPr id="21" name="Text 18"/>
          <p:cNvSpPr txBox="1"/>
          <p:nvPr/>
        </p:nvSpPr>
        <p:spPr>
          <a:xfrm>
            <a:off x="5314950" y="3911620"/>
            <a:ext cx="4317980" cy="660380"/>
          </a:xfrm>
          <a:prstGeom prst="rect">
            <a:avLst/>
          </a:prstGeom>
          <a:noFill/>
          <a:ln/>
        </p:spPr>
        <p:txBody>
          <a:bodyPr wrap="square" lIns="0" tIns="0" rIns="0" bIns="0" rtlCol="0" anchor="ctr"/>
          <a:lstStyle/>
          <a:p>
            <a:pPr indent="0" marL="0">
              <a:buNone/>
            </a:pPr>
            <a:r>
              <a:rPr lang="en-US" sz="1900" b="1" dirty="0">
                <a:solidFill>
                  <a:schemeClr val="tx1"/>
                </a:solidFill>
                <a:latin typeface="+mj-lt" pitchFamily="34" charset="0"/>
                <a:ea typeface="+mj-lt" pitchFamily="34" charset="-122"/>
                <a:cs typeface="+mj-lt" pitchFamily="34" charset="-120"/>
              </a:rPr>
              <a:t>Reconocer por la regularidad</a:t>
            </a:r>
            <a:endParaRPr lang="en-US" sz="1900" dirty="0"/>
          </a:p>
        </p:txBody>
      </p:sp>
      <p:sp>
        <p:nvSpPr>
          <p:cNvPr id="22" name="Text 19"/>
          <p:cNvSpPr txBox="1"/>
          <p:nvPr/>
        </p:nvSpPr>
        <p:spPr>
          <a:xfrm>
            <a:off x="9525030" y="3911620"/>
            <a:ext cx="1904970" cy="660380"/>
          </a:xfrm>
          <a:prstGeom prst="rect">
            <a:avLst/>
          </a:prstGeom>
          <a:noFill/>
          <a:ln/>
        </p:spPr>
        <p:txBody>
          <a:bodyPr wrap="square" lIns="0" tIns="0" rIns="0" bIns="0" rtlCol="0" anchor="ctr"/>
          <a:lstStyle/>
          <a:p>
            <a:pPr algn="r" indent="0" marL="0">
              <a:buNone/>
            </a:pPr>
            <a:r>
              <a:rPr lang="en-US" sz="800" dirty="0">
                <a:solidFill>
                  <a:schemeClr val="accent3"/>
                </a:solidFill>
              </a:rPr>
              <a:t>Simulación</a:t>
            </a:r>
            <a:endParaRPr lang="en-US" sz="800" dirty="0"/>
          </a:p>
          <a:p>
            <a:pPr algn="r" indent="0" marL="0">
              <a:buNone/>
            </a:pPr>
            <a:r>
              <a:rPr lang="en-US" sz="800" dirty="0">
                <a:solidFill>
                  <a:schemeClr val="accent3"/>
                </a:solidFill>
              </a:rPr>
              <a:t>11.384 cobros</a:t>
            </a:r>
            <a:endParaRPr lang="en-US" sz="800" dirty="0"/>
          </a:p>
        </p:txBody>
      </p:sp>
      <p:sp>
        <p:nvSpPr>
          <p:cNvPr id="23" name="Shape 20"/>
          <p:cNvSpPr/>
          <p:nvPr/>
        </p:nvSpPr>
        <p:spPr>
          <a:xfrm>
            <a:off x="761970" y="4572000"/>
            <a:ext cx="10668030" cy="0"/>
          </a:xfrm>
          <a:prstGeom prst="line">
            <a:avLst/>
          </a:prstGeom>
          <a:noFill/>
          <a:ln w="9525">
            <a:solidFill>
              <a:schemeClr val="accent4"/>
            </a:solidFill>
            <a:prstDash val="solid"/>
          </a:ln>
        </p:spPr>
      </p:sp>
      <p:sp>
        <p:nvSpPr>
          <p:cNvPr id="24" name="Text 21"/>
          <p:cNvSpPr txBox="1"/>
          <p:nvPr/>
        </p:nvSpPr>
        <p:spPr>
          <a:xfrm>
            <a:off x="761970" y="4572000"/>
            <a:ext cx="381030" cy="660380"/>
          </a:xfrm>
          <a:prstGeom prst="rect">
            <a:avLst/>
          </a:prstGeom>
          <a:noFill/>
          <a:ln/>
        </p:spPr>
        <p:txBody>
          <a:bodyPr wrap="square" lIns="0" tIns="0" rIns="0" bIns="0" rtlCol="0" anchor="ctr"/>
          <a:lstStyle/>
          <a:p>
            <a:pPr indent="0" marL="0">
              <a:buNone/>
            </a:pPr>
            <a:r>
              <a:rPr lang="en-US" sz="800" dirty="0">
                <a:solidFill>
                  <a:schemeClr val="accent3"/>
                </a:solidFill>
              </a:rPr>
              <a:t>04</a:t>
            </a:r>
            <a:endParaRPr lang="en-US" sz="800" dirty="0"/>
          </a:p>
        </p:txBody>
      </p:sp>
      <p:sp>
        <p:nvSpPr>
          <p:cNvPr id="25" name="Text 22"/>
          <p:cNvSpPr txBox="1"/>
          <p:nvPr/>
        </p:nvSpPr>
        <p:spPr>
          <a:xfrm>
            <a:off x="1206459" y="4572000"/>
            <a:ext cx="3556010" cy="660380"/>
          </a:xfrm>
          <a:prstGeom prst="rect">
            <a:avLst/>
          </a:prstGeom>
          <a:noFill/>
          <a:ln/>
        </p:spPr>
        <p:txBody>
          <a:bodyPr wrap="square" lIns="0" tIns="0" rIns="0" bIns="0" rtlCol="0" anchor="ctr"/>
          <a:lstStyle/>
          <a:p>
            <a:pPr indent="0" marL="0">
              <a:buNone/>
            </a:pPr>
            <a:r>
              <a:rPr lang="en-US" sz="1700" b="1" strike="sngStrike" dirty="0">
                <a:solidFill>
                  <a:schemeClr val="accent3"/>
                </a:solidFill>
                <a:latin typeface="+mj-lt" pitchFamily="34" charset="0"/>
                <a:ea typeface="+mj-lt" pitchFamily="34" charset="-122"/>
                <a:cs typeface="+mj-lt" pitchFamily="34" charset="-120"/>
              </a:rPr>
              <a:t>Que el sistema decida solo</a:t>
            </a:r>
            <a:endParaRPr lang="en-US" sz="1700" dirty="0"/>
          </a:p>
        </p:txBody>
      </p:sp>
      <p:sp>
        <p:nvSpPr>
          <p:cNvPr id="26" name="Text 23"/>
          <p:cNvSpPr/>
          <p:nvPr/>
        </p:nvSpPr>
        <p:spPr>
          <a:xfrm>
            <a:off x="4870460" y="4775180"/>
            <a:ext cx="254020" cy="254020"/>
          </a:xfrm>
          <a:prstGeom prst="rect">
            <a:avLst/>
          </a:prstGeom>
          <a:solidFill>
            <a:schemeClr val="accent1"/>
          </a:solidFill>
          <a:ln/>
        </p:spPr>
        <p:txBody>
          <a:bodyPr wrap="square" lIns="0" tIns="0" rIns="0" bIns="0" rtlCol="0" anchor="ctr"/>
          <a:lstStyle/>
          <a:p>
            <a:pPr algn="ctr" indent="0" marL="0">
              <a:buNone/>
            </a:pPr>
            <a:r>
              <a:rPr lang="en-US" sz="1100" b="1" dirty="0">
                <a:solidFill>
                  <a:schemeClr val="bg1"/>
                </a:solidFill>
              </a:rPr>
              <a:t>→</a:t>
            </a:r>
            <a:endParaRPr lang="en-US" sz="1100" dirty="0"/>
          </a:p>
        </p:txBody>
      </p:sp>
      <p:sp>
        <p:nvSpPr>
          <p:cNvPr id="27" name="Text 24"/>
          <p:cNvSpPr txBox="1"/>
          <p:nvPr/>
        </p:nvSpPr>
        <p:spPr>
          <a:xfrm>
            <a:off x="5314950" y="4572000"/>
            <a:ext cx="4317980" cy="660380"/>
          </a:xfrm>
          <a:prstGeom prst="rect">
            <a:avLst/>
          </a:prstGeom>
          <a:noFill/>
          <a:ln/>
        </p:spPr>
        <p:txBody>
          <a:bodyPr wrap="square" lIns="0" tIns="0" rIns="0" bIns="0" rtlCol="0" anchor="ctr"/>
          <a:lstStyle/>
          <a:p>
            <a:pPr indent="0" marL="0">
              <a:buNone/>
            </a:pPr>
            <a:r>
              <a:rPr lang="en-US" sz="1900" b="1" dirty="0">
                <a:solidFill>
                  <a:schemeClr val="tx1"/>
                </a:solidFill>
                <a:latin typeface="+mj-lt" pitchFamily="34" charset="0"/>
                <a:ea typeface="+mj-lt" pitchFamily="34" charset="-122"/>
                <a:cs typeface="+mj-lt" pitchFamily="34" charset="-120"/>
              </a:rPr>
              <a:t>Que pregunte cuando duda</a:t>
            </a:r>
            <a:endParaRPr lang="en-US" sz="1900" dirty="0"/>
          </a:p>
        </p:txBody>
      </p:sp>
      <p:sp>
        <p:nvSpPr>
          <p:cNvPr id="28" name="Text 25"/>
          <p:cNvSpPr txBox="1"/>
          <p:nvPr/>
        </p:nvSpPr>
        <p:spPr>
          <a:xfrm>
            <a:off x="9525030" y="4572000"/>
            <a:ext cx="1904970" cy="660380"/>
          </a:xfrm>
          <a:prstGeom prst="rect">
            <a:avLst/>
          </a:prstGeom>
          <a:noFill/>
          <a:ln/>
        </p:spPr>
        <p:txBody>
          <a:bodyPr wrap="square" lIns="0" tIns="0" rIns="0" bIns="0" rtlCol="0" anchor="ctr"/>
          <a:lstStyle/>
          <a:p>
            <a:pPr algn="r" indent="0" marL="0">
              <a:buNone/>
            </a:pPr>
            <a:r>
              <a:rPr lang="en-US" sz="800" dirty="0">
                <a:solidFill>
                  <a:schemeClr val="accent3"/>
                </a:solidFill>
              </a:rPr>
              <a:t>Gemelo digital</a:t>
            </a:r>
            <a:endParaRPr lang="en-US" sz="800" dirty="0"/>
          </a:p>
        </p:txBody>
      </p:sp>
      <p:sp>
        <p:nvSpPr>
          <p:cNvPr id="29" name="Shape 26"/>
          <p:cNvSpPr/>
          <p:nvPr/>
        </p:nvSpPr>
        <p:spPr>
          <a:xfrm>
            <a:off x="761970" y="5232380"/>
            <a:ext cx="10668030" cy="0"/>
          </a:xfrm>
          <a:prstGeom prst="line">
            <a:avLst/>
          </a:prstGeom>
          <a:noFill/>
          <a:ln w="9525">
            <a:solidFill>
              <a:schemeClr val="accent4"/>
            </a:solidFill>
            <a:prstDash val="solid"/>
          </a:ln>
        </p:spPr>
      </p:sp>
      <p:sp>
        <p:nvSpPr>
          <p:cNvPr id="30" name="Fuente"/>
          <p:cNvSpPr txBox="1"/>
          <p:nvPr/>
        </p:nvSpPr>
        <p:spPr>
          <a:xfrm>
            <a:off x="761970" y="6464259"/>
            <a:ext cx="10668030" cy="190470"/>
          </a:xfrm>
          <a:prstGeom prst="rect">
            <a:avLst/>
          </a:prstGeom>
          <a:noFill/>
          <a:ln/>
        </p:spPr>
        <p:txBody>
          <a:bodyPr wrap="square" lIns="0" tIns="0" rIns="0" bIns="0" rtlCol="0" anchor="t"/>
          <a:lstStyle/>
          <a:p>
            <a:pPr indent="0" marL="0">
              <a:buNone/>
            </a:pPr>
            <a:r>
              <a:rPr lang="en-US" sz="700" dirty="0">
                <a:solidFill>
                  <a:schemeClr val="accent3"/>
                </a:solidFill>
              </a:rPr>
              <a:t>Filas 03 y 04: documentadas en el filtro y el dataset del prototipo.</a:t>
            </a:r>
            <a:endParaRPr lang="en-US" sz="700" dirty="0"/>
          </a:p>
        </p:txBody>
      </p:sp>
      <p:sp>
        <p:nvSpPr>
          <p:cNvPr id="25" name="Slide Number Placeholder 0"/>
          <p:cNvSpPr>
            <a:spLocks noGrp="1"/>
          </p:cNvSpPr>
          <p:nvPr>
            <p:ph type="sldNum" sz="quarter" idx="4294967295"/>
          </p:nvPr>
        </p:nvSpPr>
        <p:spPr>
          <a:xfrm>
            <a:off x="761970" y="279441"/>
            <a:ext cx="368320" cy="368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Inter"/>
                <a:ea typeface="Inter"/>
                <a:cs typeface="Inter"/>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Sección"/>
          <p:cNvSpPr txBox="1"/>
          <p:nvPr/>
        </p:nvSpPr>
        <p:spPr>
          <a:xfrm>
            <a:off x="1257300" y="279441"/>
            <a:ext cx="3810030" cy="368320"/>
          </a:xfrm>
          <a:prstGeom prst="rect">
            <a:avLst/>
          </a:prstGeom>
          <a:noFill/>
          <a:ln/>
        </p:spPr>
        <p:txBody>
          <a:bodyPr wrap="square" lIns="0" tIns="0" rIns="0" bIns="0" rtlCol="0" anchor="ctr"/>
          <a:lstStyle/>
          <a:p>
            <a:pPr indent="0" marL="0">
              <a:buNone/>
            </a:pPr>
            <a:r>
              <a:rPr lang="en-US" sz="800" spc="100" kern="0" dirty="0">
                <a:solidFill>
                  <a:schemeClr val="tx2"/>
                </a:solidFill>
              </a:rPr>
              <a:t>SOLUCIÓN</a:t>
            </a:r>
            <a:endParaRPr lang="en-US" sz="800" dirty="0"/>
          </a:p>
        </p:txBody>
      </p:sp>
      <p:sp>
        <p:nvSpPr>
          <p:cNvPr id="4" name="Text 3"/>
          <p:cNvSpPr/>
          <p:nvPr>
            <p:ph idx="104" type="title" hasCustomPrompt="1"/>
          </p:nvPr>
        </p:nvSpPr>
        <p:spPr>
          <a:xfrm>
            <a:off x="761970" y="1047720"/>
            <a:ext cx="10159990" cy="1079541"/>
          </a:xfrm>
          <a:prstGeom prst="rect">
            <a:avLst/>
          </a:prstGeom>
          <a:noFill/>
          <a:ln/>
        </p:spPr>
        <p:txBody>
          <a:bodyPr wrap="square" lIns="0" tIns="0" rIns="0" bIns="0" rtlCol="0" anchor="t"/>
          <a:lstStyle/>
          <a:p>
            <a:pPr algn="l" indent="0" marL="0">
              <a:buNone/>
            </a:pPr>
            <a:r>
              <a:rPr lang="en-US" sz="3200" b="1" dirty="0">
                <a:solidFill>
                  <a:schemeClr val="tx1"/>
                </a:solidFill>
              </a:rPr>
              <a:t>Todas tus suscripciones a la vista, desde el primer cobro.</a:t>
            </a:r>
            <a:endParaRPr lang="en-US" sz="3200" dirty="0"/>
          </a:p>
        </p:txBody>
      </p:sp>
      <p:sp>
        <p:nvSpPr>
          <p:cNvPr id="5" name="Shape 2"/>
          <p:cNvSpPr/>
          <p:nvPr/>
        </p:nvSpPr>
        <p:spPr>
          <a:xfrm>
            <a:off x="1244590" y="3556010"/>
            <a:ext cx="6959590" cy="0"/>
          </a:xfrm>
          <a:prstGeom prst="line">
            <a:avLst/>
          </a:prstGeom>
          <a:noFill/>
          <a:ln w="15875">
            <a:solidFill>
              <a:schemeClr val="tx1"/>
            </a:solidFill>
            <a:prstDash val="solid"/>
          </a:ln>
        </p:spPr>
      </p:sp>
      <p:sp>
        <p:nvSpPr>
          <p:cNvPr id="6" name="Text 3"/>
          <p:cNvSpPr/>
          <p:nvPr/>
        </p:nvSpPr>
        <p:spPr>
          <a:xfrm>
            <a:off x="761970" y="3314700"/>
            <a:ext cx="482620" cy="482620"/>
          </a:xfrm>
          <a:prstGeom prst="rect">
            <a:avLst/>
          </a:prstGeom>
          <a:solidFill>
            <a:srgbClr val="292524"/>
          </a:solidFill>
          <a:ln/>
        </p:spPr>
        <p:txBody>
          <a:bodyPr wrap="square" lIns="0" tIns="0" rIns="0" bIns="0" rtlCol="0" anchor="ctr"/>
          <a:lstStyle/>
          <a:p>
            <a:pPr algn="ctr" indent="0" marL="0">
              <a:buNone/>
            </a:pPr>
            <a:r>
              <a:rPr lang="en-US" sz="1200" b="1" dirty="0">
                <a:solidFill>
                  <a:schemeClr val="bg1"/>
                </a:solidFill>
              </a:rPr>
              <a:t>01</a:t>
            </a:r>
            <a:endParaRPr lang="en-US" sz="1200" dirty="0"/>
          </a:p>
        </p:txBody>
      </p:sp>
      <p:sp>
        <p:nvSpPr>
          <p:cNvPr id="7" name="Text 4"/>
          <p:cNvSpPr txBox="1"/>
          <p:nvPr/>
        </p:nvSpPr>
        <p:spPr>
          <a:xfrm>
            <a:off x="761970" y="3937041"/>
            <a:ext cx="2349459" cy="31748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Llega un cobro</a:t>
            </a:r>
            <a:endParaRPr lang="en-US" sz="1700" dirty="0"/>
          </a:p>
        </p:txBody>
      </p:sp>
      <p:sp>
        <p:nvSpPr>
          <p:cNvPr id="8" name="Text 5"/>
          <p:cNvSpPr txBox="1"/>
          <p:nvPr/>
        </p:nvSpPr>
        <p:spPr>
          <a:xfrm>
            <a:off x="761970" y="4286250"/>
            <a:ext cx="2031980" cy="444490"/>
          </a:xfrm>
          <a:prstGeom prst="rect">
            <a:avLst/>
          </a:prstGeom>
          <a:noFill/>
          <a:ln/>
        </p:spPr>
        <p:txBody>
          <a:bodyPr wrap="square" lIns="0" tIns="0" rIns="0" bIns="0" rtlCol="0" anchor="t"/>
          <a:lstStyle/>
          <a:p>
            <a:pPr indent="0" marL="0">
              <a:buNone/>
            </a:pPr>
            <a:r>
              <a:rPr lang="en-US" sz="950" dirty="0">
                <a:solidFill>
                  <a:schemeClr val="accent3"/>
                </a:solidFill>
              </a:rPr>
              <a:t>comercio · categoría (MCC) · monto · señales de la red</a:t>
            </a:r>
            <a:endParaRPr lang="en-US" sz="950" dirty="0"/>
          </a:p>
        </p:txBody>
      </p:sp>
      <p:sp>
        <p:nvSpPr>
          <p:cNvPr id="9" name="Text 6"/>
          <p:cNvSpPr/>
          <p:nvPr/>
        </p:nvSpPr>
        <p:spPr>
          <a:xfrm>
            <a:off x="3244840" y="3314700"/>
            <a:ext cx="482620" cy="482620"/>
          </a:xfrm>
          <a:prstGeom prst="rect">
            <a:avLst/>
          </a:prstGeom>
          <a:solidFill>
            <a:srgbClr val="059669"/>
          </a:solidFill>
          <a:ln/>
        </p:spPr>
        <p:txBody>
          <a:bodyPr wrap="square" lIns="0" tIns="0" rIns="0" bIns="0" rtlCol="0" anchor="ctr"/>
          <a:lstStyle/>
          <a:p>
            <a:pPr algn="ctr" indent="0" marL="0">
              <a:buNone/>
            </a:pPr>
            <a:r>
              <a:rPr lang="en-US" sz="1200" b="1" dirty="0">
                <a:solidFill>
                  <a:schemeClr val="bg1"/>
                </a:solidFill>
              </a:rPr>
              <a:t>02</a:t>
            </a:r>
            <a:endParaRPr lang="en-US" sz="1200" dirty="0"/>
          </a:p>
        </p:txBody>
      </p:sp>
      <p:sp>
        <p:nvSpPr>
          <p:cNvPr id="10" name="Text 7"/>
          <p:cNvSpPr txBox="1"/>
          <p:nvPr/>
        </p:nvSpPr>
        <p:spPr>
          <a:xfrm>
            <a:off x="3244840" y="3937041"/>
            <a:ext cx="2349459" cy="31748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¿Volverá a cobrar?</a:t>
            </a:r>
            <a:endParaRPr lang="en-US" sz="1700" dirty="0"/>
          </a:p>
        </p:txBody>
      </p:sp>
      <p:sp>
        <p:nvSpPr>
          <p:cNvPr id="11" name="Text 8"/>
          <p:cNvSpPr txBox="1"/>
          <p:nvPr/>
        </p:nvSpPr>
        <p:spPr>
          <a:xfrm>
            <a:off x="3244840" y="4286250"/>
            <a:ext cx="2031980" cy="444490"/>
          </a:xfrm>
          <a:prstGeom prst="rect">
            <a:avLst/>
          </a:prstGeom>
          <a:noFill/>
          <a:ln/>
        </p:spPr>
        <p:txBody>
          <a:bodyPr wrap="square" lIns="0" tIns="0" rIns="0" bIns="0" rtlCol="0" anchor="t"/>
          <a:lstStyle/>
          <a:p>
            <a:pPr indent="0" marL="0">
              <a:buNone/>
            </a:pPr>
            <a:r>
              <a:rPr lang="en-US" sz="950" dirty="0">
                <a:solidFill>
                  <a:schemeClr val="accent3"/>
                </a:solidFill>
              </a:rPr>
              <a:t>cómo cobra ese comercio a todos los clientes del banco</a:t>
            </a:r>
            <a:endParaRPr lang="en-US" sz="950" dirty="0"/>
          </a:p>
        </p:txBody>
      </p:sp>
      <p:sp>
        <p:nvSpPr>
          <p:cNvPr id="12" name="Text 9"/>
          <p:cNvSpPr/>
          <p:nvPr/>
        </p:nvSpPr>
        <p:spPr>
          <a:xfrm>
            <a:off x="5721309" y="3314700"/>
            <a:ext cx="482620" cy="482620"/>
          </a:xfrm>
          <a:prstGeom prst="rect">
            <a:avLst/>
          </a:prstGeom>
          <a:solidFill>
            <a:srgbClr val="059669"/>
          </a:solidFill>
          <a:ln/>
        </p:spPr>
        <p:txBody>
          <a:bodyPr wrap="square" lIns="0" tIns="0" rIns="0" bIns="0" rtlCol="0" anchor="ctr"/>
          <a:lstStyle/>
          <a:p>
            <a:pPr algn="ctr" indent="0" marL="0">
              <a:buNone/>
            </a:pPr>
            <a:r>
              <a:rPr lang="en-US" sz="1200" b="1" dirty="0">
                <a:solidFill>
                  <a:schemeClr val="bg1"/>
                </a:solidFill>
              </a:rPr>
              <a:t>03</a:t>
            </a:r>
            <a:endParaRPr lang="en-US" sz="1200" dirty="0"/>
          </a:p>
        </p:txBody>
      </p:sp>
      <p:sp>
        <p:nvSpPr>
          <p:cNvPr id="13" name="Text 10"/>
          <p:cNvSpPr txBox="1"/>
          <p:nvPr/>
        </p:nvSpPr>
        <p:spPr>
          <a:xfrm>
            <a:off x="5721309" y="3937041"/>
            <a:ext cx="2349459" cy="31748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¿Qué tipo es?</a:t>
            </a:r>
            <a:endParaRPr lang="en-US" sz="1700" dirty="0"/>
          </a:p>
        </p:txBody>
      </p:sp>
      <p:sp>
        <p:nvSpPr>
          <p:cNvPr id="14" name="Text 11"/>
          <p:cNvSpPr txBox="1"/>
          <p:nvPr/>
        </p:nvSpPr>
        <p:spPr>
          <a:xfrm>
            <a:off x="5721309" y="4286250"/>
            <a:ext cx="2031980" cy="444490"/>
          </a:xfrm>
          <a:prstGeom prst="rect">
            <a:avLst/>
          </a:prstGeom>
          <a:noFill/>
          <a:ln/>
        </p:spPr>
        <p:txBody>
          <a:bodyPr wrap="square" lIns="0" tIns="0" rIns="0" bIns="0" rtlCol="0" anchor="t"/>
          <a:lstStyle/>
          <a:p>
            <a:pPr indent="0" marL="0">
              <a:buNone/>
            </a:pPr>
            <a:r>
              <a:rPr lang="en-US" sz="950" dirty="0">
                <a:solidFill>
                  <a:schemeClr val="accent3"/>
                </a:solidFill>
              </a:rPr>
              <a:t>suscripción, cuenta o incierto</a:t>
            </a:r>
            <a:endParaRPr lang="en-US" sz="950" dirty="0"/>
          </a:p>
        </p:txBody>
      </p:sp>
      <p:sp>
        <p:nvSpPr>
          <p:cNvPr id="15" name="Resultados"/>
          <p:cNvSpPr/>
          <p:nvPr/>
        </p:nvSpPr>
        <p:spPr>
          <a:xfrm>
            <a:off x="8204180" y="3035259"/>
            <a:ext cx="3225820" cy="1866930"/>
          </a:xfrm>
          <a:prstGeom prst="rect">
            <a:avLst/>
          </a:prstGeom>
          <a:solidFill>
            <a:schemeClr val="bg1"/>
          </a:solidFill>
          <a:ln w="15875">
            <a:solidFill>
              <a:schemeClr val="tx1"/>
            </a:solidFill>
            <a:prstDash val="solid"/>
          </a:ln>
        </p:spPr>
      </p:sp>
      <p:sp>
        <p:nvSpPr>
          <p:cNvPr id="16" name="Text 13"/>
          <p:cNvSpPr/>
          <p:nvPr/>
        </p:nvSpPr>
        <p:spPr>
          <a:xfrm>
            <a:off x="8369320" y="3168670"/>
            <a:ext cx="355610" cy="355610"/>
          </a:xfrm>
          <a:prstGeom prst="rect">
            <a:avLst/>
          </a:prstGeom>
          <a:solidFill>
            <a:srgbClr val="059669"/>
          </a:solid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17" name="Text 14"/>
          <p:cNvSpPr txBox="1"/>
          <p:nvPr/>
        </p:nvSpPr>
        <p:spPr>
          <a:xfrm>
            <a:off x="8839230" y="3174980"/>
            <a:ext cx="2476470" cy="215890"/>
          </a:xfrm>
          <a:prstGeom prst="rect">
            <a:avLst/>
          </a:prstGeom>
          <a:noFill/>
          <a:ln/>
        </p:spPr>
        <p:txBody>
          <a:bodyPr wrap="square" lIns="0" tIns="0" rIns="0" bIns="0" rtlCol="0" anchor="t"/>
          <a:lstStyle/>
          <a:p>
            <a:pPr indent="0" marL="0">
              <a:buNone/>
            </a:pPr>
            <a:r>
              <a:rPr lang="en-US" sz="1300" b="1" dirty="0">
                <a:solidFill>
                  <a:schemeClr val="tx1"/>
                </a:solidFill>
                <a:latin typeface="+mj-lt" pitchFamily="34" charset="0"/>
                <a:ea typeface="+mj-lt" pitchFamily="34" charset="-122"/>
                <a:cs typeface="+mj-lt" pitchFamily="34" charset="-120"/>
              </a:rPr>
              <a:t>La suma a tu lista</a:t>
            </a:r>
            <a:endParaRPr lang="en-US" sz="1300" dirty="0"/>
          </a:p>
        </p:txBody>
      </p:sp>
      <p:sp>
        <p:nvSpPr>
          <p:cNvPr id="18" name="Text 15"/>
          <p:cNvSpPr txBox="1"/>
          <p:nvPr/>
        </p:nvSpPr>
        <p:spPr>
          <a:xfrm>
            <a:off x="8839230" y="3390870"/>
            <a:ext cx="2476470" cy="152430"/>
          </a:xfrm>
          <a:prstGeom prst="rect">
            <a:avLst/>
          </a:prstGeom>
          <a:noFill/>
          <a:ln/>
        </p:spPr>
        <p:txBody>
          <a:bodyPr wrap="square" lIns="0" tIns="0" rIns="0" bIns="0" rtlCol="0" anchor="t"/>
          <a:lstStyle/>
          <a:p>
            <a:pPr indent="0" marL="0">
              <a:buNone/>
            </a:pPr>
            <a:r>
              <a:rPr lang="en-US" sz="800" dirty="0">
                <a:solidFill>
                  <a:schemeClr val="accent3"/>
                </a:solidFill>
              </a:rPr>
              <a:t>confianza alta</a:t>
            </a:r>
            <a:endParaRPr lang="en-US" sz="800" dirty="0"/>
          </a:p>
        </p:txBody>
      </p:sp>
      <p:sp>
        <p:nvSpPr>
          <p:cNvPr id="19" name="Shape 16"/>
          <p:cNvSpPr/>
          <p:nvPr/>
        </p:nvSpPr>
        <p:spPr>
          <a:xfrm>
            <a:off x="8204180" y="3657600"/>
            <a:ext cx="3225820" cy="0"/>
          </a:xfrm>
          <a:prstGeom prst="line">
            <a:avLst/>
          </a:prstGeom>
          <a:noFill/>
          <a:ln w="9525">
            <a:solidFill>
              <a:schemeClr val="accent4"/>
            </a:solidFill>
            <a:prstDash val="solid"/>
          </a:ln>
        </p:spPr>
      </p:sp>
      <p:sp>
        <p:nvSpPr>
          <p:cNvPr id="20" name="Text 17"/>
          <p:cNvSpPr/>
          <p:nvPr/>
        </p:nvSpPr>
        <p:spPr>
          <a:xfrm>
            <a:off x="8369320" y="3790920"/>
            <a:ext cx="355610" cy="355610"/>
          </a:xfrm>
          <a:prstGeom prst="rect">
            <a:avLst/>
          </a:prstGeom>
          <a:solidFill>
            <a:srgbClr val="F0EFED"/>
          </a:solidFill>
          <a:ln/>
        </p:spPr>
        <p:txBody>
          <a:bodyPr wrap="square" lIns="0" tIns="0" rIns="0" bIns="0" rtlCol="0" anchor="ctr"/>
          <a:lstStyle/>
          <a:p>
            <a:pPr algn="ctr" indent="0" marL="0">
              <a:buNone/>
            </a:pPr>
            <a:r>
              <a:rPr lang="en-US" sz="1200" b="1" dirty="0">
                <a:solidFill>
                  <a:srgbClr val="292524"/>
                </a:solidFill>
              </a:rPr>
              <a:t>?</a:t>
            </a:r>
            <a:endParaRPr lang="en-US" sz="1200" dirty="0"/>
          </a:p>
        </p:txBody>
      </p:sp>
      <p:sp>
        <p:nvSpPr>
          <p:cNvPr id="21" name="Text 18"/>
          <p:cNvSpPr txBox="1"/>
          <p:nvPr/>
        </p:nvSpPr>
        <p:spPr>
          <a:xfrm>
            <a:off x="8839230" y="3797320"/>
            <a:ext cx="2476470" cy="215890"/>
          </a:xfrm>
          <a:prstGeom prst="rect">
            <a:avLst/>
          </a:prstGeom>
          <a:noFill/>
          <a:ln/>
        </p:spPr>
        <p:txBody>
          <a:bodyPr wrap="square" lIns="0" tIns="0" rIns="0" bIns="0" rtlCol="0" anchor="t"/>
          <a:lstStyle/>
          <a:p>
            <a:pPr indent="0" marL="0">
              <a:buNone/>
            </a:pPr>
            <a:r>
              <a:rPr lang="en-US" sz="1300" b="1" dirty="0">
                <a:solidFill>
                  <a:schemeClr val="tx1"/>
                </a:solidFill>
                <a:latin typeface="+mj-lt" pitchFamily="34" charset="0"/>
                <a:ea typeface="+mj-lt" pitchFamily="34" charset="-122"/>
                <a:cs typeface="+mj-lt" pitchFamily="34" charset="-120"/>
              </a:rPr>
              <a:t>Te pregunta</a:t>
            </a:r>
            <a:endParaRPr lang="en-US" sz="1300" dirty="0"/>
          </a:p>
        </p:txBody>
      </p:sp>
      <p:sp>
        <p:nvSpPr>
          <p:cNvPr id="22" name="Text 19"/>
          <p:cNvSpPr txBox="1"/>
          <p:nvPr/>
        </p:nvSpPr>
        <p:spPr>
          <a:xfrm>
            <a:off x="8839230" y="4013210"/>
            <a:ext cx="2476470" cy="152430"/>
          </a:xfrm>
          <a:prstGeom prst="rect">
            <a:avLst/>
          </a:prstGeom>
          <a:noFill/>
          <a:ln/>
        </p:spPr>
        <p:txBody>
          <a:bodyPr wrap="square" lIns="0" tIns="0" rIns="0" bIns="0" rtlCol="0" anchor="t"/>
          <a:lstStyle/>
          <a:p>
            <a:pPr indent="0" marL="0">
              <a:buNone/>
            </a:pPr>
            <a:r>
              <a:rPr lang="en-US" sz="800" dirty="0">
                <a:solidFill>
                  <a:schemeClr val="accent3"/>
                </a:solidFill>
              </a:rPr>
              <a:t>confianza intermedia</a:t>
            </a:r>
            <a:endParaRPr lang="en-US" sz="800" dirty="0"/>
          </a:p>
        </p:txBody>
      </p:sp>
      <p:sp>
        <p:nvSpPr>
          <p:cNvPr id="23" name="Shape 20"/>
          <p:cNvSpPr/>
          <p:nvPr/>
        </p:nvSpPr>
        <p:spPr>
          <a:xfrm>
            <a:off x="8204180" y="4279941"/>
            <a:ext cx="3225820" cy="0"/>
          </a:xfrm>
          <a:prstGeom prst="line">
            <a:avLst/>
          </a:prstGeom>
          <a:noFill/>
          <a:ln w="9525">
            <a:solidFill>
              <a:schemeClr val="accent4"/>
            </a:solidFill>
            <a:prstDash val="solid"/>
          </a:ln>
        </p:spPr>
      </p:sp>
      <p:sp>
        <p:nvSpPr>
          <p:cNvPr id="24" name="Text 21"/>
          <p:cNvSpPr/>
          <p:nvPr/>
        </p:nvSpPr>
        <p:spPr>
          <a:xfrm>
            <a:off x="8369320" y="4413260"/>
            <a:ext cx="355610" cy="355610"/>
          </a:xfrm>
          <a:prstGeom prst="rect">
            <a:avLst/>
          </a:prstGeom>
          <a:solidFill>
            <a:srgbClr val="3B82F6"/>
          </a:solid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25" name="Text 22"/>
          <p:cNvSpPr txBox="1"/>
          <p:nvPr/>
        </p:nvSpPr>
        <p:spPr>
          <a:xfrm>
            <a:off x="8839230" y="4419570"/>
            <a:ext cx="2476470" cy="215890"/>
          </a:xfrm>
          <a:prstGeom prst="rect">
            <a:avLst/>
          </a:prstGeom>
          <a:noFill/>
          <a:ln/>
        </p:spPr>
        <p:txBody>
          <a:bodyPr wrap="square" lIns="0" tIns="0" rIns="0" bIns="0" rtlCol="0" anchor="t"/>
          <a:lstStyle/>
          <a:p>
            <a:pPr indent="0" marL="0">
              <a:buNone/>
            </a:pPr>
            <a:r>
              <a:rPr lang="en-US" sz="1300" b="1" dirty="0">
                <a:solidFill>
                  <a:schemeClr val="tx1"/>
                </a:solidFill>
                <a:latin typeface="+mj-lt" pitchFamily="34" charset="0"/>
                <a:ea typeface="+mj-lt" pitchFamily="34" charset="-122"/>
                <a:cs typeface="+mj-lt" pitchFamily="34" charset="-120"/>
              </a:rPr>
              <a:t>Te avisa si sube</a:t>
            </a:r>
            <a:endParaRPr lang="en-US" sz="1300" dirty="0"/>
          </a:p>
        </p:txBody>
      </p:sp>
      <p:sp>
        <p:nvSpPr>
          <p:cNvPr id="26" name="Text 23"/>
          <p:cNvSpPr txBox="1"/>
          <p:nvPr/>
        </p:nvSpPr>
        <p:spPr>
          <a:xfrm>
            <a:off x="8839230" y="4635459"/>
            <a:ext cx="2476470" cy="152430"/>
          </a:xfrm>
          <a:prstGeom prst="rect">
            <a:avLst/>
          </a:prstGeom>
          <a:noFill/>
          <a:ln/>
        </p:spPr>
        <p:txBody>
          <a:bodyPr wrap="square" lIns="0" tIns="0" rIns="0" bIns="0" rtlCol="0" anchor="t"/>
          <a:lstStyle/>
          <a:p>
            <a:pPr indent="0" marL="0">
              <a:buNone/>
            </a:pPr>
            <a:r>
              <a:rPr lang="en-US" sz="800" dirty="0">
                <a:solidFill>
                  <a:schemeClr val="accent3"/>
                </a:solidFill>
              </a:rPr>
              <a:t>cambio de precio</a:t>
            </a:r>
            <a:endParaRPr lang="en-US" sz="800" dirty="0"/>
          </a:p>
        </p:txBody>
      </p:sp>
      <p:sp>
        <p:nvSpPr>
          <p:cNvPr id="27" name="Shape 24"/>
          <p:cNvSpPr/>
          <p:nvPr/>
        </p:nvSpPr>
        <p:spPr>
          <a:xfrm>
            <a:off x="761970" y="5880141"/>
            <a:ext cx="10668030" cy="0"/>
          </a:xfrm>
          <a:prstGeom prst="line">
            <a:avLst/>
          </a:prstGeom>
          <a:noFill/>
          <a:ln w="9525">
            <a:solidFill>
              <a:schemeClr val="accent4"/>
            </a:solidFill>
            <a:prstDash val="solid"/>
          </a:ln>
        </p:spPr>
      </p:sp>
      <p:sp>
        <p:nvSpPr>
          <p:cNvPr id="28" name="Text 25"/>
          <p:cNvSpPr txBox="1"/>
          <p:nvPr/>
        </p:nvSpPr>
        <p:spPr>
          <a:xfrm>
            <a:off x="761970" y="6064209"/>
            <a:ext cx="1079541" cy="190470"/>
          </a:xfrm>
          <a:prstGeom prst="rect">
            <a:avLst/>
          </a:prstGeom>
          <a:noFill/>
          <a:ln/>
        </p:spPr>
        <p:txBody>
          <a:bodyPr wrap="square" lIns="0" tIns="0" rIns="0" bIns="0" rtlCol="0" anchor="t"/>
          <a:lstStyle/>
          <a:p>
            <a:pPr indent="0" marL="0">
              <a:buNone/>
            </a:pPr>
            <a:r>
              <a:rPr lang="en-US" sz="800" b="1" spc="100" kern="0" dirty="0">
                <a:solidFill>
                  <a:schemeClr val="accent1"/>
                </a:solidFill>
              </a:rPr>
              <a:t>SIGUIENTE PASO</a:t>
            </a:r>
            <a:endParaRPr lang="en-US" sz="800" dirty="0"/>
          </a:p>
        </p:txBody>
      </p:sp>
      <p:sp>
        <p:nvSpPr>
          <p:cNvPr id="29" name="Text 26"/>
          <p:cNvSpPr txBox="1"/>
          <p:nvPr/>
        </p:nvSpPr>
        <p:spPr>
          <a:xfrm>
            <a:off x="1860530" y="6032480"/>
            <a:ext cx="9525030" cy="254020"/>
          </a:xfrm>
          <a:prstGeom prst="rect">
            <a:avLst/>
          </a:prstGeom>
          <a:noFill/>
          <a:ln/>
        </p:spPr>
        <p:txBody>
          <a:bodyPr wrap="square" lIns="0" tIns="0" rIns="0" bIns="0" rtlCol="0" anchor="t"/>
          <a:lstStyle/>
          <a:p>
            <a:pPr indent="0" marL="0">
              <a:buNone/>
            </a:pPr>
            <a:r>
              <a:rPr lang="en-US" sz="1050" dirty="0">
                <a:solidFill>
                  <a:schemeClr val="tx2"/>
                </a:solidFill>
              </a:rPr>
              <a:t>Detener el cobro antes de que ocurra: los bancos ya pueden bloquear cobros recurrentes con Visa</a:t>
            </a:r>
            <a:pPr indent="0" marL="0">
              <a:buNone/>
            </a:pPr>
            <a:r>
              <a:rPr lang="en-US" sz="1050" baseline="30000" dirty="0">
                <a:solidFill>
                  <a:schemeClr val="accent1"/>
                </a:solidFill>
              </a:rPr>
              <a:t>13</a:t>
            </a:r>
            <a:pPr indent="0" marL="0">
              <a:buNone/>
            </a:pPr>
            <a:r>
              <a:rPr lang="en-US" sz="1050" dirty="0">
                <a:solidFill>
                  <a:schemeClr val="tx2"/>
                </a:solidFill>
              </a:rPr>
              <a:t>. Falta validarlo con un emisor.</a:t>
            </a:r>
            <a:endParaRPr lang="en-US" sz="1050" dirty="0"/>
          </a:p>
        </p:txBody>
      </p:sp>
      <p:sp>
        <p:nvSpPr>
          <p:cNvPr id="30" name="Fuente"/>
          <p:cNvSpPr txBox="1"/>
          <p:nvPr/>
        </p:nvSpPr>
        <p:spPr>
          <a:xfrm>
            <a:off x="761970" y="6464259"/>
            <a:ext cx="10668030" cy="190470"/>
          </a:xfrm>
          <a:prstGeom prst="rect">
            <a:avLst/>
          </a:prstGeom>
          <a:noFill/>
          <a:ln/>
        </p:spPr>
        <p:txBody>
          <a:bodyPr wrap="square" lIns="0" tIns="0" rIns="0" bIns="0" rtlCol="0" anchor="t"/>
          <a:lstStyle/>
          <a:p>
            <a:pPr indent="0" marL="0">
              <a:buNone/>
            </a:pPr>
            <a:r>
              <a:rPr lang="en-US" sz="700" dirty="0">
                <a:solidFill>
                  <a:schemeClr val="accent3"/>
                </a:solidFill>
              </a:rPr>
              <a:t>Lógica y umbrales: código del prototipo CONDOR.</a:t>
            </a:r>
            <a:endParaRPr lang="en-US" sz="700" dirty="0"/>
          </a:p>
        </p:txBody>
      </p:sp>
      <p:sp>
        <p:nvSpPr>
          <p:cNvPr id="25" name="Slide Number Placeholder 0"/>
          <p:cNvSpPr>
            <a:spLocks noGrp="1"/>
          </p:cNvSpPr>
          <p:nvPr>
            <p:ph type="sldNum" sz="quarter" idx="4294967295"/>
          </p:nvPr>
        </p:nvSpPr>
        <p:spPr>
          <a:xfrm>
            <a:off x="761970" y="279441"/>
            <a:ext cx="368320" cy="368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Inter"/>
                <a:ea typeface="Inter"/>
                <a:cs typeface="Inter"/>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Sección"/>
          <p:cNvSpPr txBox="1"/>
          <p:nvPr/>
        </p:nvSpPr>
        <p:spPr>
          <a:xfrm>
            <a:off x="1257300" y="279441"/>
            <a:ext cx="3810030" cy="368320"/>
          </a:xfrm>
          <a:prstGeom prst="rect">
            <a:avLst/>
          </a:prstGeom>
          <a:noFill/>
          <a:ln/>
        </p:spPr>
        <p:txBody>
          <a:bodyPr wrap="square" lIns="0" tIns="0" rIns="0" bIns="0" rtlCol="0" anchor="ctr"/>
          <a:lstStyle/>
          <a:p>
            <a:pPr indent="0" marL="0">
              <a:buNone/>
            </a:pPr>
            <a:r>
              <a:rPr lang="en-US" sz="800" spc="100" kern="0" dirty="0">
                <a:solidFill>
                  <a:schemeClr val="tx2"/>
                </a:solidFill>
              </a:rPr>
              <a:t>ESTADO DEL ARTE</a:t>
            </a:r>
            <a:endParaRPr lang="en-US" sz="800" dirty="0"/>
          </a:p>
        </p:txBody>
      </p:sp>
      <p:sp>
        <p:nvSpPr>
          <p:cNvPr id="4" name="Text 3"/>
          <p:cNvSpPr/>
          <p:nvPr>
            <p:ph idx="104" type="title" hasCustomPrompt="1"/>
          </p:nvPr>
        </p:nvSpPr>
        <p:spPr>
          <a:xfrm>
            <a:off x="761970" y="1047720"/>
            <a:ext cx="10159990" cy="1079541"/>
          </a:xfrm>
          <a:prstGeom prst="rect">
            <a:avLst/>
          </a:prstGeom>
          <a:noFill/>
          <a:ln/>
        </p:spPr>
        <p:txBody>
          <a:bodyPr wrap="square" lIns="0" tIns="0" rIns="0" bIns="0" rtlCol="0" anchor="t"/>
          <a:lstStyle/>
          <a:p>
            <a:pPr algn="l" indent="0" marL="0">
              <a:buNone/>
            </a:pPr>
            <a:r>
              <a:rPr lang="en-US" sz="3200" b="1" dirty="0">
                <a:solidFill>
                  <a:schemeClr val="tx1"/>
                </a:solidFill>
              </a:rPr>
              <a:t>Ver suscripciones ya existe. Lo nuevo es cómo se reconocen.</a:t>
            </a:r>
            <a:endParaRPr lang="en-US" sz="3200" dirty="0"/>
          </a:p>
        </p:txBody>
      </p:sp>
      <p:sp>
        <p:nvSpPr>
          <p:cNvPr id="5" name="Shape 2"/>
          <p:cNvSpPr/>
          <p:nvPr/>
        </p:nvSpPr>
        <p:spPr>
          <a:xfrm>
            <a:off x="761970" y="2349459"/>
            <a:ext cx="10668030" cy="0"/>
          </a:xfrm>
          <a:prstGeom prst="line">
            <a:avLst/>
          </a:prstGeom>
          <a:noFill/>
          <a:ln w="19050">
            <a:solidFill>
              <a:schemeClr val="tx1"/>
            </a:solidFill>
            <a:prstDash val="solid"/>
          </a:ln>
        </p:spPr>
      </p:sp>
      <p:sp>
        <p:nvSpPr>
          <p:cNvPr id="6" name="Text 3"/>
          <p:cNvSpPr txBox="1"/>
          <p:nvPr/>
        </p:nvSpPr>
        <p:spPr>
          <a:xfrm>
            <a:off x="761970" y="2362170"/>
            <a:ext cx="2540020" cy="292059"/>
          </a:xfrm>
          <a:prstGeom prst="rect">
            <a:avLst/>
          </a:prstGeom>
          <a:noFill/>
          <a:ln/>
        </p:spPr>
        <p:txBody>
          <a:bodyPr wrap="square" lIns="0" tIns="0" rIns="0" bIns="0" rtlCol="0" anchor="ctr"/>
          <a:lstStyle/>
          <a:p>
            <a:pPr indent="0" marL="0">
              <a:buNone/>
            </a:pPr>
            <a:r>
              <a:rPr lang="en-US" sz="700" b="1" spc="100" kern="0" dirty="0">
                <a:solidFill>
                  <a:schemeClr val="tx2"/>
                </a:solidFill>
              </a:rPr>
              <a:t>ALTERNATIVA</a:t>
            </a:r>
            <a:endParaRPr lang="en-US" sz="700" dirty="0"/>
          </a:p>
        </p:txBody>
      </p:sp>
      <p:sp>
        <p:nvSpPr>
          <p:cNvPr id="7" name="Text 4"/>
          <p:cNvSpPr txBox="1"/>
          <p:nvPr/>
        </p:nvSpPr>
        <p:spPr>
          <a:xfrm>
            <a:off x="3429000" y="2362170"/>
            <a:ext cx="2540020" cy="292059"/>
          </a:xfrm>
          <a:prstGeom prst="rect">
            <a:avLst/>
          </a:prstGeom>
          <a:noFill/>
          <a:ln/>
        </p:spPr>
        <p:txBody>
          <a:bodyPr wrap="square" lIns="0" tIns="0" rIns="0" bIns="0" rtlCol="0" anchor="ctr"/>
          <a:lstStyle/>
          <a:p>
            <a:pPr indent="0" marL="0">
              <a:buNone/>
            </a:pPr>
            <a:r>
              <a:rPr lang="en-US" sz="700" b="1" spc="100" kern="0" dirty="0">
                <a:solidFill>
                  <a:schemeClr val="tx2"/>
                </a:solidFill>
              </a:rPr>
              <a:t>DÓNDE</a:t>
            </a:r>
            <a:endParaRPr lang="en-US" sz="700" dirty="0"/>
          </a:p>
        </p:txBody>
      </p:sp>
      <p:sp>
        <p:nvSpPr>
          <p:cNvPr id="8" name="Text 5"/>
          <p:cNvSpPr txBox="1"/>
          <p:nvPr/>
        </p:nvSpPr>
        <p:spPr>
          <a:xfrm>
            <a:off x="4699010" y="2362170"/>
            <a:ext cx="2540020" cy="292059"/>
          </a:xfrm>
          <a:prstGeom prst="rect">
            <a:avLst/>
          </a:prstGeom>
          <a:noFill/>
          <a:ln/>
        </p:spPr>
        <p:txBody>
          <a:bodyPr wrap="square" lIns="0" tIns="0" rIns="0" bIns="0" rtlCol="0" anchor="ctr"/>
          <a:lstStyle/>
          <a:p>
            <a:pPr indent="0" marL="0">
              <a:buNone/>
            </a:pPr>
            <a:r>
              <a:rPr lang="en-US" sz="700" b="1" spc="100" kern="0" dirty="0">
                <a:solidFill>
                  <a:schemeClr val="tx2"/>
                </a:solidFill>
              </a:rPr>
              <a:t>DENTRO DEL BANCO</a:t>
            </a:r>
            <a:endParaRPr lang="en-US" sz="700" dirty="0"/>
          </a:p>
        </p:txBody>
      </p:sp>
      <p:sp>
        <p:nvSpPr>
          <p:cNvPr id="9" name="Text 6"/>
          <p:cNvSpPr txBox="1"/>
          <p:nvPr/>
        </p:nvSpPr>
        <p:spPr>
          <a:xfrm>
            <a:off x="5905470" y="2362170"/>
            <a:ext cx="2540020" cy="292059"/>
          </a:xfrm>
          <a:prstGeom prst="rect">
            <a:avLst/>
          </a:prstGeom>
          <a:noFill/>
          <a:ln/>
        </p:spPr>
        <p:txBody>
          <a:bodyPr wrap="square" lIns="0" tIns="0" rIns="0" bIns="0" rtlCol="0" anchor="ctr"/>
          <a:lstStyle/>
          <a:p>
            <a:pPr indent="0" marL="0">
              <a:buNone/>
            </a:pPr>
            <a:r>
              <a:rPr lang="en-US" sz="700" b="1" spc="100" kern="0" dirty="0">
                <a:solidFill>
                  <a:schemeClr val="tx2"/>
                </a:solidFill>
              </a:rPr>
              <a:t>CÓMO RECONOCE LA SUSCRIPCIÓN</a:t>
            </a:r>
            <a:endParaRPr lang="en-US" sz="700" dirty="0"/>
          </a:p>
        </p:txBody>
      </p:sp>
      <p:sp>
        <p:nvSpPr>
          <p:cNvPr id="10" name="Shape 7"/>
          <p:cNvSpPr/>
          <p:nvPr/>
        </p:nvSpPr>
        <p:spPr>
          <a:xfrm>
            <a:off x="761970" y="2654320"/>
            <a:ext cx="10668030" cy="0"/>
          </a:xfrm>
          <a:prstGeom prst="line">
            <a:avLst/>
          </a:prstGeom>
          <a:noFill/>
          <a:ln w="9525">
            <a:solidFill>
              <a:schemeClr val="accent4"/>
            </a:solidFill>
            <a:prstDash val="solid"/>
          </a:ln>
        </p:spPr>
      </p:sp>
      <p:sp>
        <p:nvSpPr>
          <p:cNvPr id="11" name="Text 8"/>
          <p:cNvSpPr txBox="1"/>
          <p:nvPr/>
        </p:nvSpPr>
        <p:spPr>
          <a:xfrm>
            <a:off x="761970" y="2654320"/>
            <a:ext cx="2540020" cy="634959"/>
          </a:xfrm>
          <a:prstGeom prst="rect">
            <a:avLst/>
          </a:prstGeom>
          <a:noFill/>
          <a:ln/>
        </p:spPr>
        <p:txBody>
          <a:bodyPr wrap="square" lIns="0" tIns="0" rIns="0" bIns="0" rtlCol="0" anchor="ctr"/>
          <a:lstStyle/>
          <a:p>
            <a:pPr indent="0" marL="0">
              <a:buNone/>
            </a:pPr>
            <a:r>
              <a:rPr lang="en-US" sz="1250" b="1" dirty="0">
                <a:solidFill>
                  <a:schemeClr val="tx1"/>
                </a:solidFill>
                <a:latin typeface="+mj-lt" pitchFamily="34" charset="0"/>
                <a:ea typeface="+mj-lt" pitchFamily="34" charset="-122"/>
                <a:cs typeface="+mj-lt" pitchFamily="34" charset="-120"/>
              </a:rPr>
              <a:t>BancoEstado</a:t>
            </a:r>
            <a:endParaRPr lang="en-US" sz="1000" dirty="0"/>
          </a:p>
          <a:p>
            <a:pPr indent="0" marL="0">
              <a:buNone/>
            </a:pPr>
            <a:r>
              <a:rPr lang="en-US" sz="750" dirty="0">
                <a:solidFill>
                  <a:schemeClr val="accent3"/>
                </a:solidFill>
              </a:rPr>
              <a:t>Mis Suscripciones</a:t>
            </a:r>
            <a:endParaRPr lang="en-US" sz="1000" dirty="0"/>
          </a:p>
        </p:txBody>
      </p:sp>
      <p:sp>
        <p:nvSpPr>
          <p:cNvPr id="12" name="Text 9"/>
          <p:cNvSpPr txBox="1"/>
          <p:nvPr/>
        </p:nvSpPr>
        <p:spPr>
          <a:xfrm>
            <a:off x="3429000" y="2654320"/>
            <a:ext cx="1206459" cy="634959"/>
          </a:xfrm>
          <a:prstGeom prst="rect">
            <a:avLst/>
          </a:prstGeom>
          <a:noFill/>
          <a:ln/>
        </p:spPr>
        <p:txBody>
          <a:bodyPr wrap="square" lIns="0" tIns="0" rIns="0" bIns="0" rtlCol="0" anchor="ctr"/>
          <a:lstStyle/>
          <a:p>
            <a:pPr indent="0" marL="0">
              <a:buNone/>
            </a:pPr>
            <a:r>
              <a:rPr lang="en-US" sz="900" dirty="0">
                <a:solidFill>
                  <a:schemeClr val="tx2"/>
                </a:solidFill>
              </a:rPr>
              <a:t>Chile, hoy</a:t>
            </a:r>
            <a:endParaRPr lang="en-US" sz="900" dirty="0"/>
          </a:p>
        </p:txBody>
      </p:sp>
      <p:sp>
        <p:nvSpPr>
          <p:cNvPr id="13" name="Text 10"/>
          <p:cNvSpPr/>
          <p:nvPr/>
        </p:nvSpPr>
        <p:spPr>
          <a:xfrm>
            <a:off x="4699010" y="2876520"/>
            <a:ext cx="190470" cy="190470"/>
          </a:xfrm>
          <a:prstGeom prst="rect">
            <a:avLst/>
          </a:prstGeom>
          <a:solidFill>
            <a:srgbClr val="292524"/>
          </a:solidFill>
          <a:ln w="15875">
            <a:solidFill>
              <a:srgbClr val="292524"/>
            </a:solidFill>
          </a:ln>
        </p:spPr>
        <p:txBody>
          <a:bodyPr wrap="square" lIns="0" tIns="0" rIns="0" bIns="0" rtlCol="0" anchor="ctr"/>
          <a:lstStyle/>
          <a:p>
            <a:pPr algn="ctr" indent="0" marL="0">
              <a:buNone/>
            </a:pPr>
            <a:r>
              <a:rPr lang="en-US" sz="900" b="1" dirty="0">
                <a:solidFill>
                  <a:schemeClr val="bg1"/>
                </a:solidFill>
              </a:rPr>
              <a:t>✓</a:t>
            </a:r>
            <a:endParaRPr lang="en-US" sz="900" dirty="0"/>
          </a:p>
        </p:txBody>
      </p:sp>
      <p:sp>
        <p:nvSpPr>
          <p:cNvPr id="14" name="Text 11"/>
          <p:cNvSpPr txBox="1"/>
          <p:nvPr/>
        </p:nvSpPr>
        <p:spPr>
          <a:xfrm>
            <a:off x="5905470" y="2654320"/>
            <a:ext cx="5524530" cy="634959"/>
          </a:xfrm>
          <a:prstGeom prst="rect">
            <a:avLst/>
          </a:prstGeom>
          <a:noFill/>
          <a:ln/>
        </p:spPr>
        <p:txBody>
          <a:bodyPr wrap="square" lIns="0" tIns="0" rIns="0" bIns="0" rtlCol="0" anchor="ctr"/>
          <a:lstStyle/>
          <a:p>
            <a:pPr indent="0" marL="0">
              <a:buNone/>
            </a:pPr>
            <a:r>
              <a:rPr lang="en-US" sz="1050" dirty="0">
                <a:solidFill>
                  <a:schemeClr val="tx2"/>
                </a:solidFill>
              </a:rPr>
              <a:t>Solo comercios con tarjeta tokenizada</a:t>
            </a:r>
            <a:pPr indent="0" marL="0">
              <a:buNone/>
            </a:pPr>
            <a:r>
              <a:rPr lang="en-US" sz="1050" baseline="30000" dirty="0">
                <a:solidFill>
                  <a:schemeClr val="accent1"/>
                </a:solidFill>
              </a:rPr>
              <a:t>12</a:t>
            </a:r>
            <a:endParaRPr lang="en-US" sz="1050" dirty="0"/>
          </a:p>
        </p:txBody>
      </p:sp>
      <p:sp>
        <p:nvSpPr>
          <p:cNvPr id="15" name="Shape 12"/>
          <p:cNvSpPr/>
          <p:nvPr/>
        </p:nvSpPr>
        <p:spPr>
          <a:xfrm>
            <a:off x="761970" y="3289280"/>
            <a:ext cx="10668030" cy="0"/>
          </a:xfrm>
          <a:prstGeom prst="line">
            <a:avLst/>
          </a:prstGeom>
          <a:noFill/>
          <a:ln w="9525">
            <a:solidFill>
              <a:schemeClr val="accent4"/>
            </a:solidFill>
            <a:prstDash val="solid"/>
          </a:ln>
        </p:spPr>
      </p:sp>
      <p:sp>
        <p:nvSpPr>
          <p:cNvPr id="16" name="Text 13"/>
          <p:cNvSpPr txBox="1"/>
          <p:nvPr/>
        </p:nvSpPr>
        <p:spPr>
          <a:xfrm>
            <a:off x="761970" y="3289280"/>
            <a:ext cx="2540020" cy="634959"/>
          </a:xfrm>
          <a:prstGeom prst="rect">
            <a:avLst/>
          </a:prstGeom>
          <a:noFill/>
          <a:ln/>
        </p:spPr>
        <p:txBody>
          <a:bodyPr wrap="square" lIns="0" tIns="0" rIns="0" bIns="0" rtlCol="0" anchor="ctr"/>
          <a:lstStyle/>
          <a:p>
            <a:pPr indent="0" marL="0">
              <a:buNone/>
            </a:pPr>
            <a:r>
              <a:rPr lang="en-US" sz="1250" b="1" dirty="0">
                <a:solidFill>
                  <a:schemeClr val="tx1"/>
                </a:solidFill>
                <a:latin typeface="+mj-lt" pitchFamily="34" charset="0"/>
                <a:ea typeface="+mj-lt" pitchFamily="34" charset="-122"/>
                <a:cs typeface="+mj-lt" pitchFamily="34" charset="-120"/>
              </a:rPr>
              <a:t>Nubank</a:t>
            </a:r>
            <a:endParaRPr lang="en-US" sz="1000" dirty="0"/>
          </a:p>
          <a:p>
            <a:pPr indent="0" marL="0">
              <a:buNone/>
            </a:pPr>
            <a:r>
              <a:rPr lang="en-US" sz="750" dirty="0">
                <a:solidFill>
                  <a:schemeClr val="accent3"/>
                </a:solidFill>
              </a:rPr>
              <a:t>Gestor de suscripciones</a:t>
            </a:r>
            <a:endParaRPr lang="en-US" sz="1000" dirty="0"/>
          </a:p>
        </p:txBody>
      </p:sp>
      <p:sp>
        <p:nvSpPr>
          <p:cNvPr id="17" name="Text 14"/>
          <p:cNvSpPr txBox="1"/>
          <p:nvPr/>
        </p:nvSpPr>
        <p:spPr>
          <a:xfrm>
            <a:off x="3429000" y="3289280"/>
            <a:ext cx="1206459" cy="634959"/>
          </a:xfrm>
          <a:prstGeom prst="rect">
            <a:avLst/>
          </a:prstGeom>
          <a:noFill/>
          <a:ln/>
        </p:spPr>
        <p:txBody>
          <a:bodyPr wrap="square" lIns="0" tIns="0" rIns="0" bIns="0" rtlCol="0" anchor="ctr"/>
          <a:lstStyle/>
          <a:p>
            <a:pPr indent="0" marL="0">
              <a:buNone/>
            </a:pPr>
            <a:r>
              <a:rPr lang="en-US" sz="900" dirty="0">
                <a:solidFill>
                  <a:schemeClr val="tx2"/>
                </a:solidFill>
              </a:rPr>
              <a:t>Brasil, 2025</a:t>
            </a:r>
            <a:endParaRPr lang="en-US" sz="900" dirty="0"/>
          </a:p>
        </p:txBody>
      </p:sp>
      <p:sp>
        <p:nvSpPr>
          <p:cNvPr id="18" name="Text 15"/>
          <p:cNvSpPr/>
          <p:nvPr/>
        </p:nvSpPr>
        <p:spPr>
          <a:xfrm>
            <a:off x="4699010" y="3511570"/>
            <a:ext cx="190470" cy="190470"/>
          </a:xfrm>
          <a:prstGeom prst="rect">
            <a:avLst/>
          </a:prstGeom>
          <a:solidFill>
            <a:srgbClr val="292524"/>
          </a:solidFill>
          <a:ln w="15875">
            <a:solidFill>
              <a:srgbClr val="292524"/>
            </a:solidFill>
          </a:ln>
        </p:spPr>
        <p:txBody>
          <a:bodyPr wrap="square" lIns="0" tIns="0" rIns="0" bIns="0" rtlCol="0" anchor="ctr"/>
          <a:lstStyle/>
          <a:p>
            <a:pPr algn="ctr" indent="0" marL="0">
              <a:buNone/>
            </a:pPr>
            <a:r>
              <a:rPr lang="en-US" sz="900" b="1" dirty="0">
                <a:solidFill>
                  <a:schemeClr val="bg1"/>
                </a:solidFill>
              </a:rPr>
              <a:t>✓</a:t>
            </a:r>
            <a:endParaRPr lang="en-US" sz="900" dirty="0"/>
          </a:p>
        </p:txBody>
      </p:sp>
      <p:sp>
        <p:nvSpPr>
          <p:cNvPr id="19" name="Text 16"/>
          <p:cNvSpPr txBox="1"/>
          <p:nvPr/>
        </p:nvSpPr>
        <p:spPr>
          <a:xfrm>
            <a:off x="5905470" y="3289280"/>
            <a:ext cx="5524530" cy="634959"/>
          </a:xfrm>
          <a:prstGeom prst="rect">
            <a:avLst/>
          </a:prstGeom>
          <a:noFill/>
          <a:ln/>
        </p:spPr>
        <p:txBody>
          <a:bodyPr wrap="square" lIns="0" tIns="0" rIns="0" bIns="0" rtlCol="0" anchor="ctr"/>
          <a:lstStyle/>
          <a:p>
            <a:pPr indent="0" marL="0">
              <a:buNone/>
            </a:pPr>
            <a:r>
              <a:rPr lang="en-US" sz="1050" dirty="0">
                <a:solidFill>
                  <a:schemeClr val="tx2"/>
                </a:solidFill>
              </a:rPr>
              <a:t>Cobros recurrentes de la tarjeta</a:t>
            </a:r>
            <a:pPr indent="0" marL="0">
              <a:buNone/>
            </a:pPr>
            <a:r>
              <a:rPr lang="en-US" sz="1050" baseline="30000" dirty="0">
                <a:solidFill>
                  <a:schemeClr val="accent1"/>
                </a:solidFill>
              </a:rPr>
              <a:t>7</a:t>
            </a:r>
            <a:endParaRPr lang="en-US" sz="1050" dirty="0"/>
          </a:p>
        </p:txBody>
      </p:sp>
      <p:sp>
        <p:nvSpPr>
          <p:cNvPr id="20" name="Shape 17"/>
          <p:cNvSpPr/>
          <p:nvPr/>
        </p:nvSpPr>
        <p:spPr>
          <a:xfrm>
            <a:off x="761970" y="3924330"/>
            <a:ext cx="10668030" cy="0"/>
          </a:xfrm>
          <a:prstGeom prst="line">
            <a:avLst/>
          </a:prstGeom>
          <a:noFill/>
          <a:ln w="9525">
            <a:solidFill>
              <a:schemeClr val="accent4"/>
            </a:solidFill>
            <a:prstDash val="solid"/>
          </a:ln>
        </p:spPr>
      </p:sp>
      <p:sp>
        <p:nvSpPr>
          <p:cNvPr id="21" name="Text 18"/>
          <p:cNvSpPr txBox="1"/>
          <p:nvPr/>
        </p:nvSpPr>
        <p:spPr>
          <a:xfrm>
            <a:off x="761970" y="3924330"/>
            <a:ext cx="2540020" cy="634959"/>
          </a:xfrm>
          <a:prstGeom prst="rect">
            <a:avLst/>
          </a:prstGeom>
          <a:noFill/>
          <a:ln/>
        </p:spPr>
        <p:txBody>
          <a:bodyPr wrap="square" lIns="0" tIns="0" rIns="0" bIns="0" rtlCol="0" anchor="ctr"/>
          <a:lstStyle/>
          <a:p>
            <a:pPr indent="0" marL="0">
              <a:buNone/>
            </a:pPr>
            <a:r>
              <a:rPr lang="en-US" sz="1250" b="1" dirty="0">
                <a:solidFill>
                  <a:schemeClr val="tx1"/>
                </a:solidFill>
                <a:latin typeface="+mj-lt" pitchFamily="34" charset="0"/>
                <a:ea typeface="+mj-lt" pitchFamily="34" charset="-122"/>
                <a:cs typeface="+mj-lt" pitchFamily="34" charset="-120"/>
              </a:rPr>
              <a:t>Visa</a:t>
            </a:r>
            <a:endParaRPr lang="en-US" sz="1000" dirty="0"/>
          </a:p>
          <a:p>
            <a:pPr indent="0" marL="0">
              <a:buNone/>
            </a:pPr>
            <a:r>
              <a:rPr lang="en-US" sz="750" dirty="0">
                <a:solidFill>
                  <a:schemeClr val="accent3"/>
                </a:solidFill>
              </a:rPr>
              <a:t>Subscription Manager</a:t>
            </a:r>
            <a:endParaRPr lang="en-US" sz="1000" dirty="0"/>
          </a:p>
        </p:txBody>
      </p:sp>
      <p:sp>
        <p:nvSpPr>
          <p:cNvPr id="22" name="Text 19"/>
          <p:cNvSpPr txBox="1"/>
          <p:nvPr/>
        </p:nvSpPr>
        <p:spPr>
          <a:xfrm>
            <a:off x="3429000" y="3924330"/>
            <a:ext cx="1206459" cy="634959"/>
          </a:xfrm>
          <a:prstGeom prst="rect">
            <a:avLst/>
          </a:prstGeom>
          <a:noFill/>
          <a:ln/>
        </p:spPr>
        <p:txBody>
          <a:bodyPr wrap="square" lIns="0" tIns="0" rIns="0" bIns="0" rtlCol="0" anchor="ctr"/>
          <a:lstStyle/>
          <a:p>
            <a:pPr indent="0" marL="0">
              <a:buNone/>
            </a:pPr>
            <a:r>
              <a:rPr lang="en-US" sz="900" dirty="0">
                <a:solidFill>
                  <a:schemeClr val="tx2"/>
                </a:solidFill>
              </a:rPr>
              <a:t>2026 → LatAm</a:t>
            </a:r>
            <a:endParaRPr lang="en-US" sz="900" dirty="0"/>
          </a:p>
        </p:txBody>
      </p:sp>
      <p:sp>
        <p:nvSpPr>
          <p:cNvPr id="23" name="Text 20"/>
          <p:cNvSpPr/>
          <p:nvPr/>
        </p:nvSpPr>
        <p:spPr>
          <a:xfrm>
            <a:off x="4699010" y="4146530"/>
            <a:ext cx="190470" cy="190470"/>
          </a:xfrm>
          <a:prstGeom prst="rect">
            <a:avLst/>
          </a:prstGeom>
          <a:solidFill>
            <a:srgbClr val="292524"/>
          </a:solidFill>
          <a:ln w="15875">
            <a:solidFill>
              <a:srgbClr val="292524"/>
            </a:solidFill>
          </a:ln>
        </p:spPr>
        <p:txBody>
          <a:bodyPr wrap="square" lIns="0" tIns="0" rIns="0" bIns="0" rtlCol="0" anchor="ctr"/>
          <a:lstStyle/>
          <a:p>
            <a:pPr algn="ctr" indent="0" marL="0">
              <a:buNone/>
            </a:pPr>
            <a:r>
              <a:rPr lang="en-US" sz="900" b="1" dirty="0">
                <a:solidFill>
                  <a:schemeClr val="bg1"/>
                </a:solidFill>
              </a:rPr>
              <a:t>✓</a:t>
            </a:r>
            <a:endParaRPr lang="en-US" sz="900" dirty="0"/>
          </a:p>
        </p:txBody>
      </p:sp>
      <p:sp>
        <p:nvSpPr>
          <p:cNvPr id="24" name="Text 21"/>
          <p:cNvSpPr txBox="1"/>
          <p:nvPr/>
        </p:nvSpPr>
        <p:spPr>
          <a:xfrm>
            <a:off x="5905470" y="3924330"/>
            <a:ext cx="5524530" cy="634959"/>
          </a:xfrm>
          <a:prstGeom prst="rect">
            <a:avLst/>
          </a:prstGeom>
          <a:noFill/>
          <a:ln/>
        </p:spPr>
        <p:txBody>
          <a:bodyPr wrap="square" lIns="0" tIns="0" rIns="0" bIns="0" rtlCol="0" anchor="ctr"/>
          <a:lstStyle/>
          <a:p>
            <a:pPr indent="0" marL="0">
              <a:buNone/>
            </a:pPr>
            <a:r>
              <a:rPr lang="en-US" sz="1050" dirty="0">
                <a:solidFill>
                  <a:schemeClr val="tx2"/>
                </a:solidFill>
              </a:rPr>
              <a:t>Gestión en 100+ comercios asociados</a:t>
            </a:r>
            <a:pPr indent="0" marL="0">
              <a:buNone/>
            </a:pPr>
            <a:r>
              <a:rPr lang="en-US" sz="1050" baseline="30000" dirty="0">
                <a:solidFill>
                  <a:schemeClr val="accent1"/>
                </a:solidFill>
              </a:rPr>
              <a:t>6</a:t>
            </a:r>
            <a:endParaRPr lang="en-US" sz="1050" dirty="0"/>
          </a:p>
        </p:txBody>
      </p:sp>
      <p:sp>
        <p:nvSpPr>
          <p:cNvPr id="25" name="Shape 22"/>
          <p:cNvSpPr/>
          <p:nvPr/>
        </p:nvSpPr>
        <p:spPr>
          <a:xfrm>
            <a:off x="761970" y="4559290"/>
            <a:ext cx="10668030" cy="0"/>
          </a:xfrm>
          <a:prstGeom prst="line">
            <a:avLst/>
          </a:prstGeom>
          <a:noFill/>
          <a:ln w="9525">
            <a:solidFill>
              <a:schemeClr val="accent4"/>
            </a:solidFill>
            <a:prstDash val="solid"/>
          </a:ln>
        </p:spPr>
      </p:sp>
      <p:sp>
        <p:nvSpPr>
          <p:cNvPr id="26" name="Text 23"/>
          <p:cNvSpPr txBox="1"/>
          <p:nvPr/>
        </p:nvSpPr>
        <p:spPr>
          <a:xfrm>
            <a:off x="761970" y="4559290"/>
            <a:ext cx="2540020" cy="634959"/>
          </a:xfrm>
          <a:prstGeom prst="rect">
            <a:avLst/>
          </a:prstGeom>
          <a:noFill/>
          <a:ln/>
        </p:spPr>
        <p:txBody>
          <a:bodyPr wrap="square" lIns="0" tIns="0" rIns="0" bIns="0" rtlCol="0" anchor="ctr"/>
          <a:lstStyle/>
          <a:p>
            <a:pPr indent="0" marL="0">
              <a:buNone/>
            </a:pPr>
            <a:r>
              <a:rPr lang="en-US" sz="1250" b="1" dirty="0">
                <a:solidFill>
                  <a:schemeClr val="tx1"/>
                </a:solidFill>
                <a:latin typeface="+mj-lt" pitchFamily="34" charset="0"/>
                <a:ea typeface="+mj-lt" pitchFamily="34" charset="-122"/>
                <a:cs typeface="+mj-lt" pitchFamily="34" charset="-120"/>
              </a:rPr>
              <a:t>Rocket Money</a:t>
            </a:r>
            <a:endParaRPr lang="en-US" sz="1000" dirty="0"/>
          </a:p>
          <a:p>
            <a:pPr indent="0" marL="0">
              <a:buNone/>
            </a:pPr>
            <a:r>
              <a:rPr lang="en-US" sz="750" dirty="0">
                <a:solidFill>
                  <a:schemeClr val="accent3"/>
                </a:solidFill>
              </a:rPr>
              <a:t>app aparte</a:t>
            </a:r>
            <a:endParaRPr lang="en-US" sz="1000" dirty="0"/>
          </a:p>
        </p:txBody>
      </p:sp>
      <p:sp>
        <p:nvSpPr>
          <p:cNvPr id="27" name="Text 24"/>
          <p:cNvSpPr txBox="1"/>
          <p:nvPr/>
        </p:nvSpPr>
        <p:spPr>
          <a:xfrm>
            <a:off x="3429000" y="4559290"/>
            <a:ext cx="1206459" cy="634959"/>
          </a:xfrm>
          <a:prstGeom prst="rect">
            <a:avLst/>
          </a:prstGeom>
          <a:noFill/>
          <a:ln/>
        </p:spPr>
        <p:txBody>
          <a:bodyPr wrap="square" lIns="0" tIns="0" rIns="0" bIns="0" rtlCol="0" anchor="ctr"/>
          <a:lstStyle/>
          <a:p>
            <a:pPr indent="0" marL="0">
              <a:buNone/>
            </a:pPr>
            <a:r>
              <a:rPr lang="en-US" sz="900" dirty="0">
                <a:solidFill>
                  <a:schemeClr val="tx2"/>
                </a:solidFill>
              </a:rPr>
              <a:t>EE.UU.</a:t>
            </a:r>
            <a:endParaRPr lang="en-US" sz="900" dirty="0"/>
          </a:p>
        </p:txBody>
      </p:sp>
      <p:sp>
        <p:nvSpPr>
          <p:cNvPr id="28" name="Text 25"/>
          <p:cNvSpPr/>
          <p:nvPr/>
        </p:nvSpPr>
        <p:spPr>
          <a:xfrm>
            <a:off x="4699010" y="4781580"/>
            <a:ext cx="190470" cy="190470"/>
          </a:xfrm>
          <a:prstGeom prst="rect">
            <a:avLst/>
          </a:prstGeom>
          <a:solidFill>
            <a:srgbClr val="FFFFFF"/>
          </a:solidFill>
          <a:ln w="15875">
            <a:solidFill>
              <a:srgbClr val="D6D3D1"/>
            </a:solidFill>
          </a:ln>
        </p:spPr>
        <p:txBody>
          <a:bodyPr wrap="square" lIns="0" tIns="0" rIns="0" bIns="0" rtlCol="0" anchor="ctr"/>
          <a:lstStyle/>
          <a:p>
            <a:pPr algn="ctr" indent="0" marL="0">
              <a:buNone/>
            </a:pPr>
            <a:r>
              <a:rPr lang="en-US" sz="900" b="1" dirty="0">
                <a:solidFill>
                  <a:schemeClr val="accent3"/>
                </a:solidFill>
              </a:rPr>
              <a:t>✕</a:t>
            </a:r>
            <a:endParaRPr lang="en-US" sz="900" dirty="0"/>
          </a:p>
        </p:txBody>
      </p:sp>
      <p:sp>
        <p:nvSpPr>
          <p:cNvPr id="29" name="Text 26"/>
          <p:cNvSpPr txBox="1"/>
          <p:nvPr/>
        </p:nvSpPr>
        <p:spPr>
          <a:xfrm>
            <a:off x="5905470" y="4559290"/>
            <a:ext cx="5524530" cy="634959"/>
          </a:xfrm>
          <a:prstGeom prst="rect">
            <a:avLst/>
          </a:prstGeom>
          <a:noFill/>
          <a:ln/>
        </p:spPr>
        <p:txBody>
          <a:bodyPr wrap="square" lIns="0" tIns="0" rIns="0" bIns="0" rtlCol="0" anchor="ctr"/>
          <a:lstStyle/>
          <a:p>
            <a:pPr indent="0" marL="0">
              <a:buNone/>
            </a:pPr>
            <a:r>
              <a:rPr lang="en-US" sz="1050" dirty="0">
                <a:solidFill>
                  <a:schemeClr val="tx2"/>
                </a:solidFill>
              </a:rPr>
              <a:t>Historial de cuentas vinculadas</a:t>
            </a:r>
            <a:pPr indent="0" marL="0">
              <a:buNone/>
            </a:pPr>
            <a:r>
              <a:rPr lang="en-US" sz="1050" baseline="30000" dirty="0">
                <a:solidFill>
                  <a:schemeClr val="accent1"/>
                </a:solidFill>
              </a:rPr>
              <a:t>8</a:t>
            </a:r>
            <a:endParaRPr lang="en-US" sz="1050" dirty="0"/>
          </a:p>
        </p:txBody>
      </p:sp>
      <p:sp>
        <p:nvSpPr>
          <p:cNvPr id="30" name="Shape 27"/>
          <p:cNvSpPr/>
          <p:nvPr/>
        </p:nvSpPr>
        <p:spPr>
          <a:xfrm>
            <a:off x="761970" y="5194341"/>
            <a:ext cx="10668030" cy="0"/>
          </a:xfrm>
          <a:prstGeom prst="line">
            <a:avLst/>
          </a:prstGeom>
          <a:noFill/>
          <a:ln w="9525">
            <a:solidFill>
              <a:schemeClr val="accent4"/>
            </a:solidFill>
            <a:prstDash val="solid"/>
          </a:ln>
        </p:spPr>
      </p:sp>
      <p:sp>
        <p:nvSpPr>
          <p:cNvPr id="31" name="Fila CONDOR"/>
          <p:cNvSpPr/>
          <p:nvPr/>
        </p:nvSpPr>
        <p:spPr>
          <a:xfrm>
            <a:off x="609630" y="5194341"/>
            <a:ext cx="10972800" cy="533370"/>
          </a:xfrm>
          <a:prstGeom prst="rect">
            <a:avLst/>
          </a:prstGeom>
          <a:solidFill>
            <a:schemeClr val="accent1"/>
          </a:solidFill>
          <a:ln/>
        </p:spPr>
      </p:sp>
      <p:sp>
        <p:nvSpPr>
          <p:cNvPr id="32" name="Text 29"/>
          <p:cNvSpPr txBox="1"/>
          <p:nvPr/>
        </p:nvSpPr>
        <p:spPr>
          <a:xfrm>
            <a:off x="761970" y="5194341"/>
            <a:ext cx="2540020" cy="533370"/>
          </a:xfrm>
          <a:prstGeom prst="rect">
            <a:avLst/>
          </a:prstGeom>
          <a:noFill/>
          <a:ln/>
        </p:spPr>
        <p:txBody>
          <a:bodyPr wrap="square" lIns="0" tIns="0" rIns="0" bIns="0" rtlCol="0" anchor="ctr"/>
          <a:lstStyle/>
          <a:p>
            <a:pPr indent="0" marL="0">
              <a:buNone/>
            </a:pPr>
            <a:r>
              <a:rPr lang="en-US" sz="1250" b="1" dirty="0">
                <a:solidFill>
                  <a:schemeClr val="bg1"/>
                </a:solidFill>
                <a:latin typeface="+mj-lt" pitchFamily="34" charset="0"/>
                <a:ea typeface="+mj-lt" pitchFamily="34" charset="-122"/>
                <a:cs typeface="+mj-lt" pitchFamily="34" charset="-120"/>
              </a:rPr>
              <a:t>CONDOR</a:t>
            </a:r>
            <a:endParaRPr lang="en-US" sz="1250" dirty="0"/>
          </a:p>
        </p:txBody>
      </p:sp>
      <p:sp>
        <p:nvSpPr>
          <p:cNvPr id="33" name="Text 30"/>
          <p:cNvSpPr txBox="1"/>
          <p:nvPr/>
        </p:nvSpPr>
        <p:spPr>
          <a:xfrm>
            <a:off x="3429000" y="5194341"/>
            <a:ext cx="1206459" cy="533370"/>
          </a:xfrm>
          <a:prstGeom prst="rect">
            <a:avLst/>
          </a:prstGeom>
          <a:noFill/>
          <a:ln/>
        </p:spPr>
        <p:txBody>
          <a:bodyPr wrap="square" lIns="0" tIns="0" rIns="0" bIns="0" rtlCol="0" anchor="ctr"/>
          <a:lstStyle/>
          <a:p>
            <a:pPr indent="0" marL="0">
              <a:buNone/>
            </a:pPr>
            <a:r>
              <a:rPr lang="en-US" sz="900" dirty="0">
                <a:solidFill>
                  <a:schemeClr val="bg1"/>
                </a:solidFill>
              </a:rPr>
              <a:t>Prototipo</a:t>
            </a:r>
            <a:endParaRPr lang="en-US" sz="900" dirty="0"/>
          </a:p>
        </p:txBody>
      </p:sp>
      <p:sp>
        <p:nvSpPr>
          <p:cNvPr id="34" name="Text 31"/>
          <p:cNvSpPr/>
          <p:nvPr/>
        </p:nvSpPr>
        <p:spPr>
          <a:xfrm>
            <a:off x="4699010" y="5365791"/>
            <a:ext cx="190470" cy="190470"/>
          </a:xfrm>
          <a:prstGeom prst="rect">
            <a:avLst/>
          </a:prstGeom>
          <a:solidFill>
            <a:srgbClr val="FFFFFF"/>
          </a:solidFill>
          <a:ln/>
        </p:spPr>
        <p:txBody>
          <a:bodyPr wrap="square" lIns="0" tIns="0" rIns="0" bIns="0" rtlCol="0" anchor="ctr"/>
          <a:lstStyle/>
          <a:p>
            <a:pPr algn="ctr" indent="0" marL="0">
              <a:buNone/>
            </a:pPr>
            <a:r>
              <a:rPr lang="en-US" sz="900" b="1" dirty="0">
                <a:solidFill>
                  <a:schemeClr val="accent1"/>
                </a:solidFill>
              </a:rPr>
              <a:t>✓</a:t>
            </a:r>
            <a:endParaRPr lang="en-US" sz="900" dirty="0"/>
          </a:p>
        </p:txBody>
      </p:sp>
      <p:sp>
        <p:nvSpPr>
          <p:cNvPr id="35" name="Text 32"/>
          <p:cNvSpPr txBox="1"/>
          <p:nvPr/>
        </p:nvSpPr>
        <p:spPr>
          <a:xfrm>
            <a:off x="5905470" y="5194341"/>
            <a:ext cx="5524530" cy="533370"/>
          </a:xfrm>
          <a:prstGeom prst="rect">
            <a:avLst/>
          </a:prstGeom>
          <a:noFill/>
          <a:ln/>
        </p:spPr>
        <p:txBody>
          <a:bodyPr wrap="square" lIns="0" tIns="0" rIns="0" bIns="0" rtlCol="0" anchor="ctr"/>
          <a:lstStyle/>
          <a:p>
            <a:pPr indent="0" marL="0">
              <a:buNone/>
            </a:pPr>
            <a:r>
              <a:rPr lang="en-US" sz="1050" dirty="0">
                <a:solidFill>
                  <a:schemeClr val="bg1"/>
                </a:solidFill>
              </a:rPr>
              <a:t>Cómo cobra el comercio a todo el banco, desde el 1er cobro</a:t>
            </a:r>
            <a:endParaRPr lang="en-US" sz="1050" dirty="0"/>
          </a:p>
        </p:txBody>
      </p:sp>
      <p:sp>
        <p:nvSpPr>
          <p:cNvPr id="36" name="Text 33"/>
          <p:cNvSpPr txBox="1"/>
          <p:nvPr/>
        </p:nvSpPr>
        <p:spPr>
          <a:xfrm>
            <a:off x="761970" y="5854720"/>
            <a:ext cx="3810030" cy="190470"/>
          </a:xfrm>
          <a:prstGeom prst="rect">
            <a:avLst/>
          </a:prstGeom>
          <a:noFill/>
          <a:ln/>
        </p:spPr>
        <p:txBody>
          <a:bodyPr wrap="square" lIns="0" tIns="0" rIns="0" bIns="0" rtlCol="0" anchor="t"/>
          <a:lstStyle/>
          <a:p>
            <a:pPr indent="0" marL="0">
              <a:buNone/>
            </a:pPr>
            <a:r>
              <a:rPr lang="en-US" sz="800" b="1" spc="100" kern="0" dirty="0">
                <a:solidFill>
                  <a:schemeClr val="tx2"/>
                </a:solidFill>
              </a:rPr>
              <a:t>DIFERENCIA DE FONDO</a:t>
            </a:r>
            <a:endParaRPr lang="en-US" sz="800" dirty="0"/>
          </a:p>
        </p:txBody>
      </p:sp>
      <p:sp>
        <p:nvSpPr>
          <p:cNvPr id="37" name="Text 34"/>
          <p:cNvSpPr txBox="1"/>
          <p:nvPr/>
        </p:nvSpPr>
        <p:spPr>
          <a:xfrm>
            <a:off x="761970" y="6032480"/>
            <a:ext cx="5460980" cy="254020"/>
          </a:xfrm>
          <a:prstGeom prst="rect">
            <a:avLst/>
          </a:prstGeom>
          <a:noFill/>
          <a:ln/>
        </p:spPr>
        <p:txBody>
          <a:bodyPr wrap="square" lIns="0" tIns="0" rIns="0" bIns="0" rtlCol="0" anchor="t"/>
          <a:lstStyle/>
          <a:p>
            <a:pPr indent="0" marL="0">
              <a:buNone/>
            </a:pPr>
            <a:r>
              <a:rPr lang="en-US" sz="1100" b="1" dirty="0">
                <a:solidFill>
                  <a:schemeClr val="tx1"/>
                </a:solidFill>
                <a:latin typeface="+mj-lt" pitchFamily="34" charset="0"/>
                <a:ea typeface="+mj-lt" pitchFamily="34" charset="-122"/>
                <a:cs typeface="+mj-lt" pitchFamily="34" charset="-120"/>
              </a:rPr>
              <a:t>No depende de que el comercio se declare: aprende de cómo cobra.</a:t>
            </a:r>
            <a:endParaRPr lang="en-US" sz="1100" dirty="0"/>
          </a:p>
        </p:txBody>
      </p:sp>
      <p:sp>
        <p:nvSpPr>
          <p:cNvPr id="38" name="Text 35"/>
          <p:cNvSpPr txBox="1"/>
          <p:nvPr/>
        </p:nvSpPr>
        <p:spPr>
          <a:xfrm>
            <a:off x="6286500" y="5854720"/>
            <a:ext cx="3810030" cy="190470"/>
          </a:xfrm>
          <a:prstGeom prst="rect">
            <a:avLst/>
          </a:prstGeom>
          <a:noFill/>
          <a:ln/>
        </p:spPr>
        <p:txBody>
          <a:bodyPr wrap="square" lIns="0" tIns="0" rIns="0" bIns="0" rtlCol="0" anchor="t"/>
          <a:lstStyle/>
          <a:p>
            <a:pPr indent="0" marL="0">
              <a:buNone/>
            </a:pPr>
            <a:r>
              <a:rPr lang="en-US" sz="800" b="1" spc="100" kern="0" dirty="0">
                <a:solidFill>
                  <a:schemeClr val="tx2"/>
                </a:solidFill>
              </a:rPr>
              <a:t>DIFÍCIL DE COPIAR</a:t>
            </a:r>
            <a:endParaRPr lang="en-US" sz="800" dirty="0"/>
          </a:p>
        </p:txBody>
      </p:sp>
      <p:sp>
        <p:nvSpPr>
          <p:cNvPr id="39" name="Text 36"/>
          <p:cNvSpPr txBox="1"/>
          <p:nvPr/>
        </p:nvSpPr>
        <p:spPr>
          <a:xfrm>
            <a:off x="6286500" y="6032480"/>
            <a:ext cx="5143500" cy="254020"/>
          </a:xfrm>
          <a:prstGeom prst="rect">
            <a:avLst/>
          </a:prstGeom>
          <a:noFill/>
          <a:ln/>
        </p:spPr>
        <p:txBody>
          <a:bodyPr wrap="square" lIns="0" tIns="0" rIns="0" bIns="0" rtlCol="0" anchor="t"/>
          <a:lstStyle/>
          <a:p>
            <a:pPr indent="0" marL="0">
              <a:buNone/>
            </a:pPr>
            <a:r>
              <a:rPr lang="en-US" sz="1100" b="1" dirty="0">
                <a:solidFill>
                  <a:schemeClr val="tx1"/>
                </a:solidFill>
                <a:latin typeface="+mj-lt" pitchFamily="34" charset="0"/>
                <a:ea typeface="+mj-lt" pitchFamily="34" charset="-122"/>
                <a:cs typeface="+mj-lt" pitchFamily="34" charset="-120"/>
              </a:rPr>
              <a:t>El modelo de comercios mejora con cada cliente del banco.</a:t>
            </a:r>
            <a:endParaRPr lang="en-US" sz="1100" dirty="0"/>
          </a:p>
        </p:txBody>
      </p:sp>
      <p:sp>
        <p:nvSpPr>
          <p:cNvPr id="40" name="Fuente"/>
          <p:cNvSpPr txBox="1"/>
          <p:nvPr/>
        </p:nvSpPr>
        <p:spPr>
          <a:xfrm>
            <a:off x="761970" y="6464259"/>
            <a:ext cx="10668030" cy="190470"/>
          </a:xfrm>
          <a:prstGeom prst="rect">
            <a:avLst/>
          </a:prstGeom>
          <a:noFill/>
          <a:ln/>
        </p:spPr>
        <p:txBody>
          <a:bodyPr wrap="square" lIns="0" tIns="0" rIns="0" bIns="0" rtlCol="0" anchor="t"/>
          <a:lstStyle/>
          <a:p>
            <a:pPr indent="0" marL="0">
              <a:buNone/>
            </a:pPr>
            <a:r>
              <a:rPr lang="en-US" sz="700" dirty="0">
                <a:solidFill>
                  <a:schemeClr val="accent3"/>
                </a:solidFill>
              </a:rPr>
              <a:t>[6] Visa, mar-2026 · [7] Nubank, dic-2025 · [8] rocketmoney.com · [12] BancoEstado, Mis Suscripciones</a:t>
            </a:r>
            <a:endParaRPr lang="en-US" sz="700" dirty="0"/>
          </a:p>
        </p:txBody>
      </p:sp>
      <p:sp>
        <p:nvSpPr>
          <p:cNvPr id="25" name="Slide Number Placeholder 0"/>
          <p:cNvSpPr>
            <a:spLocks noGrp="1"/>
          </p:cNvSpPr>
          <p:nvPr>
            <p:ph type="sldNum" sz="quarter" idx="4294967295"/>
          </p:nvPr>
        </p:nvSpPr>
        <p:spPr>
          <a:xfrm>
            <a:off x="761970" y="279441"/>
            <a:ext cx="368320" cy="368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Inter"/>
                <a:ea typeface="Inter"/>
                <a:cs typeface="Inter"/>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Sección"/>
          <p:cNvSpPr txBox="1"/>
          <p:nvPr/>
        </p:nvSpPr>
        <p:spPr>
          <a:xfrm>
            <a:off x="1257300" y="279441"/>
            <a:ext cx="3810030" cy="368320"/>
          </a:xfrm>
          <a:prstGeom prst="rect">
            <a:avLst/>
          </a:prstGeom>
          <a:noFill/>
          <a:ln/>
        </p:spPr>
        <p:txBody>
          <a:bodyPr wrap="square" lIns="0" tIns="0" rIns="0" bIns="0" rtlCol="0" anchor="ctr"/>
          <a:lstStyle/>
          <a:p>
            <a:pPr indent="0" marL="0">
              <a:buNone/>
            </a:pPr>
            <a:r>
              <a:rPr lang="en-US" sz="800" spc="100" kern="0" dirty="0">
                <a:solidFill>
                  <a:schemeClr val="tx2"/>
                </a:solidFill>
              </a:rPr>
              <a:t>PROTOTIPO</a:t>
            </a:r>
            <a:endParaRPr lang="en-US" sz="800" dirty="0"/>
          </a:p>
        </p:txBody>
      </p:sp>
      <p:sp>
        <p:nvSpPr>
          <p:cNvPr id="4" name="Text 3"/>
          <p:cNvSpPr/>
          <p:nvPr>
            <p:ph idx="104" type="title" hasCustomPrompt="1"/>
          </p:nvPr>
        </p:nvSpPr>
        <p:spPr>
          <a:xfrm>
            <a:off x="761970" y="1047720"/>
            <a:ext cx="10159990" cy="1079541"/>
          </a:xfrm>
          <a:prstGeom prst="rect">
            <a:avLst/>
          </a:prstGeom>
          <a:noFill/>
          <a:ln/>
        </p:spPr>
        <p:txBody>
          <a:bodyPr wrap="square" lIns="0" tIns="0" rIns="0" bIns="0" rtlCol="0" anchor="t"/>
          <a:lstStyle/>
          <a:p>
            <a:pPr algn="l" indent="0" marL="0">
              <a:buNone/>
            </a:pPr>
            <a:r>
              <a:rPr lang="en-US" sz="3200" b="1" dirty="0">
                <a:solidFill>
                  <a:schemeClr val="tx1"/>
                </a:solidFill>
              </a:rPr>
              <a:t>Así funciona el prototipo.</a:t>
            </a:r>
            <a:endParaRPr lang="en-US" sz="3200" dirty="0"/>
          </a:p>
        </p:txBody>
      </p:sp>
      <p:sp>
        <p:nvSpPr>
          <p:cNvPr id="5" name="Text 2"/>
          <p:cNvSpPr txBox="1"/>
          <p:nvPr/>
        </p:nvSpPr>
        <p:spPr>
          <a:xfrm>
            <a:off x="761970" y="1727210"/>
            <a:ext cx="254020" cy="355610"/>
          </a:xfrm>
          <a:prstGeom prst="rect">
            <a:avLst/>
          </a:prstGeom>
          <a:noFill/>
          <a:ln/>
        </p:spPr>
        <p:txBody>
          <a:bodyPr wrap="square" lIns="0" tIns="0" rIns="0" bIns="0" rtlCol="0" anchor="b"/>
          <a:lstStyle/>
          <a:p>
            <a:pPr indent="0" marL="0">
              <a:buNone/>
            </a:pPr>
            <a:r>
              <a:rPr lang="en-US" sz="2400" b="1" dirty="0">
                <a:solidFill>
                  <a:schemeClr val="accent1"/>
                </a:solidFill>
                <a:latin typeface="+mj-lt" pitchFamily="34" charset="0"/>
                <a:ea typeface="+mj-lt" pitchFamily="34" charset="-122"/>
                <a:cs typeface="+mj-lt" pitchFamily="34" charset="-120"/>
              </a:rPr>
              <a:t>1</a:t>
            </a:r>
            <a:endParaRPr lang="en-US" sz="2400" dirty="0"/>
          </a:p>
        </p:txBody>
      </p:sp>
      <p:sp>
        <p:nvSpPr>
          <p:cNvPr id="6" name="Text 3"/>
          <p:cNvSpPr txBox="1"/>
          <p:nvPr/>
        </p:nvSpPr>
        <p:spPr>
          <a:xfrm>
            <a:off x="1003280" y="1790670"/>
            <a:ext cx="4444990" cy="279441"/>
          </a:xfrm>
          <a:prstGeom prst="rect">
            <a:avLst/>
          </a:prstGeom>
          <a:noFill/>
          <a:ln/>
        </p:spPr>
        <p:txBody>
          <a:bodyPr wrap="square" lIns="0" tIns="0" rIns="0" bIns="0" rtlCol="0" anchor="b"/>
          <a:lstStyle/>
          <a:p>
            <a:pPr indent="0" marL="0">
              <a:buNone/>
            </a:pPr>
            <a:r>
              <a:rPr lang="en-US" sz="1300" b="1" dirty="0">
                <a:solidFill>
                  <a:schemeClr val="tx1"/>
                </a:solidFill>
                <a:latin typeface="+mj-lt" pitchFamily="34" charset="0"/>
                <a:ea typeface="+mj-lt" pitchFamily="34" charset="-122"/>
                <a:cs typeface="+mj-lt" pitchFamily="34" charset="-120"/>
              </a:rPr>
              <a:t>Llega el primer cobro y lo reconoce</a:t>
            </a:r>
            <a:endParaRPr lang="en-US" sz="1300" dirty="0"/>
          </a:p>
        </p:txBody>
      </p:sp>
      <p:sp>
        <p:nvSpPr>
          <p:cNvPr id="7" name="Text 4"/>
          <p:cNvSpPr txBox="1"/>
          <p:nvPr/>
        </p:nvSpPr>
        <p:spPr>
          <a:xfrm>
            <a:off x="6235659" y="1727210"/>
            <a:ext cx="254020" cy="355610"/>
          </a:xfrm>
          <a:prstGeom prst="rect">
            <a:avLst/>
          </a:prstGeom>
          <a:noFill/>
          <a:ln/>
        </p:spPr>
        <p:txBody>
          <a:bodyPr wrap="square" lIns="0" tIns="0" rIns="0" bIns="0" rtlCol="0" anchor="b"/>
          <a:lstStyle/>
          <a:p>
            <a:pPr indent="0" marL="0">
              <a:buNone/>
            </a:pPr>
            <a:r>
              <a:rPr lang="en-US" sz="2400" b="1" dirty="0">
                <a:solidFill>
                  <a:schemeClr val="accent1"/>
                </a:solidFill>
                <a:latin typeface="+mj-lt" pitchFamily="34" charset="0"/>
                <a:ea typeface="+mj-lt" pitchFamily="34" charset="-122"/>
                <a:cs typeface="+mj-lt" pitchFamily="34" charset="-120"/>
              </a:rPr>
              <a:t>2</a:t>
            </a:r>
            <a:endParaRPr lang="en-US" sz="2400" dirty="0"/>
          </a:p>
        </p:txBody>
      </p:sp>
      <p:sp>
        <p:nvSpPr>
          <p:cNvPr id="8" name="Text 5"/>
          <p:cNvSpPr txBox="1"/>
          <p:nvPr/>
        </p:nvSpPr>
        <p:spPr>
          <a:xfrm>
            <a:off x="6476970" y="1790670"/>
            <a:ext cx="4444990" cy="279441"/>
          </a:xfrm>
          <a:prstGeom prst="rect">
            <a:avLst/>
          </a:prstGeom>
          <a:noFill/>
          <a:ln/>
        </p:spPr>
        <p:txBody>
          <a:bodyPr wrap="square" lIns="0" tIns="0" rIns="0" bIns="0" rtlCol="0" anchor="b"/>
          <a:lstStyle/>
          <a:p>
            <a:pPr indent="0" marL="0">
              <a:buNone/>
            </a:pPr>
            <a:r>
              <a:rPr lang="en-US" sz="1300" b="1" dirty="0">
                <a:solidFill>
                  <a:schemeClr val="tx1"/>
                </a:solidFill>
                <a:latin typeface="+mj-lt" pitchFamily="34" charset="0"/>
                <a:ea typeface="+mj-lt" pitchFamily="34" charset="-122"/>
                <a:cs typeface="+mj-lt" pitchFamily="34" charset="-120"/>
              </a:rPr>
              <a:t>Si duda, te pregunta</a:t>
            </a:r>
            <a:endParaRPr lang="en-US" sz="1300" dirty="0"/>
          </a:p>
        </p:txBody>
      </p:sp>
      <p:sp>
        <p:nvSpPr>
          <p:cNvPr id="9" name="Text 6"/>
          <p:cNvSpPr txBox="1"/>
          <p:nvPr/>
        </p:nvSpPr>
        <p:spPr>
          <a:xfrm>
            <a:off x="761970" y="4038630"/>
            <a:ext cx="254020" cy="355610"/>
          </a:xfrm>
          <a:prstGeom prst="rect">
            <a:avLst/>
          </a:prstGeom>
          <a:noFill/>
          <a:ln/>
        </p:spPr>
        <p:txBody>
          <a:bodyPr wrap="square" lIns="0" tIns="0" rIns="0" bIns="0" rtlCol="0" anchor="b"/>
          <a:lstStyle/>
          <a:p>
            <a:pPr indent="0" marL="0">
              <a:buNone/>
            </a:pPr>
            <a:r>
              <a:rPr lang="en-US" sz="2400" b="1" dirty="0">
                <a:solidFill>
                  <a:schemeClr val="accent1"/>
                </a:solidFill>
                <a:latin typeface="+mj-lt" pitchFamily="34" charset="0"/>
                <a:ea typeface="+mj-lt" pitchFamily="34" charset="-122"/>
                <a:cs typeface="+mj-lt" pitchFamily="34" charset="-120"/>
              </a:rPr>
              <a:t>3</a:t>
            </a:r>
            <a:endParaRPr lang="en-US" sz="2400" dirty="0"/>
          </a:p>
        </p:txBody>
      </p:sp>
      <p:sp>
        <p:nvSpPr>
          <p:cNvPr id="10" name="Text 7"/>
          <p:cNvSpPr txBox="1"/>
          <p:nvPr/>
        </p:nvSpPr>
        <p:spPr>
          <a:xfrm>
            <a:off x="1003280" y="4102090"/>
            <a:ext cx="4444990" cy="279441"/>
          </a:xfrm>
          <a:prstGeom prst="rect">
            <a:avLst/>
          </a:prstGeom>
          <a:noFill/>
          <a:ln/>
        </p:spPr>
        <p:txBody>
          <a:bodyPr wrap="square" lIns="0" tIns="0" rIns="0" bIns="0" rtlCol="0" anchor="b"/>
          <a:lstStyle/>
          <a:p>
            <a:pPr indent="0" marL="0">
              <a:buNone/>
            </a:pPr>
            <a:r>
              <a:rPr lang="en-US" sz="1300" b="1" dirty="0">
                <a:solidFill>
                  <a:schemeClr val="tx1"/>
                </a:solidFill>
                <a:latin typeface="+mj-lt" pitchFamily="34" charset="0"/>
                <a:ea typeface="+mj-lt" pitchFamily="34" charset="-122"/>
                <a:cs typeface="+mj-lt" pitchFamily="34" charset="-120"/>
              </a:rPr>
              <a:t>Todas tus suscripciones a la vista</a:t>
            </a:r>
            <a:endParaRPr lang="en-US" sz="1300" dirty="0"/>
          </a:p>
        </p:txBody>
      </p:sp>
      <p:sp>
        <p:nvSpPr>
          <p:cNvPr id="11" name="Text 8"/>
          <p:cNvSpPr txBox="1"/>
          <p:nvPr/>
        </p:nvSpPr>
        <p:spPr>
          <a:xfrm>
            <a:off x="6235659" y="4038630"/>
            <a:ext cx="254020" cy="355610"/>
          </a:xfrm>
          <a:prstGeom prst="rect">
            <a:avLst/>
          </a:prstGeom>
          <a:noFill/>
          <a:ln/>
        </p:spPr>
        <p:txBody>
          <a:bodyPr wrap="square" lIns="0" tIns="0" rIns="0" bIns="0" rtlCol="0" anchor="b"/>
          <a:lstStyle/>
          <a:p>
            <a:pPr indent="0" marL="0">
              <a:buNone/>
            </a:pPr>
            <a:r>
              <a:rPr lang="en-US" sz="2400" b="1" dirty="0">
                <a:solidFill>
                  <a:schemeClr val="accent1"/>
                </a:solidFill>
                <a:latin typeface="+mj-lt" pitchFamily="34" charset="0"/>
                <a:ea typeface="+mj-lt" pitchFamily="34" charset="-122"/>
                <a:cs typeface="+mj-lt" pitchFamily="34" charset="-120"/>
              </a:rPr>
              <a:t>4</a:t>
            </a:r>
            <a:endParaRPr lang="en-US" sz="2400" dirty="0"/>
          </a:p>
        </p:txBody>
      </p:sp>
      <p:sp>
        <p:nvSpPr>
          <p:cNvPr id="12" name="Text 9"/>
          <p:cNvSpPr txBox="1"/>
          <p:nvPr/>
        </p:nvSpPr>
        <p:spPr>
          <a:xfrm>
            <a:off x="6476970" y="4102090"/>
            <a:ext cx="4444990" cy="279441"/>
          </a:xfrm>
          <a:prstGeom prst="rect">
            <a:avLst/>
          </a:prstGeom>
          <a:noFill/>
          <a:ln/>
        </p:spPr>
        <p:txBody>
          <a:bodyPr wrap="square" lIns="0" tIns="0" rIns="0" bIns="0" rtlCol="0" anchor="b"/>
          <a:lstStyle/>
          <a:p>
            <a:pPr indent="0" marL="0">
              <a:buNone/>
            </a:pPr>
            <a:r>
              <a:rPr lang="en-US" sz="1300" b="1" dirty="0">
                <a:solidFill>
                  <a:schemeClr val="tx1"/>
                </a:solidFill>
                <a:latin typeface="+mj-lt" pitchFamily="34" charset="0"/>
                <a:ea typeface="+mj-lt" pitchFamily="34" charset="-122"/>
                <a:cs typeface="+mj-lt" pitchFamily="34" charset="-120"/>
              </a:rPr>
              <a:t>Te avisa si sube el precio</a:t>
            </a:r>
            <a:endParaRPr lang="en-US" sz="1300" dirty="0"/>
          </a:p>
        </p:txBody>
      </p:sp>
      <p:sp>
        <p:nvSpPr>
          <p:cNvPr id="13" name="Text 10"/>
          <p:cNvSpPr txBox="1"/>
          <p:nvPr/>
        </p:nvSpPr>
        <p:spPr>
          <a:xfrm>
            <a:off x="8889980" y="4190970"/>
            <a:ext cx="2540020" cy="190470"/>
          </a:xfrm>
          <a:prstGeom prst="rect">
            <a:avLst/>
          </a:prstGeom>
          <a:noFill/>
          <a:ln/>
        </p:spPr>
        <p:txBody>
          <a:bodyPr wrap="square" lIns="0" tIns="0" rIns="0" bIns="0" rtlCol="0" anchor="b"/>
          <a:lstStyle/>
          <a:p>
            <a:pPr algn="r" indent="0" marL="0">
              <a:buNone/>
            </a:pPr>
            <a:r>
              <a:rPr lang="en-US" sz="800" dirty="0">
                <a:solidFill>
                  <a:schemeClr val="accent3"/>
                </a:solidFill>
              </a:rPr>
              <a:t>en el prototipo, el cobro espera tu decisión</a:t>
            </a:r>
            <a:endParaRPr lang="en-US" sz="800" dirty="0"/>
          </a:p>
        </p:txBody>
      </p:sp>
      <p:sp>
        <p:nvSpPr>
          <p:cNvPr id="14" name="Shape 11"/>
          <p:cNvSpPr/>
          <p:nvPr/>
        </p:nvSpPr>
        <p:spPr>
          <a:xfrm>
            <a:off x="761970" y="2133570"/>
            <a:ext cx="5194341" cy="1771650"/>
          </a:xfrm>
          <a:prstGeom prst="rect">
            <a:avLst/>
          </a:prstGeom>
          <a:solidFill>
            <a:srgbClr val="F5F7FA"/>
          </a:solidFill>
          <a:ln w="13970">
            <a:solidFill>
              <a:schemeClr val="tx1"/>
            </a:solidFill>
            <a:prstDash val="solid"/>
          </a:ln>
        </p:spPr>
      </p:sp>
      <p:pic>
        <p:nvPicPr>
          <p:cNvPr id="15" name="Image 0" descr="Primer cobro de FITNESS CLUB por $29.249, aún sin clasificar">    </p:cNvPr>
          <p:cNvPicPr>
            <a:picLocks noChangeAspect="1"/>
          </p:cNvPicPr>
          <p:nvPr/>
        </p:nvPicPr>
        <p:blipFill>
          <a:blip r:embed="rId1"/>
          <a:stretch>
            <a:fillRect/>
          </a:stretch>
        </p:blipFill>
        <p:spPr>
          <a:xfrm>
            <a:off x="812810" y="2362170"/>
            <a:ext cx="5092659" cy="771571"/>
          </a:xfrm>
          <a:prstGeom prst="rect">
            <a:avLst/>
          </a:prstGeom>
        </p:spPr>
      </p:pic>
      <p:sp>
        <p:nvSpPr>
          <p:cNvPr id="16" name="Text 12"/>
          <p:cNvSpPr txBox="1"/>
          <p:nvPr/>
        </p:nvSpPr>
        <p:spPr>
          <a:xfrm>
            <a:off x="812810" y="3168670"/>
            <a:ext cx="5092659" cy="139720"/>
          </a:xfrm>
          <a:prstGeom prst="rect">
            <a:avLst/>
          </a:prstGeom>
          <a:noFill/>
          <a:ln/>
        </p:spPr>
        <p:txBody>
          <a:bodyPr wrap="square" lIns="0" tIns="0" rIns="0" bIns="0" rtlCol="0" anchor="ctr"/>
          <a:lstStyle/>
          <a:p>
            <a:pPr algn="ctr" indent="0" marL="0">
              <a:buNone/>
            </a:pPr>
            <a:r>
              <a:rPr lang="en-US" sz="700" b="1" spc="100" kern="0" dirty="0">
                <a:solidFill>
                  <a:schemeClr val="accent1"/>
                </a:solidFill>
              </a:rPr>
              <a:t>↓ CONDOR</a:t>
            </a:r>
            <a:endParaRPr lang="en-US" sz="700" dirty="0"/>
          </a:p>
        </p:txBody>
      </p:sp>
      <p:pic>
        <p:nvPicPr>
          <p:cNvPr id="17" name="Image 1" descr="Detectamos una nueva suscripción: FITNESS CLUB">    </p:cNvPr>
          <p:cNvPicPr>
            <a:picLocks noChangeAspect="1"/>
          </p:cNvPicPr>
          <p:nvPr/>
        </p:nvPicPr>
        <p:blipFill>
          <a:blip r:embed="rId2"/>
          <a:stretch>
            <a:fillRect/>
          </a:stretch>
        </p:blipFill>
        <p:spPr>
          <a:xfrm>
            <a:off x="812810" y="3346430"/>
            <a:ext cx="5092659" cy="307330"/>
          </a:xfrm>
          <a:prstGeom prst="rect">
            <a:avLst/>
          </a:prstGeom>
        </p:spPr>
      </p:pic>
      <p:sp>
        <p:nvSpPr>
          <p:cNvPr id="18" name="Shape 13"/>
          <p:cNvSpPr/>
          <p:nvPr/>
        </p:nvSpPr>
        <p:spPr>
          <a:xfrm>
            <a:off x="6235659" y="2133570"/>
            <a:ext cx="5194341" cy="1771650"/>
          </a:xfrm>
          <a:prstGeom prst="rect">
            <a:avLst/>
          </a:prstGeom>
          <a:solidFill>
            <a:srgbClr val="F5F7FA"/>
          </a:solidFill>
          <a:ln w="13970">
            <a:solidFill>
              <a:schemeClr val="tx1"/>
            </a:solidFill>
            <a:prstDash val="solid"/>
          </a:ln>
        </p:spPr>
      </p:sp>
      <p:pic>
        <p:nvPicPr>
          <p:cNvPr id="19" name="Image 2" descr="Posible suscripción detectada, con opciones Sí, No estoy seguro y No">    </p:cNvPr>
          <p:cNvPicPr>
            <a:picLocks noChangeAspect="1"/>
          </p:cNvPicPr>
          <p:nvPr/>
        </p:nvPicPr>
        <p:blipFill>
          <a:blip r:embed="rId3"/>
          <a:stretch>
            <a:fillRect/>
          </a:stretch>
        </p:blipFill>
        <p:spPr>
          <a:xfrm>
            <a:off x="6623091" y="2184410"/>
            <a:ext cx="4419570" cy="1670060"/>
          </a:xfrm>
          <a:prstGeom prst="rect">
            <a:avLst/>
          </a:prstGeom>
        </p:spPr>
      </p:pic>
      <p:sp>
        <p:nvSpPr>
          <p:cNvPr id="20" name="Shape 14"/>
          <p:cNvSpPr/>
          <p:nvPr/>
        </p:nvSpPr>
        <p:spPr>
          <a:xfrm>
            <a:off x="761970" y="4444990"/>
            <a:ext cx="5194341" cy="1777959"/>
          </a:xfrm>
          <a:prstGeom prst="rect">
            <a:avLst/>
          </a:prstGeom>
          <a:solidFill>
            <a:srgbClr val="F5F7FA"/>
          </a:solidFill>
          <a:ln w="13970">
            <a:solidFill>
              <a:schemeClr val="tx1"/>
            </a:solidFill>
            <a:prstDash val="solid"/>
          </a:ln>
        </p:spPr>
      </p:sp>
      <p:pic>
        <p:nvPicPr>
          <p:cNvPr id="21" name="Image 3" descr="Lista de suscripciones activas: Spotify supervisada, Netflix de confianza">    </p:cNvPr>
          <p:cNvPicPr>
            <a:picLocks noChangeAspect="1"/>
          </p:cNvPicPr>
          <p:nvPr/>
        </p:nvPicPr>
        <p:blipFill>
          <a:blip r:embed="rId4"/>
          <a:srcRect l="0" r="0" t="0" b="41108"/>
          <a:stretch/>
        </p:blipFill>
        <p:spPr>
          <a:xfrm>
            <a:off x="768370" y="4451391"/>
            <a:ext cx="5181630" cy="1765341"/>
          </a:xfrm>
          <a:prstGeom prst="rect">
            <a:avLst/>
          </a:prstGeom>
        </p:spPr>
      </p:pic>
      <p:sp>
        <p:nvSpPr>
          <p:cNvPr id="22" name="Shape 15"/>
          <p:cNvSpPr/>
          <p:nvPr/>
        </p:nvSpPr>
        <p:spPr>
          <a:xfrm>
            <a:off x="6235659" y="4444990"/>
            <a:ext cx="5194341" cy="1777959"/>
          </a:xfrm>
          <a:prstGeom prst="rect">
            <a:avLst/>
          </a:prstGeom>
          <a:solidFill>
            <a:srgbClr val="F5F7FA"/>
          </a:solidFill>
          <a:ln w="13970">
            <a:solidFill>
              <a:schemeClr val="tx1"/>
            </a:solidFill>
            <a:prstDash val="solid"/>
          </a:ln>
        </p:spPr>
      </p:sp>
      <p:pic>
        <p:nvPicPr>
          <p:cNvPr id="23" name="Image 4" descr="Spotify: cambio de precio detectado de $5.290 a $6.490">    </p:cNvPr>
          <p:cNvPicPr>
            <a:picLocks noChangeAspect="1"/>
          </p:cNvPicPr>
          <p:nvPr/>
        </p:nvPicPr>
        <p:blipFill>
          <a:blip r:embed="rId5"/>
          <a:stretch>
            <a:fillRect/>
          </a:stretch>
        </p:blipFill>
        <p:spPr>
          <a:xfrm>
            <a:off x="6654820" y="4495830"/>
            <a:ext cx="4356110" cy="1676370"/>
          </a:xfrm>
          <a:prstGeom prst="rect">
            <a:avLst/>
          </a:prstGeom>
        </p:spPr>
      </p:pic>
      <p:sp>
        <p:nvSpPr>
          <p:cNvPr id="24" name="Text 16"/>
          <p:cNvSpPr txBox="1"/>
          <p:nvPr/>
        </p:nvSpPr>
        <p:spPr>
          <a:xfrm>
            <a:off x="761970" y="6464259"/>
            <a:ext cx="8255020" cy="190470"/>
          </a:xfrm>
          <a:prstGeom prst="rect">
            <a:avLst/>
          </a:prstGeom>
          <a:noFill/>
          <a:ln/>
        </p:spPr>
        <p:txBody>
          <a:bodyPr wrap="square" lIns="0" tIns="0" rIns="0" bIns="0" rtlCol="0" anchor="t"/>
          <a:lstStyle/>
          <a:p>
            <a:pPr indent="0" marL="0">
              <a:buNone/>
            </a:pPr>
            <a:r>
              <a:rPr lang="en-US" sz="700" dirty="0">
                <a:solidFill>
                  <a:schemeClr val="accent3"/>
                </a:solidFill>
              </a:rPr>
              <a:t>Capturas reales del gemelo digital (Streamlit). Real: filtro, lógica y app. Simulado: transacciones y conexión con un banco.</a:t>
            </a:r>
            <a:endParaRPr lang="en-US" sz="700" dirty="0"/>
          </a:p>
        </p:txBody>
      </p:sp>
      <p:sp>
        <p:nvSpPr>
          <p:cNvPr id="25" name="Text 17"/>
          <p:cNvSpPr txBox="1"/>
          <p:nvPr/>
        </p:nvSpPr>
        <p:spPr>
          <a:xfrm>
            <a:off x="9525030" y="6464259"/>
            <a:ext cx="1904970" cy="190470"/>
          </a:xfrm>
          <a:prstGeom prst="rect">
            <a:avLst/>
          </a:prstGeom>
          <a:noFill/>
          <a:ln/>
        </p:spPr>
        <p:txBody>
          <a:bodyPr wrap="square" lIns="0" tIns="0" rIns="0" bIns="0" rtlCol="0" anchor="t"/>
          <a:lstStyle/>
          <a:p>
            <a:pPr algn="r" indent="0" marL="0">
              <a:buNone/>
            </a:pPr>
            <a:r>
              <a:rPr lang="en-US" sz="700" dirty="0">
                <a:solidFill>
                  <a:schemeClr val="accent3"/>
                </a:solidFill>
              </a:rPr>
              <a:t>En vivo: </a:t>
            </a:r>
            <a:pPr algn="r" indent="0" marL="0">
              <a:buNone/>
            </a:pPr>
            <a:r>
              <a:rPr lang="en-US" sz="700" dirty="0">
                <a:solidFill>
                  <a:srgbClr val="2563EB"/>
                </a:solidFill>
                <a:highlight>
                  <a:srgbClr val="E8EFFC"/>
                </a:highlight>
              </a:rPr>
              <a:t>link Streamlit</a:t>
            </a:r>
            <a:endParaRPr lang="en-US" sz="700" dirty="0"/>
          </a:p>
        </p:txBody>
      </p:sp>
      <p:sp>
        <p:nvSpPr>
          <p:cNvPr id="25" name="Slide Number Placeholder 0"/>
          <p:cNvSpPr>
            <a:spLocks noGrp="1"/>
          </p:cNvSpPr>
          <p:nvPr>
            <p:ph type="sldNum" sz="quarter" idx="4294967295"/>
          </p:nvPr>
        </p:nvSpPr>
        <p:spPr>
          <a:xfrm>
            <a:off x="761970" y="279441"/>
            <a:ext cx="368320" cy="368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Inter"/>
                <a:ea typeface="Inter"/>
                <a:cs typeface="Inter"/>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Sección"/>
          <p:cNvSpPr txBox="1"/>
          <p:nvPr/>
        </p:nvSpPr>
        <p:spPr>
          <a:xfrm>
            <a:off x="1257300" y="279441"/>
            <a:ext cx="3810030" cy="368320"/>
          </a:xfrm>
          <a:prstGeom prst="rect">
            <a:avLst/>
          </a:prstGeom>
          <a:noFill/>
          <a:ln/>
        </p:spPr>
        <p:txBody>
          <a:bodyPr wrap="square" lIns="0" tIns="0" rIns="0" bIns="0" rtlCol="0" anchor="ctr"/>
          <a:lstStyle/>
          <a:p>
            <a:pPr indent="0" marL="0">
              <a:buNone/>
            </a:pPr>
            <a:r>
              <a:rPr lang="en-US" sz="800" spc="100" kern="0" dirty="0">
                <a:solidFill>
                  <a:schemeClr val="tx2"/>
                </a:solidFill>
              </a:rPr>
              <a:t>TESTEO</a:t>
            </a:r>
            <a:endParaRPr lang="en-US" sz="800" dirty="0"/>
          </a:p>
        </p:txBody>
      </p:sp>
      <p:sp>
        <p:nvSpPr>
          <p:cNvPr id="4" name="Text 3"/>
          <p:cNvSpPr/>
          <p:nvPr>
            <p:ph idx="104" type="title" hasCustomPrompt="1"/>
          </p:nvPr>
        </p:nvSpPr>
        <p:spPr>
          <a:xfrm>
            <a:off x="761970" y="1047720"/>
            <a:ext cx="10159990" cy="1079541"/>
          </a:xfrm>
          <a:prstGeom prst="rect">
            <a:avLst/>
          </a:prstGeom>
          <a:noFill/>
          <a:ln/>
        </p:spPr>
        <p:txBody>
          <a:bodyPr wrap="square" lIns="0" tIns="0" rIns="0" bIns="0" rtlCol="0" anchor="t"/>
          <a:lstStyle/>
          <a:p>
            <a:pPr algn="l" indent="0" marL="0">
              <a:buNone/>
            </a:pPr>
            <a:r>
              <a:rPr lang="en-US" sz="3200" b="1" dirty="0">
                <a:solidFill>
                  <a:schemeClr val="tx1"/>
                </a:solidFill>
              </a:rPr>
              <a:t>Repetir no basta: lo que separa es la regularidad.</a:t>
            </a:r>
            <a:endParaRPr lang="en-US" sz="3200" dirty="0"/>
          </a:p>
        </p:txBody>
      </p:sp>
      <p:sp>
        <p:nvSpPr>
          <p:cNvPr id="5" name="Text 2"/>
          <p:cNvSpPr txBox="1"/>
          <p:nvPr/>
        </p:nvSpPr>
        <p:spPr>
          <a:xfrm>
            <a:off x="761970" y="1809780"/>
            <a:ext cx="3301990" cy="190470"/>
          </a:xfrm>
          <a:prstGeom prst="rect">
            <a:avLst/>
          </a:prstGeom>
          <a:noFill/>
          <a:ln/>
        </p:spPr>
        <p:txBody>
          <a:bodyPr wrap="square" lIns="0" tIns="0" rIns="0" bIns="0" rtlCol="0" anchor="t"/>
          <a:lstStyle/>
          <a:p>
            <a:pPr indent="0" marL="0">
              <a:buNone/>
            </a:pPr>
            <a:r>
              <a:rPr lang="en-US" sz="800" b="1" spc="100" kern="0" dirty="0">
                <a:solidFill>
                  <a:schemeClr val="accent1"/>
                </a:solidFill>
              </a:rPr>
              <a:t>DUDA 1 · ¿SE RECONOCE DESDE EL 1ER COBRO?</a:t>
            </a:r>
            <a:endParaRPr lang="en-US" sz="800" dirty="0"/>
          </a:p>
        </p:txBody>
      </p:sp>
      <p:sp>
        <p:nvSpPr>
          <p:cNvPr id="6" name="Text 3"/>
          <p:cNvSpPr txBox="1"/>
          <p:nvPr/>
        </p:nvSpPr>
        <p:spPr>
          <a:xfrm>
            <a:off x="761970" y="2019270"/>
            <a:ext cx="3047970" cy="952530"/>
          </a:xfrm>
          <a:prstGeom prst="rect">
            <a:avLst/>
          </a:prstGeom>
          <a:noFill/>
          <a:ln/>
        </p:spPr>
        <p:txBody>
          <a:bodyPr wrap="square" lIns="0" tIns="0" rIns="0" bIns="0" rtlCol="0" anchor="ctr"/>
          <a:lstStyle/>
          <a:p>
            <a:pPr indent="0" marL="0">
              <a:buNone/>
            </a:pPr>
            <a:r>
              <a:rPr lang="en-US" sz="7200" b="1" dirty="0">
                <a:solidFill>
                  <a:schemeClr val="tx1"/>
                </a:solidFill>
                <a:latin typeface="+mj-lt" pitchFamily="34" charset="0"/>
                <a:ea typeface="+mj-lt" pitchFamily="34" charset="-122"/>
                <a:cs typeface="+mj-lt" pitchFamily="34" charset="-120"/>
              </a:rPr>
              <a:t>11/11</a:t>
            </a:r>
            <a:endParaRPr lang="en-US" sz="7200" dirty="0"/>
          </a:p>
        </p:txBody>
      </p:sp>
      <p:sp>
        <p:nvSpPr>
          <p:cNvPr id="7" name="Text 4"/>
          <p:cNvSpPr txBox="1"/>
          <p:nvPr/>
        </p:nvSpPr>
        <p:spPr>
          <a:xfrm>
            <a:off x="761970" y="3035259"/>
            <a:ext cx="3047970" cy="381030"/>
          </a:xfrm>
          <a:prstGeom prst="rect">
            <a:avLst/>
          </a:prstGeom>
          <a:noFill/>
          <a:ln/>
        </p:spPr>
        <p:txBody>
          <a:bodyPr wrap="square" lIns="0" tIns="0" rIns="0" bIns="0" rtlCol="0" anchor="t"/>
          <a:lstStyle/>
          <a:p>
            <a:pPr indent="0" marL="0">
              <a:buNone/>
            </a:pPr>
            <a:r>
              <a:rPr lang="en-US" sz="1000" dirty="0">
                <a:solidFill>
                  <a:schemeClr val="tx2"/>
                </a:solidFill>
              </a:rPr>
              <a:t>comercios bien clasificados en simulación (11.384 cobros sintéticos)</a:t>
            </a:r>
            <a:endParaRPr lang="en-US" sz="1000" dirty="0"/>
          </a:p>
        </p:txBody>
      </p:sp>
      <p:sp>
        <p:nvSpPr>
          <p:cNvPr id="8" name="Shape 5"/>
          <p:cNvSpPr/>
          <p:nvPr/>
        </p:nvSpPr>
        <p:spPr>
          <a:xfrm>
            <a:off x="761970" y="3632180"/>
            <a:ext cx="3047970" cy="0"/>
          </a:xfrm>
          <a:prstGeom prst="line">
            <a:avLst/>
          </a:prstGeom>
          <a:noFill/>
          <a:ln w="15875">
            <a:solidFill>
              <a:schemeClr val="tx1"/>
            </a:solidFill>
            <a:prstDash val="solid"/>
          </a:ln>
        </p:spPr>
      </p:sp>
      <p:sp>
        <p:nvSpPr>
          <p:cNvPr id="9" name="Text 6"/>
          <p:cNvSpPr txBox="1"/>
          <p:nvPr/>
        </p:nvSpPr>
        <p:spPr>
          <a:xfrm>
            <a:off x="761970" y="3746480"/>
            <a:ext cx="3301990" cy="190470"/>
          </a:xfrm>
          <a:prstGeom prst="rect">
            <a:avLst/>
          </a:prstGeom>
          <a:noFill/>
          <a:ln/>
        </p:spPr>
        <p:txBody>
          <a:bodyPr wrap="square" lIns="0" tIns="0" rIns="0" bIns="0" rtlCol="0" anchor="t"/>
          <a:lstStyle/>
          <a:p>
            <a:pPr indent="0" marL="0">
              <a:buNone/>
            </a:pPr>
            <a:r>
              <a:rPr lang="en-US" sz="800" b="1" spc="100" kern="0" dirty="0">
                <a:solidFill>
                  <a:schemeClr val="accent1"/>
                </a:solidFill>
              </a:rPr>
              <a:t>DUDA 2 · ¿EL TITULAR LO ENTIENDE? · ENCUESTA A 8 USUARIOS</a:t>
            </a:r>
            <a:endParaRPr lang="en-US" sz="800" dirty="0"/>
          </a:p>
        </p:txBody>
      </p:sp>
      <p:sp>
        <p:nvSpPr>
          <p:cNvPr id="10" name="Text 7"/>
          <p:cNvSpPr txBox="1"/>
          <p:nvPr/>
        </p:nvSpPr>
        <p:spPr>
          <a:xfrm>
            <a:off x="761970" y="4127510"/>
            <a:ext cx="1333470" cy="381030"/>
          </a:xfrm>
          <a:prstGeom prst="rect">
            <a:avLst/>
          </a:prstGeom>
          <a:noFill/>
          <a:ln/>
        </p:spPr>
        <p:txBody>
          <a:bodyPr wrap="square" lIns="0" tIns="0" rIns="0" bIns="0" rtlCol="0" anchor="ctr"/>
          <a:lstStyle/>
          <a:p>
            <a:pPr indent="0" marL="0">
              <a:buNone/>
            </a:pPr>
            <a:r>
              <a:rPr lang="en-US" sz="2500" b="1" dirty="0">
                <a:solidFill>
                  <a:schemeClr val="accent1"/>
                </a:solidFill>
                <a:latin typeface="+mj-lt" pitchFamily="34" charset="0"/>
                <a:ea typeface="+mj-lt" pitchFamily="34" charset="-122"/>
                <a:cs typeface="+mj-lt" pitchFamily="34" charset="-120"/>
              </a:rPr>
              <a:t>4,0</a:t>
            </a:r>
            <a:pPr indent="0" marL="0">
              <a:buNone/>
            </a:pPr>
            <a:r>
              <a:rPr lang="en-US" sz="1200" b="1" dirty="0">
                <a:solidFill>
                  <a:schemeClr val="accent3"/>
                </a:solidFill>
                <a:latin typeface="+mj-lt" pitchFamily="34" charset="0"/>
                <a:ea typeface="+mj-lt" pitchFamily="34" charset="-122"/>
                <a:cs typeface="+mj-lt" pitchFamily="34" charset="-120"/>
              </a:rPr>
              <a:t>/5</a:t>
            </a:r>
            <a:endParaRPr lang="en-US" sz="1000" dirty="0"/>
          </a:p>
        </p:txBody>
      </p:sp>
      <p:sp>
        <p:nvSpPr>
          <p:cNvPr id="11" name="Text 8"/>
          <p:cNvSpPr txBox="1"/>
          <p:nvPr/>
        </p:nvSpPr>
        <p:spPr>
          <a:xfrm>
            <a:off x="2158990" y="4140220"/>
            <a:ext cx="1777959" cy="355610"/>
          </a:xfrm>
          <a:prstGeom prst="rect">
            <a:avLst/>
          </a:prstGeom>
          <a:noFill/>
          <a:ln/>
        </p:spPr>
        <p:txBody>
          <a:bodyPr wrap="square" lIns="0" tIns="0" rIns="0" bIns="0" rtlCol="0" anchor="t"/>
          <a:lstStyle/>
          <a:p>
            <a:pPr indent="0" marL="0">
              <a:buNone/>
            </a:pPr>
            <a:r>
              <a:rPr lang="en-US" sz="800" dirty="0">
                <a:solidFill>
                  <a:schemeClr val="tx2"/>
                </a:solidFill>
              </a:rPr>
              <a:t>facilidad para navegar y entender las alertas, tras usar el prototipo</a:t>
            </a:r>
            <a:endParaRPr lang="en-US" sz="800" dirty="0"/>
          </a:p>
        </p:txBody>
      </p:sp>
      <p:graphicFrame>
        <p:nvGraphicFramePr>
          <p:cNvPr id="12" name="Distribución de notas" descr=""/>
          <p:cNvGraphicFramePr/>
          <p:nvPr/>
        </p:nvGraphicFramePr>
        <p:xfrm>
          <a:off x="2095530" y="4495830"/>
          <a:ext cx="1651041" cy="609630"/>
        </p:xfrm>
        <a:graphic xmlns:a="http://schemas.openxmlformats.org/drawingml/2006/main">
          <a:graphicData uri="http://schemas.openxmlformats.org/drawingml/2006/chart">
            <c:chart xmlns:c="http://schemas.openxmlformats.org/drawingml/2006/chart" r:id="rId1"/>
          </a:graphicData>
        </a:graphic>
      </p:graphicFrame>
      <p:sp>
        <p:nvSpPr>
          <p:cNvPr id="13" name="Text 9"/>
          <p:cNvSpPr txBox="1"/>
          <p:nvPr/>
        </p:nvSpPr>
        <p:spPr>
          <a:xfrm>
            <a:off x="761970" y="5143500"/>
            <a:ext cx="1333470" cy="355610"/>
          </a:xfrm>
          <a:prstGeom prst="rect">
            <a:avLst/>
          </a:prstGeom>
          <a:noFill/>
          <a:ln/>
        </p:spPr>
        <p:txBody>
          <a:bodyPr wrap="square" lIns="0" tIns="0" rIns="0" bIns="0" rtlCol="0" anchor="ctr"/>
          <a:lstStyle/>
          <a:p>
            <a:pPr indent="0" marL="0">
              <a:buNone/>
            </a:pPr>
            <a:r>
              <a:rPr lang="en-US" sz="2500" b="1" dirty="0">
                <a:solidFill>
                  <a:schemeClr val="accent1"/>
                </a:solidFill>
                <a:latin typeface="+mj-lt" pitchFamily="34" charset="0"/>
                <a:ea typeface="+mj-lt" pitchFamily="34" charset="-122"/>
                <a:cs typeface="+mj-lt" pitchFamily="34" charset="-120"/>
              </a:rPr>
              <a:t>6 de 8</a:t>
            </a:r>
            <a:endParaRPr lang="en-US" sz="2500" dirty="0"/>
          </a:p>
        </p:txBody>
      </p:sp>
      <p:sp>
        <p:nvSpPr>
          <p:cNvPr id="14" name="Text 10"/>
          <p:cNvSpPr txBox="1"/>
          <p:nvPr/>
        </p:nvSpPr>
        <p:spPr>
          <a:xfrm>
            <a:off x="2158990" y="5156210"/>
            <a:ext cx="1777959" cy="317480"/>
          </a:xfrm>
          <a:prstGeom prst="rect">
            <a:avLst/>
          </a:prstGeom>
          <a:noFill/>
          <a:ln/>
        </p:spPr>
        <p:txBody>
          <a:bodyPr wrap="square" lIns="0" tIns="0" rIns="0" bIns="0" rtlCol="0" anchor="t"/>
          <a:lstStyle/>
          <a:p>
            <a:pPr indent="0" marL="0">
              <a:buNone/>
            </a:pPr>
            <a:r>
              <a:rPr lang="en-US" sz="800" dirty="0">
                <a:solidFill>
                  <a:schemeClr val="tx2"/>
                </a:solidFill>
              </a:rPr>
              <a:t>ya vivieron un cobro sin uso o un alza sin aviso</a:t>
            </a:r>
            <a:endParaRPr lang="en-US" sz="800" dirty="0"/>
          </a:p>
        </p:txBody>
      </p:sp>
      <p:sp>
        <p:nvSpPr>
          <p:cNvPr id="15" name="Text 11"/>
          <p:cNvSpPr txBox="1"/>
          <p:nvPr/>
        </p:nvSpPr>
        <p:spPr>
          <a:xfrm>
            <a:off x="761970" y="5556260"/>
            <a:ext cx="3047970" cy="254020"/>
          </a:xfrm>
          <a:prstGeom prst="rect">
            <a:avLst/>
          </a:prstGeom>
          <a:noFill/>
          <a:ln/>
        </p:spPr>
        <p:txBody>
          <a:bodyPr wrap="square" lIns="0" tIns="0" rIns="0" bIns="0" rtlCol="0" anchor="t"/>
          <a:lstStyle/>
          <a:p>
            <a:pPr indent="0" marL="0">
              <a:buNone/>
            </a:pPr>
            <a:r>
              <a:rPr lang="en-US" sz="700" dirty="0">
                <a:solidFill>
                  <a:schemeClr val="accent3"/>
                </a:solidFill>
              </a:rPr>
              <a:t>Muestra pequeña de contactos del equipo, con instrucciones de uso: es un indicio, no una medición.</a:t>
            </a:r>
            <a:endParaRPr lang="en-US" sz="700" dirty="0"/>
          </a:p>
        </p:txBody>
      </p:sp>
      <p:sp>
        <p:nvSpPr>
          <p:cNvPr id="16" name="Text 12"/>
          <p:cNvSpPr txBox="1"/>
          <p:nvPr/>
        </p:nvSpPr>
        <p:spPr>
          <a:xfrm>
            <a:off x="4444990" y="1809780"/>
            <a:ext cx="3810030" cy="190470"/>
          </a:xfrm>
          <a:prstGeom prst="rect">
            <a:avLst/>
          </a:prstGeom>
          <a:noFill/>
          <a:ln/>
        </p:spPr>
        <p:txBody>
          <a:bodyPr wrap="square" lIns="0" tIns="0" rIns="0" bIns="0" rtlCol="0" anchor="t"/>
          <a:lstStyle/>
          <a:p>
            <a:pPr indent="0" marL="0">
              <a:buNone/>
            </a:pPr>
            <a:r>
              <a:rPr lang="en-US" sz="800" b="1" spc="100" kern="0" dirty="0">
                <a:solidFill>
                  <a:schemeClr val="tx2"/>
                </a:solidFill>
              </a:rPr>
              <a:t>% DE CLIENTES QUE REPITE EL PAGO</a:t>
            </a:r>
            <a:endParaRPr lang="en-US" sz="800" dirty="0"/>
          </a:p>
        </p:txBody>
      </p:sp>
      <p:sp>
        <p:nvSpPr>
          <p:cNvPr id="17" name="Shape 13"/>
          <p:cNvSpPr/>
          <p:nvPr/>
        </p:nvSpPr>
        <p:spPr>
          <a:xfrm>
            <a:off x="9144000" y="1860530"/>
            <a:ext cx="76170" cy="76170"/>
          </a:xfrm>
          <a:prstGeom prst="rect">
            <a:avLst/>
          </a:prstGeom>
          <a:solidFill>
            <a:srgbClr val="059669"/>
          </a:solidFill>
          <a:ln/>
        </p:spPr>
      </p:sp>
      <p:sp>
        <p:nvSpPr>
          <p:cNvPr id="18" name="Text 14"/>
          <p:cNvSpPr txBox="1"/>
          <p:nvPr/>
        </p:nvSpPr>
        <p:spPr>
          <a:xfrm>
            <a:off x="9258300" y="1816090"/>
            <a:ext cx="761970" cy="165141"/>
          </a:xfrm>
          <a:prstGeom prst="rect">
            <a:avLst/>
          </a:prstGeom>
          <a:noFill/>
          <a:ln/>
        </p:spPr>
        <p:txBody>
          <a:bodyPr wrap="square" lIns="0" tIns="0" rIns="0" bIns="0" rtlCol="0" anchor="ctr"/>
          <a:lstStyle/>
          <a:p>
            <a:pPr indent="0" marL="0">
              <a:buNone/>
            </a:pPr>
            <a:r>
              <a:rPr lang="en-US" sz="750" dirty="0">
                <a:solidFill>
                  <a:schemeClr val="accent3"/>
                </a:solidFill>
              </a:rPr>
              <a:t>Suscripción</a:t>
            </a:r>
            <a:endParaRPr lang="en-US" sz="750" dirty="0"/>
          </a:p>
        </p:txBody>
      </p:sp>
      <p:sp>
        <p:nvSpPr>
          <p:cNvPr id="19" name="Shape 15"/>
          <p:cNvSpPr/>
          <p:nvPr/>
        </p:nvSpPr>
        <p:spPr>
          <a:xfrm>
            <a:off x="10032980" y="1860530"/>
            <a:ext cx="76170" cy="76170"/>
          </a:xfrm>
          <a:prstGeom prst="rect">
            <a:avLst/>
          </a:prstGeom>
          <a:solidFill>
            <a:srgbClr val="292524"/>
          </a:solidFill>
          <a:ln/>
        </p:spPr>
      </p:sp>
      <p:sp>
        <p:nvSpPr>
          <p:cNvPr id="20" name="Text 16"/>
          <p:cNvSpPr txBox="1"/>
          <p:nvPr/>
        </p:nvSpPr>
        <p:spPr>
          <a:xfrm>
            <a:off x="10147280" y="1816090"/>
            <a:ext cx="761970" cy="165141"/>
          </a:xfrm>
          <a:prstGeom prst="rect">
            <a:avLst/>
          </a:prstGeom>
          <a:noFill/>
          <a:ln/>
        </p:spPr>
        <p:txBody>
          <a:bodyPr wrap="square" lIns="0" tIns="0" rIns="0" bIns="0" rtlCol="0" anchor="ctr"/>
          <a:lstStyle/>
          <a:p>
            <a:pPr indent="0" marL="0">
              <a:buNone/>
            </a:pPr>
            <a:r>
              <a:rPr lang="en-US" sz="750" dirty="0">
                <a:solidFill>
                  <a:schemeClr val="accent3"/>
                </a:solidFill>
              </a:rPr>
              <a:t>Cuenta</a:t>
            </a:r>
            <a:endParaRPr lang="en-US" sz="750" dirty="0"/>
          </a:p>
        </p:txBody>
      </p:sp>
      <p:sp>
        <p:nvSpPr>
          <p:cNvPr id="21" name="Shape 17"/>
          <p:cNvSpPr/>
          <p:nvPr/>
        </p:nvSpPr>
        <p:spPr>
          <a:xfrm>
            <a:off x="10668030" y="1860530"/>
            <a:ext cx="76170" cy="76170"/>
          </a:xfrm>
          <a:prstGeom prst="rect">
            <a:avLst/>
          </a:prstGeom>
          <a:solidFill>
            <a:srgbClr val="D6D3D1"/>
          </a:solidFill>
          <a:ln/>
        </p:spPr>
      </p:sp>
      <p:sp>
        <p:nvSpPr>
          <p:cNvPr id="22" name="Text 18"/>
          <p:cNvSpPr txBox="1"/>
          <p:nvPr/>
        </p:nvSpPr>
        <p:spPr>
          <a:xfrm>
            <a:off x="10782330" y="1816090"/>
            <a:ext cx="761970" cy="165141"/>
          </a:xfrm>
          <a:prstGeom prst="rect">
            <a:avLst/>
          </a:prstGeom>
          <a:noFill/>
          <a:ln/>
        </p:spPr>
        <p:txBody>
          <a:bodyPr wrap="square" lIns="0" tIns="0" rIns="0" bIns="0" rtlCol="0" anchor="ctr"/>
          <a:lstStyle/>
          <a:p>
            <a:pPr indent="0" marL="0">
              <a:buNone/>
            </a:pPr>
            <a:r>
              <a:rPr lang="en-US" sz="750" dirty="0">
                <a:solidFill>
                  <a:schemeClr val="accent3"/>
                </a:solidFill>
              </a:rPr>
              <a:t>No recurrente</a:t>
            </a:r>
            <a:endParaRPr lang="en-US" sz="750" dirty="0"/>
          </a:p>
        </p:txBody>
      </p:sp>
      <p:graphicFrame>
        <p:nvGraphicFramePr>
          <p:cNvPr id="23" name="Repetición por comercio" descr=""/>
          <p:cNvGraphicFramePr/>
          <p:nvPr/>
        </p:nvGraphicFramePr>
        <p:xfrm>
          <a:off x="4381530" y="2019270"/>
          <a:ext cx="7143750" cy="2667030"/>
        </p:xfrm>
        <a:graphic xmlns:a="http://schemas.openxmlformats.org/drawingml/2006/main">
          <a:graphicData uri="http://schemas.openxmlformats.org/drawingml/2006/chart">
            <c:chart xmlns:c="http://schemas.openxmlformats.org/drawingml/2006/chart" r:id="rId2"/>
          </a:graphicData>
        </a:graphic>
      </p:graphicFrame>
      <p:sp>
        <p:nvSpPr>
          <p:cNvPr id="24" name="Casos cercanos"/>
          <p:cNvSpPr/>
          <p:nvPr/>
        </p:nvSpPr>
        <p:spPr>
          <a:xfrm>
            <a:off x="4381530" y="3461370"/>
            <a:ext cx="7143750" cy="752734"/>
          </a:xfrm>
          <a:prstGeom prst="rect">
            <a:avLst/>
          </a:prstGeom>
          <a:ln w="19050">
            <a:solidFill>
              <a:schemeClr val="accent2"/>
            </a:solidFill>
            <a:prstDash val="solid"/>
          </a:ln>
        </p:spPr>
      </p:sp>
      <p:sp>
        <p:nvSpPr>
          <p:cNvPr id="25" name="Text 20"/>
          <p:cNvSpPr/>
          <p:nvPr/>
        </p:nvSpPr>
        <p:spPr>
          <a:xfrm>
            <a:off x="9969520" y="4226814"/>
            <a:ext cx="1555760" cy="165141"/>
          </a:xfrm>
          <a:prstGeom prst="rect">
            <a:avLst/>
          </a:prstGeom>
          <a:solidFill>
            <a:schemeClr val="accent2"/>
          </a:solidFill>
          <a:ln/>
        </p:spPr>
        <p:txBody>
          <a:bodyPr wrap="square" lIns="0" tIns="0" rIns="0" bIns="0" rtlCol="0" anchor="ctr"/>
          <a:lstStyle/>
          <a:p>
            <a:pPr algn="ctr" indent="0" marL="0">
              <a:buNone/>
            </a:pPr>
            <a:r>
              <a:rPr lang="en-US" sz="700" b="1" spc="50" kern="0" dirty="0">
                <a:solidFill>
                  <a:schemeClr val="bg1"/>
                </a:solidFill>
              </a:rPr>
              <a:t>CASI IGUAL, DISTINTO TIPO</a:t>
            </a:r>
            <a:endParaRPr lang="en-US" sz="700" dirty="0"/>
          </a:p>
        </p:txBody>
      </p:sp>
      <p:sp>
        <p:nvSpPr>
          <p:cNvPr id="26" name="Text 21"/>
          <p:cNvSpPr txBox="1"/>
          <p:nvPr/>
        </p:nvSpPr>
        <p:spPr>
          <a:xfrm>
            <a:off x="761970" y="6464259"/>
            <a:ext cx="10668030" cy="190470"/>
          </a:xfrm>
          <a:prstGeom prst="rect">
            <a:avLst/>
          </a:prstGeom>
          <a:noFill/>
          <a:ln/>
        </p:spPr>
        <p:txBody>
          <a:bodyPr wrap="square" lIns="0" tIns="0" rIns="0" bIns="0" rtlCol="0" anchor="t"/>
          <a:lstStyle/>
          <a:p>
            <a:pPr indent="0" marL="0">
              <a:buNone/>
            </a:pPr>
            <a:r>
              <a:rPr lang="en-US" sz="700" dirty="0">
                <a:solidFill>
                  <a:schemeClr val="accent3"/>
                </a:solidFill>
              </a:rPr>
              <a:t>Simulación: dataset sintético del prototipo (2.876 clientes, 11 comercios). Encuesta: informe E2, sección 4.1</a:t>
            </a:r>
            <a:pPr indent="0" marL="0">
              <a:buNone/>
            </a:pPr>
            <a:r>
              <a:rPr lang="en-US" sz="700" baseline="30000" dirty="0">
                <a:solidFill>
                  <a:schemeClr val="accent1"/>
                </a:solidFill>
              </a:rPr>
              <a:t>14</a:t>
            </a:r>
            <a:endParaRPr lang="en-US" sz="700" dirty="0"/>
          </a:p>
        </p:txBody>
      </p:sp>
      <p:sp>
        <p:nvSpPr>
          <p:cNvPr id="25" name="Slide Number Placeholder 0"/>
          <p:cNvSpPr>
            <a:spLocks noGrp="1"/>
          </p:cNvSpPr>
          <p:nvPr>
            <p:ph type="sldNum" sz="quarter" idx="4294967295"/>
          </p:nvPr>
        </p:nvSpPr>
        <p:spPr>
          <a:xfrm>
            <a:off x="761970" y="279441"/>
            <a:ext cx="368320" cy="368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Inter"/>
                <a:ea typeface="Inter"/>
                <a:cs typeface="Inter"/>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Sección"/>
          <p:cNvSpPr txBox="1"/>
          <p:nvPr/>
        </p:nvSpPr>
        <p:spPr>
          <a:xfrm>
            <a:off x="1257300" y="279441"/>
            <a:ext cx="3810030" cy="368320"/>
          </a:xfrm>
          <a:prstGeom prst="rect">
            <a:avLst/>
          </a:prstGeom>
          <a:noFill/>
          <a:ln/>
        </p:spPr>
        <p:txBody>
          <a:bodyPr wrap="square" lIns="0" tIns="0" rIns="0" bIns="0" rtlCol="0" anchor="ctr"/>
          <a:lstStyle/>
          <a:p>
            <a:pPr indent="0" marL="0">
              <a:buNone/>
            </a:pPr>
            <a:r>
              <a:rPr lang="en-US" sz="800" spc="100" kern="0" dirty="0">
                <a:solidFill>
                  <a:schemeClr val="tx2"/>
                </a:solidFill>
              </a:rPr>
              <a:t>OPORTUNIDAD</a:t>
            </a:r>
            <a:endParaRPr lang="en-US" sz="800" dirty="0"/>
          </a:p>
        </p:txBody>
      </p:sp>
      <p:sp>
        <p:nvSpPr>
          <p:cNvPr id="4" name="Text 3"/>
          <p:cNvSpPr/>
          <p:nvPr>
            <p:ph idx="104" type="title" hasCustomPrompt="1"/>
          </p:nvPr>
        </p:nvSpPr>
        <p:spPr>
          <a:xfrm>
            <a:off x="761970" y="1047720"/>
            <a:ext cx="10159990" cy="1079541"/>
          </a:xfrm>
          <a:prstGeom prst="rect">
            <a:avLst/>
          </a:prstGeom>
          <a:noFill/>
          <a:ln/>
        </p:spPr>
        <p:txBody>
          <a:bodyPr wrap="square" lIns="0" tIns="0" rIns="0" bIns="0" rtlCol="0" anchor="t"/>
          <a:lstStyle/>
          <a:p>
            <a:pPr algn="l" indent="0" marL="0">
              <a:buNone/>
            </a:pPr>
            <a:r>
              <a:rPr lang="en-US" sz="3200" b="1" dirty="0">
                <a:solidFill>
                  <a:schemeClr val="tx1"/>
                </a:solidFill>
              </a:rPr>
              <a:t>Por qué ahora y quién paga.</a:t>
            </a:r>
            <a:endParaRPr lang="en-US" sz="3200" dirty="0"/>
          </a:p>
        </p:txBody>
      </p:sp>
      <p:sp>
        <p:nvSpPr>
          <p:cNvPr id="5" name="Shape 2"/>
          <p:cNvSpPr/>
          <p:nvPr/>
        </p:nvSpPr>
        <p:spPr>
          <a:xfrm>
            <a:off x="761970" y="2908341"/>
            <a:ext cx="10668030" cy="0"/>
          </a:xfrm>
          <a:prstGeom prst="line">
            <a:avLst/>
          </a:prstGeom>
          <a:noFill/>
          <a:ln w="19050">
            <a:solidFill>
              <a:schemeClr val="tx1"/>
            </a:solidFill>
            <a:prstDash val="solid"/>
          </a:ln>
        </p:spPr>
      </p:sp>
      <p:sp>
        <p:nvSpPr>
          <p:cNvPr id="6" name="Text 3"/>
          <p:cNvSpPr/>
          <p:nvPr/>
        </p:nvSpPr>
        <p:spPr>
          <a:xfrm>
            <a:off x="761970" y="3086100"/>
            <a:ext cx="469910" cy="190470"/>
          </a:xfrm>
          <a:prstGeom prst="rect">
            <a:avLst/>
          </a:prstGeom>
          <a:solidFill>
            <a:schemeClr val="accent1"/>
          </a:solidFill>
          <a:ln/>
        </p:spPr>
        <p:txBody>
          <a:bodyPr wrap="square" lIns="0" tIns="0" rIns="0" bIns="0" rtlCol="0" anchor="ctr"/>
          <a:lstStyle/>
          <a:p>
            <a:pPr algn="ctr" indent="0" marL="0">
              <a:buNone/>
            </a:pPr>
            <a:r>
              <a:rPr lang="en-US" sz="800" b="1" dirty="0">
                <a:solidFill>
                  <a:schemeClr val="bg1"/>
                </a:solidFill>
              </a:rPr>
              <a:t>2020</a:t>
            </a:r>
            <a:endParaRPr lang="en-US" sz="800" dirty="0"/>
          </a:p>
        </p:txBody>
      </p:sp>
      <p:sp>
        <p:nvSpPr>
          <p:cNvPr id="7" name="Text 4"/>
          <p:cNvSpPr txBox="1"/>
          <p:nvPr/>
        </p:nvSpPr>
        <p:spPr>
          <a:xfrm>
            <a:off x="761970" y="3390870"/>
            <a:ext cx="3047970" cy="508041"/>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El banco debe devolver todo cargo no reconocido</a:t>
            </a:r>
            <a:endParaRPr lang="en-US" sz="1500" dirty="0"/>
          </a:p>
        </p:txBody>
      </p:sp>
      <p:sp>
        <p:nvSpPr>
          <p:cNvPr id="8" name="Text 5"/>
          <p:cNvSpPr/>
          <p:nvPr/>
        </p:nvSpPr>
        <p:spPr>
          <a:xfrm>
            <a:off x="4317980" y="3086100"/>
            <a:ext cx="469910" cy="190470"/>
          </a:xfrm>
          <a:prstGeom prst="rect">
            <a:avLst/>
          </a:prstGeom>
          <a:solidFill>
            <a:schemeClr val="accent1"/>
          </a:solidFill>
          <a:ln/>
        </p:spPr>
        <p:txBody>
          <a:bodyPr wrap="square" lIns="0" tIns="0" rIns="0" bIns="0" rtlCol="0" anchor="ctr"/>
          <a:lstStyle/>
          <a:p>
            <a:pPr algn="ctr" indent="0" marL="0">
              <a:buNone/>
            </a:pPr>
            <a:r>
              <a:rPr lang="en-US" sz="800" b="1" dirty="0">
                <a:solidFill>
                  <a:schemeClr val="bg1"/>
                </a:solidFill>
              </a:rPr>
              <a:t>2024</a:t>
            </a:r>
            <a:endParaRPr lang="en-US" sz="800" dirty="0"/>
          </a:p>
        </p:txBody>
      </p:sp>
      <p:sp>
        <p:nvSpPr>
          <p:cNvPr id="9" name="Text 6"/>
          <p:cNvSpPr txBox="1"/>
          <p:nvPr/>
        </p:nvSpPr>
        <p:spPr>
          <a:xfrm>
            <a:off x="4317980" y="3390870"/>
            <a:ext cx="3047970" cy="508041"/>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La reforma premia prevenir antes que devolver</a:t>
            </a:r>
            <a:endParaRPr lang="en-US" sz="1500" dirty="0"/>
          </a:p>
        </p:txBody>
      </p:sp>
      <p:sp>
        <p:nvSpPr>
          <p:cNvPr id="10" name="Text 7"/>
          <p:cNvSpPr/>
          <p:nvPr/>
        </p:nvSpPr>
        <p:spPr>
          <a:xfrm>
            <a:off x="7873990" y="3086100"/>
            <a:ext cx="717530" cy="190470"/>
          </a:xfrm>
          <a:prstGeom prst="rect">
            <a:avLst/>
          </a:prstGeom>
          <a:solidFill>
            <a:schemeClr val="accent1"/>
          </a:solidFill>
          <a:ln/>
        </p:spPr>
        <p:txBody>
          <a:bodyPr wrap="square" lIns="0" tIns="0" rIns="0" bIns="0" rtlCol="0" anchor="ctr"/>
          <a:lstStyle/>
          <a:p>
            <a:pPr algn="ctr" indent="0" marL="0">
              <a:buNone/>
            </a:pPr>
            <a:r>
              <a:rPr lang="en-US" sz="800" b="1" dirty="0">
                <a:solidFill>
                  <a:schemeClr val="bg1"/>
                </a:solidFill>
              </a:rPr>
              <a:t>2025–26</a:t>
            </a:r>
            <a:endParaRPr lang="en-US" sz="800" dirty="0"/>
          </a:p>
        </p:txBody>
      </p:sp>
      <p:sp>
        <p:nvSpPr>
          <p:cNvPr id="11" name="Text 8"/>
          <p:cNvSpPr txBox="1"/>
          <p:nvPr/>
        </p:nvSpPr>
        <p:spPr>
          <a:xfrm>
            <a:off x="7873990" y="3390870"/>
            <a:ext cx="3047970" cy="508041"/>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BancoEstado, Nubank y Visa ya muestran suscripciones</a:t>
            </a:r>
            <a:endParaRPr lang="en-US" sz="1500" dirty="0"/>
          </a:p>
        </p:txBody>
      </p:sp>
      <p:sp>
        <p:nvSpPr>
          <p:cNvPr id="12" name="Text 9"/>
          <p:cNvSpPr txBox="1"/>
          <p:nvPr/>
        </p:nvSpPr>
        <p:spPr>
          <a:xfrm>
            <a:off x="761970" y="5080041"/>
            <a:ext cx="4317980" cy="761970"/>
          </a:xfrm>
          <a:prstGeom prst="rect">
            <a:avLst/>
          </a:prstGeom>
          <a:noFill/>
          <a:ln/>
        </p:spPr>
        <p:txBody>
          <a:bodyPr wrap="square" lIns="0" tIns="0" rIns="0" bIns="0" rtlCol="0" anchor="b"/>
          <a:lstStyle/>
          <a:p>
            <a:pPr indent="0" marL="0">
              <a:buNone/>
            </a:pPr>
            <a:r>
              <a:rPr lang="en-US" sz="5000" b="1" dirty="0">
                <a:solidFill>
                  <a:schemeClr val="accent2"/>
                </a:solidFill>
                <a:latin typeface="+mj-lt" pitchFamily="34" charset="0"/>
                <a:ea typeface="+mj-lt" pitchFamily="34" charset="-122"/>
                <a:cs typeface="+mj-lt" pitchFamily="34" charset="-120"/>
              </a:rPr>
              <a:t>$11.000 MM</a:t>
            </a:r>
            <a:endParaRPr lang="en-US" sz="5000" dirty="0"/>
          </a:p>
        </p:txBody>
      </p:sp>
      <p:sp>
        <p:nvSpPr>
          <p:cNvPr id="13" name="Text 10"/>
          <p:cNvSpPr txBox="1"/>
          <p:nvPr/>
        </p:nvSpPr>
        <p:spPr>
          <a:xfrm>
            <a:off x="761970" y="5892759"/>
            <a:ext cx="4317980" cy="381030"/>
          </a:xfrm>
          <a:prstGeom prst="rect">
            <a:avLst/>
          </a:prstGeom>
          <a:noFill/>
          <a:ln/>
        </p:spPr>
        <p:txBody>
          <a:bodyPr wrap="square" lIns="0" tIns="0" rIns="0" bIns="0" rtlCol="0" anchor="t"/>
          <a:lstStyle/>
          <a:p>
            <a:pPr indent="0" marL="0">
              <a:buNone/>
            </a:pPr>
            <a:r>
              <a:rPr lang="en-US" sz="1000" dirty="0">
                <a:solidFill>
                  <a:schemeClr val="tx2"/>
                </a:solidFill>
              </a:rPr>
              <a:t>al mes sigue perdiendo la banca por fraude externo, aun después de la reforma (dic-2024)</a:t>
            </a:r>
            <a:pPr indent="0" marL="0">
              <a:buNone/>
            </a:pPr>
            <a:r>
              <a:rPr lang="en-US" sz="1000" baseline="30000" dirty="0">
                <a:solidFill>
                  <a:schemeClr val="accent1"/>
                </a:solidFill>
              </a:rPr>
              <a:t>3</a:t>
            </a:r>
            <a:endParaRPr lang="en-US" sz="1000" dirty="0"/>
          </a:p>
        </p:txBody>
      </p:sp>
      <p:sp>
        <p:nvSpPr>
          <p:cNvPr id="14" name="Text 11"/>
          <p:cNvSpPr txBox="1"/>
          <p:nvPr/>
        </p:nvSpPr>
        <p:spPr>
          <a:xfrm>
            <a:off x="5397520" y="5080041"/>
            <a:ext cx="2920959" cy="761970"/>
          </a:xfrm>
          <a:prstGeom prst="rect">
            <a:avLst/>
          </a:prstGeom>
          <a:noFill/>
          <a:ln/>
        </p:spPr>
        <p:txBody>
          <a:bodyPr wrap="square" lIns="0" tIns="0" rIns="0" bIns="0" rtlCol="0" anchor="b"/>
          <a:lstStyle/>
          <a:p>
            <a:pPr indent="0" marL="0">
              <a:buNone/>
            </a:pPr>
            <a:r>
              <a:rPr lang="en-US" sz="5000" b="1" dirty="0">
                <a:solidFill>
                  <a:schemeClr val="tx1"/>
                </a:solidFill>
                <a:latin typeface="+mj-lt" pitchFamily="34" charset="0"/>
                <a:ea typeface="+mj-lt" pitchFamily="34" charset="-122"/>
                <a:cs typeface="+mj-lt" pitchFamily="34" charset="-120"/>
              </a:rPr>
              <a:t>17 + 10</a:t>
            </a:r>
            <a:endParaRPr lang="en-US" sz="5000" dirty="0"/>
          </a:p>
        </p:txBody>
      </p:sp>
      <p:sp>
        <p:nvSpPr>
          <p:cNvPr id="15" name="Text 12"/>
          <p:cNvSpPr txBox="1"/>
          <p:nvPr/>
        </p:nvSpPr>
        <p:spPr>
          <a:xfrm>
            <a:off x="5397520" y="5892759"/>
            <a:ext cx="2920959" cy="381030"/>
          </a:xfrm>
          <a:prstGeom prst="rect">
            <a:avLst/>
          </a:prstGeom>
          <a:noFill/>
          <a:ln/>
        </p:spPr>
        <p:txBody>
          <a:bodyPr wrap="square" lIns="0" tIns="0" rIns="0" bIns="0" rtlCol="0" anchor="t"/>
          <a:lstStyle/>
          <a:p>
            <a:pPr indent="0" marL="0">
              <a:buNone/>
            </a:pPr>
            <a:r>
              <a:rPr lang="en-US" sz="1000" dirty="0">
                <a:solidFill>
                  <a:schemeClr val="tx2"/>
                </a:solidFill>
              </a:rPr>
              <a:t>bancos y emisores de retail financiero </a:t>
            </a:r>
            <a:pPr indent="0" marL="0">
              <a:buNone/>
            </a:pPr>
            <a:r>
              <a:rPr lang="en-US" sz="1000" dirty="0">
                <a:solidFill>
                  <a:srgbClr val="2563EB"/>
                </a:solidFill>
                <a:highlight>
                  <a:srgbClr val="E8EFFC"/>
                </a:highlight>
              </a:rPr>
              <a:t>fuente</a:t>
            </a:r>
            <a:endParaRPr lang="en-US" sz="1000" dirty="0"/>
          </a:p>
        </p:txBody>
      </p:sp>
      <p:sp>
        <p:nvSpPr>
          <p:cNvPr id="16" name="Text 13"/>
          <p:cNvSpPr txBox="1"/>
          <p:nvPr/>
        </p:nvSpPr>
        <p:spPr>
          <a:xfrm>
            <a:off x="8635959" y="5080041"/>
            <a:ext cx="2794041" cy="761970"/>
          </a:xfrm>
          <a:prstGeom prst="rect">
            <a:avLst/>
          </a:prstGeom>
          <a:noFill/>
          <a:ln/>
        </p:spPr>
        <p:txBody>
          <a:bodyPr wrap="square" lIns="0" tIns="0" rIns="0" bIns="0" rtlCol="0" anchor="b"/>
          <a:lstStyle/>
          <a:p>
            <a:pPr indent="0" marL="0">
              <a:buNone/>
            </a:pPr>
            <a:r>
              <a:rPr lang="en-US" sz="5000" b="1" dirty="0">
                <a:solidFill>
                  <a:schemeClr val="accent1"/>
                </a:solidFill>
                <a:latin typeface="+mj-lt" pitchFamily="34" charset="0"/>
                <a:ea typeface="+mj-lt" pitchFamily="34" charset="-122"/>
                <a:cs typeface="+mj-lt" pitchFamily="34" charset="-120"/>
              </a:rPr>
              <a:t>SaaS</a:t>
            </a:r>
            <a:endParaRPr lang="en-US" sz="5000" dirty="0"/>
          </a:p>
        </p:txBody>
      </p:sp>
      <p:sp>
        <p:nvSpPr>
          <p:cNvPr id="17" name="Text 14"/>
          <p:cNvSpPr txBox="1"/>
          <p:nvPr/>
        </p:nvSpPr>
        <p:spPr>
          <a:xfrm>
            <a:off x="8635959" y="5892759"/>
            <a:ext cx="2794041" cy="381030"/>
          </a:xfrm>
          <a:prstGeom prst="rect">
            <a:avLst/>
          </a:prstGeom>
          <a:noFill/>
          <a:ln/>
        </p:spPr>
        <p:txBody>
          <a:bodyPr wrap="square" lIns="0" tIns="0" rIns="0" bIns="0" rtlCol="0" anchor="t"/>
          <a:lstStyle/>
          <a:p>
            <a:pPr indent="0" marL="0">
              <a:buNone/>
            </a:pPr>
            <a:r>
              <a:rPr lang="en-US" sz="1000" dirty="0">
                <a:solidFill>
                  <a:schemeClr val="tx2"/>
                </a:solidFill>
              </a:rPr>
              <a:t>licencia por cuenta protegida, pagada por Riesgo o Canales Digitales</a:t>
            </a:r>
            <a:endParaRPr lang="en-US" sz="1000" dirty="0"/>
          </a:p>
        </p:txBody>
      </p:sp>
      <p:sp>
        <p:nvSpPr>
          <p:cNvPr id="18" name="Fuente"/>
          <p:cNvSpPr txBox="1"/>
          <p:nvPr/>
        </p:nvSpPr>
        <p:spPr>
          <a:xfrm>
            <a:off x="761970" y="6464259"/>
            <a:ext cx="10668030" cy="190470"/>
          </a:xfrm>
          <a:prstGeom prst="rect">
            <a:avLst/>
          </a:prstGeom>
          <a:noFill/>
          <a:ln/>
        </p:spPr>
        <p:txBody>
          <a:bodyPr wrap="square" lIns="0" tIns="0" rIns="0" bIns="0" rtlCol="0" anchor="t"/>
          <a:lstStyle/>
          <a:p>
            <a:pPr indent="0" marL="0">
              <a:buNone/>
            </a:pPr>
            <a:r>
              <a:rPr lang="en-US" sz="700" dirty="0">
                <a:solidFill>
                  <a:schemeClr val="accent3"/>
                </a:solidFill>
              </a:rPr>
              <a:t>[3] CMF, Nota Técnica Ley de Fraudes (oct-2025) · Leyes 21.234 (2020) y 21.673 (2024) · [6] Visa · [7] Nubank · [12] BancoEstado</a:t>
            </a:r>
            <a:endParaRPr lang="en-US" sz="700" dirty="0"/>
          </a:p>
        </p:txBody>
      </p:sp>
      <p:sp>
        <p:nvSpPr>
          <p:cNvPr id="25" name="Slide Number Placeholder 0"/>
          <p:cNvSpPr>
            <a:spLocks noGrp="1"/>
          </p:cNvSpPr>
          <p:nvPr>
            <p:ph type="sldNum" sz="quarter" idx="4294967295"/>
          </p:nvPr>
        </p:nvSpPr>
        <p:spPr>
          <a:xfrm>
            <a:off x="761970" y="279441"/>
            <a:ext cx="368320" cy="368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Inter"/>
                <a:ea typeface="Inter"/>
                <a:cs typeface="Inter"/>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Sección"/>
          <p:cNvSpPr txBox="1"/>
          <p:nvPr/>
        </p:nvSpPr>
        <p:spPr>
          <a:xfrm>
            <a:off x="1257300" y="279441"/>
            <a:ext cx="3810030" cy="368320"/>
          </a:xfrm>
          <a:prstGeom prst="rect">
            <a:avLst/>
          </a:prstGeom>
          <a:noFill/>
          <a:ln/>
        </p:spPr>
        <p:txBody>
          <a:bodyPr wrap="square" lIns="0" tIns="0" rIns="0" bIns="0" rtlCol="0" anchor="ctr"/>
          <a:lstStyle/>
          <a:p>
            <a:pPr indent="0" marL="0">
              <a:buNone/>
            </a:pPr>
            <a:r>
              <a:rPr lang="en-US" sz="800" spc="100" kern="0" dirty="0">
                <a:solidFill>
                  <a:schemeClr val="tx2"/>
                </a:solidFill>
              </a:rPr>
              <a:t>RUTA AL MVP</a:t>
            </a:r>
            <a:endParaRPr lang="en-US" sz="800" dirty="0"/>
          </a:p>
        </p:txBody>
      </p:sp>
      <p:sp>
        <p:nvSpPr>
          <p:cNvPr id="4" name="Text 3"/>
          <p:cNvSpPr/>
          <p:nvPr>
            <p:ph idx="104" type="title" hasCustomPrompt="1"/>
          </p:nvPr>
        </p:nvSpPr>
        <p:spPr>
          <a:xfrm>
            <a:off x="761970" y="1047720"/>
            <a:ext cx="10159990" cy="1079541"/>
          </a:xfrm>
          <a:prstGeom prst="rect">
            <a:avLst/>
          </a:prstGeom>
          <a:noFill/>
          <a:ln/>
        </p:spPr>
        <p:txBody>
          <a:bodyPr wrap="square" lIns="0" tIns="0" rIns="0" bIns="0" rtlCol="0" anchor="t"/>
          <a:lstStyle/>
          <a:p>
            <a:pPr algn="l" indent="0" marL="0">
              <a:buNone/>
            </a:pPr>
            <a:r>
              <a:rPr lang="en-US" sz="3200" b="1" dirty="0">
                <a:solidFill>
                  <a:schemeClr val="tx1"/>
                </a:solidFill>
              </a:rPr>
              <a:t>Del gemelo digital a un piloto.</a:t>
            </a:r>
            <a:endParaRPr lang="en-US" sz="3200" dirty="0"/>
          </a:p>
        </p:txBody>
      </p:sp>
      <p:sp>
        <p:nvSpPr>
          <p:cNvPr id="5" name="Shape 2"/>
          <p:cNvSpPr/>
          <p:nvPr/>
        </p:nvSpPr>
        <p:spPr>
          <a:xfrm>
            <a:off x="761970" y="2413010"/>
            <a:ext cx="10668030" cy="0"/>
          </a:xfrm>
          <a:prstGeom prst="line">
            <a:avLst/>
          </a:prstGeom>
          <a:noFill/>
          <a:ln w="19050">
            <a:solidFill>
              <a:schemeClr val="tx1"/>
            </a:solidFill>
            <a:prstDash val="solid"/>
          </a:ln>
        </p:spPr>
      </p:sp>
      <p:sp>
        <p:nvSpPr>
          <p:cNvPr id="6" name="Text 3"/>
          <p:cNvSpPr/>
          <p:nvPr/>
        </p:nvSpPr>
        <p:spPr>
          <a:xfrm>
            <a:off x="761970" y="2590770"/>
            <a:ext cx="304770" cy="304770"/>
          </a:xfrm>
          <a:prstGeom prst="rect">
            <a:avLst/>
          </a:prstGeom>
          <a:solidFill>
            <a:srgbClr val="292524"/>
          </a:solidFill>
          <a:ln/>
        </p:spPr>
        <p:txBody>
          <a:bodyPr wrap="square" lIns="0" tIns="0" rIns="0" bIns="0" rtlCol="0" anchor="ctr"/>
          <a:lstStyle/>
          <a:p>
            <a:pPr algn="ctr" indent="0" marL="0">
              <a:buNone/>
            </a:pPr>
            <a:r>
              <a:rPr lang="en-US" sz="900" b="1" dirty="0">
                <a:solidFill>
                  <a:schemeClr val="bg1"/>
                </a:solidFill>
              </a:rPr>
              <a:t>01</a:t>
            </a:r>
            <a:endParaRPr lang="en-US" sz="900" dirty="0"/>
          </a:p>
        </p:txBody>
      </p:sp>
      <p:sp>
        <p:nvSpPr>
          <p:cNvPr id="7" name="Text 4"/>
          <p:cNvSpPr txBox="1"/>
          <p:nvPr/>
        </p:nvSpPr>
        <p:spPr>
          <a:xfrm>
            <a:off x="761970" y="3009930"/>
            <a:ext cx="2476470" cy="31748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Datos reales</a:t>
            </a:r>
            <a:endParaRPr lang="en-US" sz="1700" dirty="0"/>
          </a:p>
        </p:txBody>
      </p:sp>
      <p:sp>
        <p:nvSpPr>
          <p:cNvPr id="8" name="Text 5"/>
          <p:cNvSpPr txBox="1"/>
          <p:nvPr/>
        </p:nvSpPr>
        <p:spPr>
          <a:xfrm>
            <a:off x="761970" y="3352830"/>
            <a:ext cx="2158990" cy="444490"/>
          </a:xfrm>
          <a:prstGeom prst="rect">
            <a:avLst/>
          </a:prstGeom>
          <a:noFill/>
          <a:ln/>
        </p:spPr>
        <p:txBody>
          <a:bodyPr wrap="square" lIns="0" tIns="0" rIns="0" bIns="0" rtlCol="0" anchor="t"/>
          <a:lstStyle/>
          <a:p>
            <a:pPr indent="0" marL="0">
              <a:buNone/>
            </a:pPr>
            <a:r>
              <a:rPr lang="en-US" sz="950" dirty="0">
                <a:solidFill>
                  <a:schemeClr val="accent3"/>
                </a:solidFill>
              </a:rPr>
              <a:t>calibrar umbrales con históricos de un emisor</a:t>
            </a:r>
            <a:endParaRPr lang="en-US" sz="950" dirty="0"/>
          </a:p>
        </p:txBody>
      </p:sp>
      <p:sp>
        <p:nvSpPr>
          <p:cNvPr id="9" name="Text 6"/>
          <p:cNvSpPr/>
          <p:nvPr/>
        </p:nvSpPr>
        <p:spPr>
          <a:xfrm>
            <a:off x="3429000" y="2590770"/>
            <a:ext cx="304770" cy="304770"/>
          </a:xfrm>
          <a:prstGeom prst="rect">
            <a:avLst/>
          </a:prstGeom>
          <a:solidFill>
            <a:srgbClr val="292524"/>
          </a:solidFill>
          <a:ln/>
        </p:spPr>
        <p:txBody>
          <a:bodyPr wrap="square" lIns="0" tIns="0" rIns="0" bIns="0" rtlCol="0" anchor="ctr"/>
          <a:lstStyle/>
          <a:p>
            <a:pPr algn="ctr" indent="0" marL="0">
              <a:buNone/>
            </a:pPr>
            <a:r>
              <a:rPr lang="en-US" sz="900" b="1" dirty="0">
                <a:solidFill>
                  <a:schemeClr val="bg1"/>
                </a:solidFill>
              </a:rPr>
              <a:t>02</a:t>
            </a:r>
            <a:endParaRPr lang="en-US" sz="900" dirty="0"/>
          </a:p>
        </p:txBody>
      </p:sp>
      <p:sp>
        <p:nvSpPr>
          <p:cNvPr id="10" name="Text 7"/>
          <p:cNvSpPr txBox="1"/>
          <p:nvPr/>
        </p:nvSpPr>
        <p:spPr>
          <a:xfrm>
            <a:off x="3429000" y="3009930"/>
            <a:ext cx="2476470" cy="31748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Conexión al banco</a:t>
            </a:r>
            <a:endParaRPr lang="en-US" sz="1700" dirty="0"/>
          </a:p>
        </p:txBody>
      </p:sp>
      <p:sp>
        <p:nvSpPr>
          <p:cNvPr id="11" name="Text 8"/>
          <p:cNvSpPr txBox="1"/>
          <p:nvPr/>
        </p:nvSpPr>
        <p:spPr>
          <a:xfrm>
            <a:off x="3429000" y="3352830"/>
            <a:ext cx="2158990" cy="444490"/>
          </a:xfrm>
          <a:prstGeom prst="rect">
            <a:avLst/>
          </a:prstGeom>
          <a:noFill/>
          <a:ln/>
        </p:spPr>
        <p:txBody>
          <a:bodyPr wrap="square" lIns="0" tIns="0" rIns="0" bIns="0" rtlCol="0" anchor="t"/>
          <a:lstStyle/>
          <a:p>
            <a:pPr indent="0" marL="0">
              <a:buNone/>
            </a:pPr>
            <a:r>
              <a:rPr lang="en-US" sz="950" dirty="0">
                <a:solidFill>
                  <a:schemeClr val="accent3"/>
                </a:solidFill>
              </a:rPr>
              <a:t>leer cada autorización en tiempo real</a:t>
            </a:r>
            <a:endParaRPr lang="en-US" sz="950" dirty="0"/>
          </a:p>
        </p:txBody>
      </p:sp>
      <p:sp>
        <p:nvSpPr>
          <p:cNvPr id="12" name="Text 9"/>
          <p:cNvSpPr/>
          <p:nvPr/>
        </p:nvSpPr>
        <p:spPr>
          <a:xfrm>
            <a:off x="6096030" y="2590770"/>
            <a:ext cx="304770" cy="304770"/>
          </a:xfrm>
          <a:prstGeom prst="rect">
            <a:avLst/>
          </a:prstGeom>
          <a:solidFill>
            <a:srgbClr val="292524"/>
          </a:solidFill>
          <a:ln/>
        </p:spPr>
        <p:txBody>
          <a:bodyPr wrap="square" lIns="0" tIns="0" rIns="0" bIns="0" rtlCol="0" anchor="ctr"/>
          <a:lstStyle/>
          <a:p>
            <a:pPr algn="ctr" indent="0" marL="0">
              <a:buNone/>
            </a:pPr>
            <a:r>
              <a:rPr lang="en-US" sz="900" b="1" dirty="0">
                <a:solidFill>
                  <a:schemeClr val="bg1"/>
                </a:solidFill>
              </a:rPr>
              <a:t>03</a:t>
            </a:r>
            <a:endParaRPr lang="en-US" sz="900" dirty="0"/>
          </a:p>
        </p:txBody>
      </p:sp>
      <p:sp>
        <p:nvSpPr>
          <p:cNvPr id="13" name="Text 10"/>
          <p:cNvSpPr txBox="1"/>
          <p:nvPr/>
        </p:nvSpPr>
        <p:spPr>
          <a:xfrm>
            <a:off x="6096030" y="3009930"/>
            <a:ext cx="2476470" cy="31748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Piloto de visibilidad</a:t>
            </a:r>
            <a:endParaRPr lang="en-US" sz="1700" dirty="0"/>
          </a:p>
        </p:txBody>
      </p:sp>
      <p:sp>
        <p:nvSpPr>
          <p:cNvPr id="14" name="Text 11"/>
          <p:cNvSpPr txBox="1"/>
          <p:nvPr/>
        </p:nvSpPr>
        <p:spPr>
          <a:xfrm>
            <a:off x="6096030" y="3352830"/>
            <a:ext cx="2158990" cy="444490"/>
          </a:xfrm>
          <a:prstGeom prst="rect">
            <a:avLst/>
          </a:prstGeom>
          <a:noFill/>
          <a:ln/>
        </p:spPr>
        <p:txBody>
          <a:bodyPr wrap="square" lIns="0" tIns="0" rIns="0" bIns="0" rtlCol="0" anchor="t"/>
          <a:lstStyle/>
          <a:p>
            <a:pPr indent="0" marL="0">
              <a:buNone/>
            </a:pPr>
            <a:r>
              <a:rPr lang="en-US" sz="950" dirty="0">
                <a:solidFill>
                  <a:schemeClr val="accent3"/>
                </a:solidFill>
              </a:rPr>
              <a:t>un emisor digital, </a:t>
            </a:r>
            <a:pPr indent="0" marL="0">
              <a:buNone/>
            </a:pPr>
            <a:r>
              <a:rPr lang="en-US" sz="950" dirty="0">
                <a:solidFill>
                  <a:srgbClr val="2563EB"/>
                </a:solidFill>
                <a:highlight>
                  <a:srgbClr val="E8EFFC"/>
                </a:highlight>
              </a:rPr>
              <a:t>[N] cuentas</a:t>
            </a:r>
            <a:pPr indent="0" marL="0">
              <a:buNone/>
            </a:pPr>
            <a:r>
              <a:rPr lang="en-US" sz="950" dirty="0">
                <a:solidFill>
                  <a:schemeClr val="accent3"/>
                </a:solidFill>
              </a:rPr>
              <a:t>, 3 meses</a:t>
            </a:r>
            <a:endParaRPr lang="en-US" sz="950" dirty="0"/>
          </a:p>
        </p:txBody>
      </p:sp>
      <p:sp>
        <p:nvSpPr>
          <p:cNvPr id="15" name="Text 12"/>
          <p:cNvSpPr/>
          <p:nvPr/>
        </p:nvSpPr>
        <p:spPr>
          <a:xfrm>
            <a:off x="8762970" y="2590770"/>
            <a:ext cx="304770" cy="304770"/>
          </a:xfrm>
          <a:prstGeom prst="rect">
            <a:avLst/>
          </a:prstGeom>
          <a:solidFill>
            <a:srgbClr val="059669"/>
          </a:solidFill>
          <a:ln/>
        </p:spPr>
        <p:txBody>
          <a:bodyPr wrap="square" lIns="0" tIns="0" rIns="0" bIns="0" rtlCol="0" anchor="ctr"/>
          <a:lstStyle/>
          <a:p>
            <a:pPr algn="ctr" indent="0" marL="0">
              <a:buNone/>
            </a:pPr>
            <a:r>
              <a:rPr lang="en-US" sz="900" b="1" dirty="0">
                <a:solidFill>
                  <a:schemeClr val="bg1"/>
                </a:solidFill>
              </a:rPr>
              <a:t>04</a:t>
            </a:r>
            <a:endParaRPr lang="en-US" sz="900" dirty="0"/>
          </a:p>
        </p:txBody>
      </p:sp>
      <p:sp>
        <p:nvSpPr>
          <p:cNvPr id="16" name="Text 13"/>
          <p:cNvSpPr txBox="1"/>
          <p:nvPr/>
        </p:nvSpPr>
        <p:spPr>
          <a:xfrm>
            <a:off x="8762970" y="3009930"/>
            <a:ext cx="2476470" cy="31748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Detener cobros</a:t>
            </a:r>
            <a:endParaRPr lang="en-US" sz="1700" dirty="0"/>
          </a:p>
        </p:txBody>
      </p:sp>
      <p:sp>
        <p:nvSpPr>
          <p:cNvPr id="17" name="Text 14"/>
          <p:cNvSpPr txBox="1"/>
          <p:nvPr/>
        </p:nvSpPr>
        <p:spPr>
          <a:xfrm>
            <a:off x="8762970" y="3352830"/>
            <a:ext cx="2158990" cy="444490"/>
          </a:xfrm>
          <a:prstGeom prst="rect">
            <a:avLst/>
          </a:prstGeom>
          <a:noFill/>
          <a:ln/>
        </p:spPr>
        <p:txBody>
          <a:bodyPr wrap="square" lIns="0" tIns="0" rIns="0" bIns="0" rtlCol="0" anchor="t"/>
          <a:lstStyle/>
          <a:p>
            <a:pPr indent="0" marL="0">
              <a:buNone/>
            </a:pPr>
            <a:r>
              <a:rPr lang="en-US" sz="950" dirty="0">
                <a:solidFill>
                  <a:schemeClr val="accent3"/>
                </a:solidFill>
              </a:rPr>
              <a:t>si el emisor lo permite: Visa ya ofrece bloquearlos</a:t>
            </a:r>
            <a:pPr indent="0" marL="0">
              <a:buNone/>
            </a:pPr>
            <a:r>
              <a:rPr lang="en-US" sz="950" baseline="30000" dirty="0">
                <a:solidFill>
                  <a:schemeClr val="accent1"/>
                </a:solidFill>
              </a:rPr>
              <a:t>13</a:t>
            </a:r>
            <a:endParaRPr lang="en-US" sz="950" dirty="0"/>
          </a:p>
        </p:txBody>
      </p:sp>
      <p:sp>
        <p:nvSpPr>
          <p:cNvPr id="18" name="Text 15"/>
          <p:cNvSpPr txBox="1"/>
          <p:nvPr/>
        </p:nvSpPr>
        <p:spPr>
          <a:xfrm>
            <a:off x="761970" y="4686300"/>
            <a:ext cx="3810030" cy="190470"/>
          </a:xfrm>
          <a:prstGeom prst="rect">
            <a:avLst/>
          </a:prstGeom>
          <a:noFill/>
          <a:ln/>
        </p:spPr>
        <p:txBody>
          <a:bodyPr wrap="square" lIns="0" tIns="0" rIns="0" bIns="0" rtlCol="0" anchor="t"/>
          <a:lstStyle/>
          <a:p>
            <a:pPr indent="0" marL="0">
              <a:buNone/>
            </a:pPr>
            <a:r>
              <a:rPr lang="en-US" sz="800" b="1" spc="100" kern="0" dirty="0">
                <a:solidFill>
                  <a:srgbClr val="2563EB"/>
                </a:solidFill>
              </a:rPr>
              <a:t>PENDIENTES QUE DECLARAMOS</a:t>
            </a:r>
            <a:endParaRPr lang="en-US" sz="800" dirty="0"/>
          </a:p>
        </p:txBody>
      </p:sp>
      <p:sp>
        <p:nvSpPr>
          <p:cNvPr id="19" name="Shape 16"/>
          <p:cNvSpPr/>
          <p:nvPr/>
        </p:nvSpPr>
        <p:spPr>
          <a:xfrm>
            <a:off x="761970" y="4965741"/>
            <a:ext cx="101590" cy="101590"/>
          </a:xfrm>
          <a:prstGeom prst="rect">
            <a:avLst/>
          </a:prstGeom>
          <a:ln w="15875">
            <a:solidFill>
              <a:schemeClr val="accent2"/>
            </a:solidFill>
            <a:prstDash val="solid"/>
          </a:ln>
        </p:spPr>
      </p:sp>
      <p:sp>
        <p:nvSpPr>
          <p:cNvPr id="20" name="Text 17"/>
          <p:cNvSpPr txBox="1"/>
          <p:nvPr/>
        </p:nvSpPr>
        <p:spPr>
          <a:xfrm>
            <a:off x="952530" y="4940320"/>
            <a:ext cx="5333970" cy="177759"/>
          </a:xfrm>
          <a:prstGeom prst="rect">
            <a:avLst/>
          </a:prstGeom>
          <a:noFill/>
          <a:ln/>
        </p:spPr>
        <p:txBody>
          <a:bodyPr wrap="square" lIns="0" tIns="0" rIns="0" bIns="0" rtlCol="0" anchor="ctr"/>
          <a:lstStyle/>
          <a:p>
            <a:pPr indent="0" marL="0">
              <a:buNone/>
            </a:pPr>
            <a:r>
              <a:rPr lang="en-US" sz="1000" dirty="0">
                <a:solidFill>
                  <a:schemeClr val="tx2"/>
                </a:solidFill>
              </a:rPr>
              <a:t>Qué % de los reclamos de un banco viene de cobros recurrentes</a:t>
            </a:r>
            <a:endParaRPr lang="en-US" sz="1000" dirty="0"/>
          </a:p>
        </p:txBody>
      </p:sp>
      <p:sp>
        <p:nvSpPr>
          <p:cNvPr id="21" name="Shape 18"/>
          <p:cNvSpPr/>
          <p:nvPr/>
        </p:nvSpPr>
        <p:spPr>
          <a:xfrm>
            <a:off x="761970" y="5219670"/>
            <a:ext cx="101590" cy="101590"/>
          </a:xfrm>
          <a:prstGeom prst="rect">
            <a:avLst/>
          </a:prstGeom>
          <a:ln w="15875">
            <a:solidFill>
              <a:schemeClr val="accent2"/>
            </a:solidFill>
            <a:prstDash val="solid"/>
          </a:ln>
        </p:spPr>
      </p:sp>
      <p:sp>
        <p:nvSpPr>
          <p:cNvPr id="22" name="Text 19"/>
          <p:cNvSpPr txBox="1"/>
          <p:nvPr/>
        </p:nvSpPr>
        <p:spPr>
          <a:xfrm>
            <a:off x="952530" y="5194341"/>
            <a:ext cx="5333970" cy="177759"/>
          </a:xfrm>
          <a:prstGeom prst="rect">
            <a:avLst/>
          </a:prstGeom>
          <a:noFill/>
          <a:ln/>
        </p:spPr>
        <p:txBody>
          <a:bodyPr wrap="square" lIns="0" tIns="0" rIns="0" bIns="0" rtlCol="0" anchor="ctr"/>
          <a:lstStyle/>
          <a:p>
            <a:pPr indent="0" marL="0">
              <a:buNone/>
            </a:pPr>
            <a:r>
              <a:rPr lang="en-US" sz="1000" dirty="0">
                <a:solidFill>
                  <a:schemeClr val="tx2"/>
                </a:solidFill>
              </a:rPr>
              <a:t>Al menos 5 pruebas de usuario con el gemelo digital</a:t>
            </a:r>
            <a:endParaRPr lang="en-US" sz="1000" dirty="0"/>
          </a:p>
        </p:txBody>
      </p:sp>
      <p:sp>
        <p:nvSpPr>
          <p:cNvPr id="23" name="Shape 20"/>
          <p:cNvSpPr/>
          <p:nvPr/>
        </p:nvSpPr>
        <p:spPr>
          <a:xfrm>
            <a:off x="761970" y="5473690"/>
            <a:ext cx="101590" cy="101590"/>
          </a:xfrm>
          <a:prstGeom prst="rect">
            <a:avLst/>
          </a:prstGeom>
          <a:ln w="15875">
            <a:solidFill>
              <a:schemeClr val="accent2"/>
            </a:solidFill>
            <a:prstDash val="solid"/>
          </a:ln>
        </p:spPr>
      </p:sp>
      <p:sp>
        <p:nvSpPr>
          <p:cNvPr id="24" name="Text 21"/>
          <p:cNvSpPr txBox="1"/>
          <p:nvPr/>
        </p:nvSpPr>
        <p:spPr>
          <a:xfrm>
            <a:off x="952530" y="5448270"/>
            <a:ext cx="5333970" cy="177759"/>
          </a:xfrm>
          <a:prstGeom prst="rect">
            <a:avLst/>
          </a:prstGeom>
          <a:noFill/>
          <a:ln/>
        </p:spPr>
        <p:txBody>
          <a:bodyPr wrap="square" lIns="0" tIns="0" rIns="0" bIns="0" rtlCol="0" anchor="ctr"/>
          <a:lstStyle/>
          <a:p>
            <a:pPr indent="0" marL="0">
              <a:buNone/>
            </a:pPr>
            <a:r>
              <a:rPr lang="en-US" sz="1000" dirty="0">
                <a:solidFill>
                  <a:schemeClr val="tx2"/>
                </a:solidFill>
              </a:rPr>
              <a:t>Que el banco lo compraría a un tercero, y a qué precio</a:t>
            </a:r>
            <a:endParaRPr lang="en-US" sz="1000" dirty="0"/>
          </a:p>
        </p:txBody>
      </p:sp>
      <p:sp>
        <p:nvSpPr>
          <p:cNvPr id="25" name="Cierre"/>
          <p:cNvSpPr/>
          <p:nvPr/>
        </p:nvSpPr>
        <p:spPr>
          <a:xfrm>
            <a:off x="6603980" y="4699010"/>
            <a:ext cx="4826020" cy="1524030"/>
          </a:xfrm>
          <a:prstGeom prst="rect">
            <a:avLst/>
          </a:prstGeom>
          <a:solidFill>
            <a:schemeClr val="accent1"/>
          </a:solidFill>
          <a:ln/>
        </p:spPr>
      </p:sp>
      <p:pic>
        <p:nvPicPr>
          <p:cNvPr id="26" name="Image 0" descr="C:\Users\ncova\AppData\Local\Temp\claude\c--Users-ncova-prototipo-escudo-suscripciones\6d482855-5fd1-4549-b0f8-7fb2564157b3\scratchpad\pptx\condor_FFFFFF.png">    </p:cNvPr>
          <p:cNvPicPr>
            <a:picLocks noChangeAspect="1"/>
          </p:cNvPicPr>
          <p:nvPr/>
        </p:nvPicPr>
        <p:blipFill>
          <a:blip r:embed="rId1"/>
          <a:stretch>
            <a:fillRect/>
          </a:stretch>
        </p:blipFill>
        <p:spPr>
          <a:xfrm>
            <a:off x="6870710" y="4953030"/>
            <a:ext cx="571500" cy="190470"/>
          </a:xfrm>
          <a:prstGeom prst="rect">
            <a:avLst/>
          </a:prstGeom>
        </p:spPr>
      </p:pic>
      <p:sp>
        <p:nvSpPr>
          <p:cNvPr id="27" name="Text 23"/>
          <p:cNvSpPr txBox="1"/>
          <p:nvPr/>
        </p:nvSpPr>
        <p:spPr>
          <a:xfrm>
            <a:off x="6870710" y="5308641"/>
            <a:ext cx="4317980" cy="761970"/>
          </a:xfrm>
          <a:prstGeom prst="rect">
            <a:avLst/>
          </a:prstGeom>
          <a:noFill/>
          <a:ln/>
        </p:spPr>
        <p:txBody>
          <a:bodyPr wrap="square" lIns="0" tIns="0" rIns="0" bIns="0" rtlCol="0" anchor="t"/>
          <a:lstStyle/>
          <a:p>
            <a:pPr indent="0" marL="0">
              <a:buNone/>
            </a:pPr>
            <a:r>
              <a:rPr lang="en-US" sz="2200" b="1" dirty="0">
                <a:solidFill>
                  <a:schemeClr val="bg1"/>
                </a:solidFill>
                <a:latin typeface="+mj-lt" pitchFamily="34" charset="0"/>
                <a:ea typeface="+mj-lt" pitchFamily="34" charset="-122"/>
                <a:cs typeface="+mj-lt" pitchFamily="34" charset="-120"/>
              </a:rPr>
              <a:t>CONDOR: cada suscripción a la vista desde el primer cobro.</a:t>
            </a:r>
            <a:endParaRPr lang="en-US" sz="2200" dirty="0"/>
          </a:p>
        </p:txBody>
      </p:sp>
      <p:sp>
        <p:nvSpPr>
          <p:cNvPr id="25" name="Slide Number Placeholder 0"/>
          <p:cNvSpPr>
            <a:spLocks noGrp="1"/>
          </p:cNvSpPr>
          <p:nvPr>
            <p:ph type="sldNum" sz="quarter" idx="4294967295"/>
          </p:nvPr>
        </p:nvSpPr>
        <p:spPr>
          <a:xfrm>
            <a:off x="761970" y="279441"/>
            <a:ext cx="368320" cy="368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Inter"/>
                <a:ea typeface="Inter"/>
                <a:cs typeface="Inter"/>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Sección"/>
          <p:cNvSpPr txBox="1"/>
          <p:nvPr/>
        </p:nvSpPr>
        <p:spPr>
          <a:xfrm>
            <a:off x="1257300" y="279441"/>
            <a:ext cx="3810030" cy="368320"/>
          </a:xfrm>
          <a:prstGeom prst="rect">
            <a:avLst/>
          </a:prstGeom>
          <a:noFill/>
          <a:ln/>
        </p:spPr>
        <p:txBody>
          <a:bodyPr wrap="square" lIns="0" tIns="0" rIns="0" bIns="0" rtlCol="0" anchor="ctr"/>
          <a:lstStyle/>
          <a:p>
            <a:pPr indent="0" marL="0">
              <a:buNone/>
            </a:pPr>
            <a:r>
              <a:rPr lang="en-US" sz="800" spc="100" kern="0" dirty="0">
                <a:solidFill>
                  <a:schemeClr val="tx2"/>
                </a:solidFill>
              </a:rPr>
              <a:t>CIERRE</a:t>
            </a:r>
            <a:endParaRPr lang="en-US" sz="800" dirty="0"/>
          </a:p>
        </p:txBody>
      </p:sp>
      <p:sp>
        <p:nvSpPr>
          <p:cNvPr id="4" name="Text 1"/>
          <p:cNvSpPr txBox="1"/>
          <p:nvPr/>
        </p:nvSpPr>
        <p:spPr>
          <a:xfrm>
            <a:off x="761970" y="2095530"/>
            <a:ext cx="5460980" cy="2286000"/>
          </a:xfrm>
          <a:prstGeom prst="rect">
            <a:avLst/>
          </a:prstGeom>
          <a:noFill/>
          <a:ln/>
        </p:spPr>
        <p:txBody>
          <a:bodyPr wrap="square" lIns="0" tIns="0" rIns="0" bIns="0" rtlCol="0" anchor="ctr"/>
          <a:lstStyle/>
          <a:p>
            <a:pPr indent="0" marL="0">
              <a:buNone/>
            </a:pPr>
            <a:r>
              <a:rPr lang="en-US" sz="4000" b="1" dirty="0">
                <a:solidFill>
                  <a:schemeClr val="tx1"/>
                </a:solidFill>
                <a:latin typeface="+mj-lt" pitchFamily="34" charset="0"/>
                <a:ea typeface="+mj-lt" pitchFamily="34" charset="-122"/>
                <a:cs typeface="+mj-lt" pitchFamily="34" charset="-120"/>
              </a:rPr>
              <a:t>¿Cuántas suscripciones pagaste este mes sin darte cuenta?</a:t>
            </a:r>
            <a:endParaRPr lang="en-US" sz="4000" dirty="0"/>
          </a:p>
        </p:txBody>
      </p:sp>
      <p:sp>
        <p:nvSpPr>
          <p:cNvPr id="5" name="Text 2"/>
          <p:cNvSpPr txBox="1"/>
          <p:nvPr/>
        </p:nvSpPr>
        <p:spPr>
          <a:xfrm>
            <a:off x="761970" y="4635459"/>
            <a:ext cx="5460980" cy="254020"/>
          </a:xfrm>
          <a:prstGeom prst="rect">
            <a:avLst/>
          </a:prstGeom>
          <a:noFill/>
          <a:ln/>
        </p:spPr>
        <p:txBody>
          <a:bodyPr wrap="square" lIns="0" tIns="0" rIns="0" bIns="0" rtlCol="0" anchor="t"/>
          <a:lstStyle/>
          <a:p>
            <a:pPr indent="0" marL="0">
              <a:buNone/>
            </a:pPr>
            <a:r>
              <a:rPr lang="en-US" sz="1200" dirty="0">
                <a:solidFill>
                  <a:schemeClr val="tx2"/>
                </a:solidFill>
              </a:rPr>
              <a:t>CONDOR quiere que esa respuesta sea siempre cero.</a:t>
            </a:r>
            <a:endParaRPr lang="en-US" sz="1200" dirty="0"/>
          </a:p>
        </p:txBody>
      </p:sp>
      <p:sp>
        <p:nvSpPr>
          <p:cNvPr id="6" name="Shape 3"/>
          <p:cNvSpPr/>
          <p:nvPr/>
        </p:nvSpPr>
        <p:spPr>
          <a:xfrm>
            <a:off x="6603980" y="1841510"/>
            <a:ext cx="0" cy="3657600"/>
          </a:xfrm>
          <a:prstGeom prst="line">
            <a:avLst/>
          </a:prstGeom>
          <a:noFill/>
          <a:ln w="12700">
            <a:solidFill>
              <a:schemeClr val="tx1"/>
            </a:solidFill>
            <a:prstDash val="solid"/>
          </a:ln>
        </p:spPr>
      </p:sp>
      <p:sp>
        <p:nvSpPr>
          <p:cNvPr id="7" name="Text 4"/>
          <p:cNvSpPr txBox="1"/>
          <p:nvPr/>
        </p:nvSpPr>
        <p:spPr>
          <a:xfrm>
            <a:off x="6985010" y="1879641"/>
            <a:ext cx="698510" cy="609630"/>
          </a:xfrm>
          <a:prstGeom prst="rect">
            <a:avLst/>
          </a:prstGeom>
          <a:noFill/>
          <a:ln/>
        </p:spPr>
        <p:txBody>
          <a:bodyPr wrap="square" lIns="0" tIns="0" rIns="0" bIns="0" rtlCol="0" anchor="ctr"/>
          <a:lstStyle/>
          <a:p>
            <a:pPr indent="0" marL="0">
              <a:buNone/>
            </a:pPr>
            <a:r>
              <a:rPr lang="en-US" sz="4200" b="1" dirty="0">
                <a:solidFill>
                  <a:schemeClr val="accent1"/>
                </a:solidFill>
                <a:latin typeface="+mj-lt" pitchFamily="34" charset="0"/>
                <a:ea typeface="+mj-lt" pitchFamily="34" charset="-122"/>
                <a:cs typeface="+mj-lt" pitchFamily="34" charset="-120"/>
              </a:rPr>
              <a:t>C</a:t>
            </a:r>
            <a:endParaRPr lang="en-US" sz="4200" dirty="0"/>
          </a:p>
        </p:txBody>
      </p:sp>
      <p:sp>
        <p:nvSpPr>
          <p:cNvPr id="8" name="Text 5"/>
          <p:cNvSpPr txBox="1"/>
          <p:nvPr/>
        </p:nvSpPr>
        <p:spPr>
          <a:xfrm>
            <a:off x="7759690" y="1879641"/>
            <a:ext cx="3556010" cy="609630"/>
          </a:xfrm>
          <a:prstGeom prst="rect">
            <a:avLst/>
          </a:prstGeom>
          <a:noFill/>
          <a:ln/>
        </p:spPr>
        <p:txBody>
          <a:bodyPr wrap="square" lIns="0" tIns="0" rIns="0" bIns="0" rtlCol="0" anchor="ctr"/>
          <a:lstStyle/>
          <a:p>
            <a:pPr indent="0" marL="0">
              <a:buNone/>
            </a:pPr>
            <a:r>
              <a:rPr lang="en-US" sz="1500" b="1" dirty="0">
                <a:solidFill>
                  <a:schemeClr val="tx1"/>
                </a:solidFill>
              </a:rPr>
              <a:t>Control</a:t>
            </a:r>
            <a:pPr indent="0" marL="0">
              <a:buNone/>
            </a:pPr>
            <a:r>
              <a:rPr lang="en-US" sz="1500" dirty="0">
                <a:solidFill>
                  <a:schemeClr val="accent3"/>
                </a:solidFill>
              </a:rPr>
              <a:t> de</a:t>
            </a:r>
            <a:endParaRPr lang="en-US" sz="1500" dirty="0"/>
          </a:p>
        </p:txBody>
      </p:sp>
      <p:sp>
        <p:nvSpPr>
          <p:cNvPr id="9" name="Text 6"/>
          <p:cNvSpPr txBox="1"/>
          <p:nvPr/>
        </p:nvSpPr>
        <p:spPr>
          <a:xfrm>
            <a:off x="6985010" y="2489180"/>
            <a:ext cx="698510" cy="609630"/>
          </a:xfrm>
          <a:prstGeom prst="rect">
            <a:avLst/>
          </a:prstGeom>
          <a:noFill/>
          <a:ln/>
        </p:spPr>
        <p:txBody>
          <a:bodyPr wrap="square" lIns="0" tIns="0" rIns="0" bIns="0" rtlCol="0" anchor="ctr"/>
          <a:lstStyle/>
          <a:p>
            <a:pPr indent="0" marL="0">
              <a:buNone/>
            </a:pPr>
            <a:r>
              <a:rPr lang="en-US" sz="4200" b="1" dirty="0">
                <a:solidFill>
                  <a:schemeClr val="accent1"/>
                </a:solidFill>
                <a:latin typeface="+mj-lt" pitchFamily="34" charset="0"/>
                <a:ea typeface="+mj-lt" pitchFamily="34" charset="-122"/>
                <a:cs typeface="+mj-lt" pitchFamily="34" charset="-120"/>
              </a:rPr>
              <a:t>O</a:t>
            </a:r>
            <a:endParaRPr lang="en-US" sz="4200" dirty="0"/>
          </a:p>
        </p:txBody>
      </p:sp>
      <p:sp>
        <p:nvSpPr>
          <p:cNvPr id="10" name="Text 7"/>
          <p:cNvSpPr txBox="1"/>
          <p:nvPr/>
        </p:nvSpPr>
        <p:spPr>
          <a:xfrm>
            <a:off x="7759690" y="2489180"/>
            <a:ext cx="3556010" cy="609630"/>
          </a:xfrm>
          <a:prstGeom prst="rect">
            <a:avLst/>
          </a:prstGeom>
          <a:noFill/>
          <a:ln/>
        </p:spPr>
        <p:txBody>
          <a:bodyPr wrap="square" lIns="0" tIns="0" rIns="0" bIns="0" rtlCol="0" anchor="ctr"/>
          <a:lstStyle/>
          <a:p>
            <a:pPr indent="0" marL="0">
              <a:buNone/>
            </a:pPr>
            <a:r>
              <a:rPr lang="en-US" sz="1500" b="1" dirty="0">
                <a:solidFill>
                  <a:schemeClr val="tx1"/>
                </a:solidFill>
              </a:rPr>
              <a:t>Órdenes</a:t>
            </a:r>
            <a:pPr indent="0" marL="0">
              <a:buNone/>
            </a:pPr>
            <a:r>
              <a:rPr lang="en-US" sz="1500" dirty="0">
                <a:solidFill>
                  <a:schemeClr val="accent3"/>
                </a:solidFill>
              </a:rPr>
              <a:t> y</a:t>
            </a:r>
            <a:endParaRPr lang="en-US" sz="1500" dirty="0"/>
          </a:p>
        </p:txBody>
      </p:sp>
      <p:sp>
        <p:nvSpPr>
          <p:cNvPr id="11" name="Text 8"/>
          <p:cNvSpPr txBox="1"/>
          <p:nvPr/>
        </p:nvSpPr>
        <p:spPr>
          <a:xfrm>
            <a:off x="6985010" y="3098810"/>
            <a:ext cx="698510" cy="609630"/>
          </a:xfrm>
          <a:prstGeom prst="rect">
            <a:avLst/>
          </a:prstGeom>
          <a:noFill/>
          <a:ln/>
        </p:spPr>
        <p:txBody>
          <a:bodyPr wrap="square" lIns="0" tIns="0" rIns="0" bIns="0" rtlCol="0" anchor="ctr"/>
          <a:lstStyle/>
          <a:p>
            <a:pPr indent="0" marL="0">
              <a:buNone/>
            </a:pPr>
            <a:r>
              <a:rPr lang="en-US" sz="4200" b="1" dirty="0">
                <a:solidFill>
                  <a:schemeClr val="accent1"/>
                </a:solidFill>
                <a:latin typeface="+mj-lt" pitchFamily="34" charset="0"/>
                <a:ea typeface="+mj-lt" pitchFamily="34" charset="-122"/>
                <a:cs typeface="+mj-lt" pitchFamily="34" charset="-120"/>
              </a:rPr>
              <a:t>N</a:t>
            </a:r>
            <a:endParaRPr lang="en-US" sz="4200" dirty="0"/>
          </a:p>
        </p:txBody>
      </p:sp>
      <p:sp>
        <p:nvSpPr>
          <p:cNvPr id="12" name="Text 9"/>
          <p:cNvSpPr txBox="1"/>
          <p:nvPr/>
        </p:nvSpPr>
        <p:spPr>
          <a:xfrm>
            <a:off x="7759690" y="3098810"/>
            <a:ext cx="3556010" cy="609630"/>
          </a:xfrm>
          <a:prstGeom prst="rect">
            <a:avLst/>
          </a:prstGeom>
          <a:noFill/>
          <a:ln/>
        </p:spPr>
        <p:txBody>
          <a:bodyPr wrap="square" lIns="0" tIns="0" rIns="0" bIns="0" rtlCol="0" anchor="ctr"/>
          <a:lstStyle/>
          <a:p>
            <a:pPr indent="0" marL="0">
              <a:buNone/>
            </a:pPr>
            <a:r>
              <a:rPr lang="en-US" sz="1500" b="1" dirty="0">
                <a:solidFill>
                  <a:schemeClr val="tx1"/>
                </a:solidFill>
              </a:rPr>
              <a:t>Notificación</a:t>
            </a:r>
            <a:pPr indent="0" marL="0">
              <a:buNone/>
            </a:pPr>
            <a:r>
              <a:rPr lang="en-US" sz="1500" dirty="0">
                <a:solidFill>
                  <a:schemeClr val="accent3"/>
                </a:solidFill>
              </a:rPr>
              <a:t> de</a:t>
            </a:r>
            <a:endParaRPr lang="en-US" sz="1500" dirty="0"/>
          </a:p>
        </p:txBody>
      </p:sp>
      <p:sp>
        <p:nvSpPr>
          <p:cNvPr id="13" name="Text 10"/>
          <p:cNvSpPr txBox="1"/>
          <p:nvPr/>
        </p:nvSpPr>
        <p:spPr>
          <a:xfrm>
            <a:off x="6985010" y="3708441"/>
            <a:ext cx="698510" cy="609630"/>
          </a:xfrm>
          <a:prstGeom prst="rect">
            <a:avLst/>
          </a:prstGeom>
          <a:noFill/>
          <a:ln/>
        </p:spPr>
        <p:txBody>
          <a:bodyPr wrap="square" lIns="0" tIns="0" rIns="0" bIns="0" rtlCol="0" anchor="ctr"/>
          <a:lstStyle/>
          <a:p>
            <a:pPr indent="0" marL="0">
              <a:buNone/>
            </a:pPr>
            <a:r>
              <a:rPr lang="en-US" sz="4200" b="1" dirty="0">
                <a:solidFill>
                  <a:schemeClr val="accent1"/>
                </a:solidFill>
                <a:latin typeface="+mj-lt" pitchFamily="34" charset="0"/>
                <a:ea typeface="+mj-lt" pitchFamily="34" charset="-122"/>
                <a:cs typeface="+mj-lt" pitchFamily="34" charset="-120"/>
              </a:rPr>
              <a:t>D</a:t>
            </a:r>
            <a:endParaRPr lang="en-US" sz="4200" dirty="0"/>
          </a:p>
        </p:txBody>
      </p:sp>
      <p:sp>
        <p:nvSpPr>
          <p:cNvPr id="14" name="Text 11"/>
          <p:cNvSpPr txBox="1"/>
          <p:nvPr/>
        </p:nvSpPr>
        <p:spPr>
          <a:xfrm>
            <a:off x="7759690" y="3708441"/>
            <a:ext cx="3556010" cy="609630"/>
          </a:xfrm>
          <a:prstGeom prst="rect">
            <a:avLst/>
          </a:prstGeom>
          <a:noFill/>
          <a:ln/>
        </p:spPr>
        <p:txBody>
          <a:bodyPr wrap="square" lIns="0" tIns="0" rIns="0" bIns="0" rtlCol="0" anchor="ctr"/>
          <a:lstStyle/>
          <a:p>
            <a:pPr indent="0" marL="0">
              <a:buNone/>
            </a:pPr>
            <a:r>
              <a:rPr lang="en-US" sz="1500" b="1" dirty="0">
                <a:solidFill>
                  <a:schemeClr val="tx1"/>
                </a:solidFill>
              </a:rPr>
              <a:t>Débitos</a:t>
            </a:r>
            <a:pPr indent="0" marL="0">
              <a:buNone/>
            </a:pPr>
            <a:endParaRPr lang="en-US" sz="1500" dirty="0"/>
          </a:p>
        </p:txBody>
      </p:sp>
      <p:sp>
        <p:nvSpPr>
          <p:cNvPr id="15" name="Text 12"/>
          <p:cNvSpPr txBox="1"/>
          <p:nvPr/>
        </p:nvSpPr>
        <p:spPr>
          <a:xfrm>
            <a:off x="6985010" y="4317980"/>
            <a:ext cx="698510" cy="609630"/>
          </a:xfrm>
          <a:prstGeom prst="rect">
            <a:avLst/>
          </a:prstGeom>
          <a:noFill/>
          <a:ln/>
        </p:spPr>
        <p:txBody>
          <a:bodyPr wrap="square" lIns="0" tIns="0" rIns="0" bIns="0" rtlCol="0" anchor="ctr"/>
          <a:lstStyle/>
          <a:p>
            <a:pPr indent="0" marL="0">
              <a:buNone/>
            </a:pPr>
            <a:r>
              <a:rPr lang="en-US" sz="4200" b="1" dirty="0">
                <a:solidFill>
                  <a:schemeClr val="accent1"/>
                </a:solidFill>
                <a:latin typeface="+mj-lt" pitchFamily="34" charset="0"/>
                <a:ea typeface="+mj-lt" pitchFamily="34" charset="-122"/>
                <a:cs typeface="+mj-lt" pitchFamily="34" charset="-120"/>
              </a:rPr>
              <a:t>O</a:t>
            </a:r>
            <a:endParaRPr lang="en-US" sz="4200" dirty="0"/>
          </a:p>
        </p:txBody>
      </p:sp>
      <p:sp>
        <p:nvSpPr>
          <p:cNvPr id="16" name="Text 13"/>
          <p:cNvSpPr txBox="1"/>
          <p:nvPr/>
        </p:nvSpPr>
        <p:spPr>
          <a:xfrm>
            <a:off x="7759690" y="4317980"/>
            <a:ext cx="3556010" cy="609630"/>
          </a:xfrm>
          <a:prstGeom prst="rect">
            <a:avLst/>
          </a:prstGeom>
          <a:noFill/>
          <a:ln/>
        </p:spPr>
        <p:txBody>
          <a:bodyPr wrap="square" lIns="0" tIns="0" rIns="0" bIns="0" rtlCol="0" anchor="ctr"/>
          <a:lstStyle/>
          <a:p>
            <a:pPr indent="0" marL="0">
              <a:buNone/>
            </a:pPr>
            <a:r>
              <a:rPr lang="en-US" sz="1500" b="1" dirty="0">
                <a:solidFill>
                  <a:schemeClr val="tx1"/>
                </a:solidFill>
              </a:rPr>
              <a:t>Opacos</a:t>
            </a:r>
            <a:pPr indent="0" marL="0">
              <a:buNone/>
            </a:pPr>
            <a:r>
              <a:rPr lang="en-US" sz="1500" dirty="0">
                <a:solidFill>
                  <a:schemeClr val="accent3"/>
                </a:solidFill>
              </a:rPr>
              <a:t> y</a:t>
            </a:r>
            <a:endParaRPr lang="en-US" sz="1500" dirty="0"/>
          </a:p>
        </p:txBody>
      </p:sp>
      <p:sp>
        <p:nvSpPr>
          <p:cNvPr id="17" name="Text 14"/>
          <p:cNvSpPr txBox="1"/>
          <p:nvPr/>
        </p:nvSpPr>
        <p:spPr>
          <a:xfrm>
            <a:off x="6985010" y="4927610"/>
            <a:ext cx="698510" cy="609630"/>
          </a:xfrm>
          <a:prstGeom prst="rect">
            <a:avLst/>
          </a:prstGeom>
          <a:noFill/>
          <a:ln/>
        </p:spPr>
        <p:txBody>
          <a:bodyPr wrap="square" lIns="0" tIns="0" rIns="0" bIns="0" rtlCol="0" anchor="ctr"/>
          <a:lstStyle/>
          <a:p>
            <a:pPr indent="0" marL="0">
              <a:buNone/>
            </a:pPr>
            <a:r>
              <a:rPr lang="en-US" sz="4200" b="1" dirty="0">
                <a:solidFill>
                  <a:schemeClr val="accent1"/>
                </a:solidFill>
                <a:latin typeface="+mj-lt" pitchFamily="34" charset="0"/>
                <a:ea typeface="+mj-lt" pitchFamily="34" charset="-122"/>
                <a:cs typeface="+mj-lt" pitchFamily="34" charset="-120"/>
              </a:rPr>
              <a:t>R</a:t>
            </a:r>
            <a:endParaRPr lang="en-US" sz="4200" dirty="0"/>
          </a:p>
        </p:txBody>
      </p:sp>
      <p:sp>
        <p:nvSpPr>
          <p:cNvPr id="18" name="Text 15"/>
          <p:cNvSpPr txBox="1"/>
          <p:nvPr/>
        </p:nvSpPr>
        <p:spPr>
          <a:xfrm>
            <a:off x="7759690" y="4927610"/>
            <a:ext cx="3556010" cy="609630"/>
          </a:xfrm>
          <a:prstGeom prst="rect">
            <a:avLst/>
          </a:prstGeom>
          <a:noFill/>
          <a:ln/>
        </p:spPr>
        <p:txBody>
          <a:bodyPr wrap="square" lIns="0" tIns="0" rIns="0" bIns="0" rtlCol="0" anchor="ctr"/>
          <a:lstStyle/>
          <a:p>
            <a:pPr indent="0" marL="0">
              <a:buNone/>
            </a:pPr>
            <a:r>
              <a:rPr lang="en-US" sz="1500" b="1" dirty="0">
                <a:solidFill>
                  <a:schemeClr val="tx1"/>
                </a:solidFill>
              </a:rPr>
              <a:t>Recurrentes</a:t>
            </a:r>
            <a:pPr indent="0" marL="0">
              <a:buNone/>
            </a:pPr>
            <a:endParaRPr lang="en-US" sz="1500" dirty="0"/>
          </a:p>
        </p:txBody>
      </p:sp>
      <p:sp>
        <p:nvSpPr>
          <p:cNvPr id="19" name="Text 3"/>
          <p:cNvSpPr/>
          <p:nvPr>
            <p:ph idx="104" type="title" hasCustomPrompt="1"/>
          </p:nvPr>
        </p:nvSpPr>
        <p:spPr>
          <a:xfrm>
            <a:off x="761970" y="1047720"/>
            <a:ext cx="10159990" cy="1079541"/>
          </a:xfrm>
          <a:prstGeom prst="rect">
            <a:avLst/>
          </a:prstGeom>
          <a:noFill/>
          <a:ln/>
        </p:spPr>
        <p:txBody>
          <a:bodyPr wrap="square" lIns="0" tIns="0" rIns="0" bIns="0" rtlCol="0" anchor="t"/>
          <a:lstStyle/>
          <a:p>
            <a:pPr algn="l" indent="0" marL="0">
              <a:buNone/>
            </a:pPr>
            <a:endParaRPr lang="en-US" sz="3200" dirty="0"/>
          </a:p>
        </p:txBody>
      </p:sp>
      <p:sp>
        <p:nvSpPr>
          <p:cNvPr id="25" name="Slide Number Placeholder 0"/>
          <p:cNvSpPr>
            <a:spLocks noGrp="1"/>
          </p:cNvSpPr>
          <p:nvPr>
            <p:ph type="sldNum" sz="quarter" idx="4294967295"/>
          </p:nvPr>
        </p:nvSpPr>
        <p:spPr>
          <a:xfrm>
            <a:off x="761970" y="279441"/>
            <a:ext cx="368320" cy="368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Inter"/>
                <a:ea typeface="Inter"/>
                <a:cs typeface="Inter"/>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Sección"/>
          <p:cNvSpPr txBox="1"/>
          <p:nvPr/>
        </p:nvSpPr>
        <p:spPr>
          <a:xfrm>
            <a:off x="1257300" y="279441"/>
            <a:ext cx="3810030" cy="368320"/>
          </a:xfrm>
          <a:prstGeom prst="rect">
            <a:avLst/>
          </a:prstGeom>
          <a:noFill/>
          <a:ln/>
        </p:spPr>
        <p:txBody>
          <a:bodyPr wrap="square" lIns="0" tIns="0" rIns="0" bIns="0" rtlCol="0" anchor="ctr"/>
          <a:lstStyle/>
          <a:p>
            <a:pPr indent="0" marL="0">
              <a:buNone/>
            </a:pPr>
            <a:r>
              <a:rPr lang="en-US" sz="800" spc="100" kern="0" dirty="0">
                <a:solidFill>
                  <a:schemeClr val="tx2"/>
                </a:solidFill>
              </a:rPr>
              <a:t>ANEXO · FUENTES</a:t>
            </a:r>
            <a:endParaRPr lang="en-US" sz="800" dirty="0"/>
          </a:p>
        </p:txBody>
      </p:sp>
      <p:sp>
        <p:nvSpPr>
          <p:cNvPr id="4" name="Text 3"/>
          <p:cNvSpPr/>
          <p:nvPr>
            <p:ph idx="104" type="title" hasCustomPrompt="1"/>
          </p:nvPr>
        </p:nvSpPr>
        <p:spPr>
          <a:xfrm>
            <a:off x="761970" y="1047720"/>
            <a:ext cx="10159990" cy="1079541"/>
          </a:xfrm>
          <a:prstGeom prst="rect">
            <a:avLst/>
          </a:prstGeom>
          <a:noFill/>
          <a:ln/>
        </p:spPr>
        <p:txBody>
          <a:bodyPr wrap="square" lIns="0" tIns="0" rIns="0" bIns="0" rtlCol="0" anchor="t"/>
          <a:lstStyle/>
          <a:p>
            <a:pPr algn="l" indent="0" marL="0">
              <a:buNone/>
            </a:pPr>
            <a:r>
              <a:rPr lang="en-US" sz="3200" b="1" dirty="0">
                <a:solidFill>
                  <a:schemeClr val="tx1"/>
                </a:solidFill>
              </a:rPr>
              <a:t>Fuentes</a:t>
            </a:r>
            <a:endParaRPr lang="en-US" sz="3200" dirty="0"/>
          </a:p>
        </p:txBody>
      </p:sp>
      <p:sp>
        <p:nvSpPr>
          <p:cNvPr id="5" name="Text 2"/>
          <p:cNvSpPr txBox="1"/>
          <p:nvPr/>
        </p:nvSpPr>
        <p:spPr>
          <a:xfrm>
            <a:off x="761970" y="1651041"/>
            <a:ext cx="5080041" cy="4572000"/>
          </a:xfrm>
          <a:prstGeom prst="rect">
            <a:avLst/>
          </a:prstGeom>
          <a:noFill/>
          <a:ln/>
        </p:spPr>
        <p:txBody>
          <a:bodyPr wrap="square" lIns="0" tIns="0" rIns="0" bIns="0" rtlCol="0" anchor="t"/>
          <a:lstStyle/>
          <a:p>
            <a:pPr indent="0" marL="0">
              <a:spcAft>
                <a:spcPts val="600"/>
              </a:spcAft>
              <a:buNone/>
            </a:pPr>
            <a:r>
              <a:rPr lang="en-US" sz="850" b="1" dirty="0">
                <a:solidFill>
                  <a:schemeClr val="accent1"/>
                </a:solidFill>
              </a:rPr>
              <a:t>[1] </a:t>
            </a:r>
            <a:pPr indent="0" marL="0">
              <a:spcAft>
                <a:spcPts val="600"/>
              </a:spcAft>
              <a:buNone/>
            </a:pPr>
            <a:r>
              <a:rPr lang="en-US" sz="850" dirty="0">
                <a:solidFill>
                  <a:schemeClr val="tx2"/>
                </a:solidFill>
              </a:rPr>
              <a:t>SERNAC, Ranking Financiero 2022: 19.370 reclamos por cobros (1er sem.) y 30,6% de 58.690 (2º sem.). Vía Diario Financiero y La Tercera. Total anual estimado por el equipo.</a:t>
            </a:r>
            <a:endParaRPr lang="en-US" sz="850" dirty="0"/>
          </a:p>
          <a:p>
            <a:pPr indent="0" marL="0">
              <a:spcAft>
                <a:spcPts val="600"/>
              </a:spcAft>
              <a:buNone/>
            </a:pPr>
            <a:r>
              <a:rPr lang="en-US" sz="700" u="sng" dirty="0">
                <a:solidFill>
                  <a:schemeClr val="accent1"/>
                </a:solidFill>
                <a:hlinkClick r:id="rId1" invalidUrl="" action="" tgtFrame="" tooltip="" history="1" highlightClick="0" endSnd="0">
                  <a:extLst>
                    <a:ext uri="{A12FA001-AC4F-418D-AE19-62706E023703}">
                      <ahyp:hlinkClr xmlns:ahyp="http://schemas.microsoft.com/office/drawing/2018/hyperlinkcolor" val="tx"/>
                    </a:ext>
                  </a:extLst>
                </a:hlinkClick>
              </a:rPr>
              <a:t>df.cl/reclamos-contra-el-mercado-financiero-aumentan-11-y-superan-las-…</a:t>
            </a:r>
            <a:endParaRPr lang="en-US" sz="850" dirty="0"/>
          </a:p>
          <a:p>
            <a:pPr indent="0" marL="0">
              <a:spcAft>
                <a:spcPts val="600"/>
              </a:spcAft>
              <a:buNone/>
            </a:pPr>
            <a:r>
              <a:rPr lang="en-US" sz="850" b="1" dirty="0">
                <a:solidFill>
                  <a:schemeClr val="accent1"/>
                </a:solidFill>
              </a:rPr>
              <a:t>[2] </a:t>
            </a:r>
            <a:pPr indent="0" marL="0">
              <a:spcAft>
                <a:spcPts val="600"/>
              </a:spcAft>
              <a:buNone/>
            </a:pPr>
            <a:r>
              <a:rPr lang="en-US" sz="850" dirty="0">
                <a:solidFill>
                  <a:schemeClr val="tx2"/>
                </a:solidFill>
              </a:rPr>
              <a:t>SERNAC (jun-2025), estudio "Uso de Plataformas de Streaming en Chile": gasto promedio $22.809 al mes. Vía The Clinic.</a:t>
            </a:r>
            <a:endParaRPr lang="en-US" sz="850" dirty="0"/>
          </a:p>
          <a:p>
            <a:pPr indent="0" marL="0">
              <a:spcAft>
                <a:spcPts val="600"/>
              </a:spcAft>
              <a:buNone/>
            </a:pPr>
            <a:r>
              <a:rPr lang="en-US" sz="700"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theclinic.cl/2025/06/12/estudio-revelo-que-el-gasto-promedio-mensual-d…</a:t>
            </a:r>
            <a:endParaRPr lang="en-US" sz="850" dirty="0"/>
          </a:p>
          <a:p>
            <a:pPr indent="0" marL="0">
              <a:spcAft>
                <a:spcPts val="600"/>
              </a:spcAft>
              <a:buNone/>
            </a:pPr>
            <a:r>
              <a:rPr lang="en-US" sz="850" b="1" dirty="0">
                <a:solidFill>
                  <a:schemeClr val="accent1"/>
                </a:solidFill>
              </a:rPr>
              <a:t>[3] </a:t>
            </a:r>
            <a:pPr indent="0" marL="0">
              <a:spcAft>
                <a:spcPts val="600"/>
              </a:spcAft>
              <a:buNone/>
            </a:pPr>
            <a:r>
              <a:rPr lang="en-US" sz="850" dirty="0">
                <a:solidFill>
                  <a:schemeClr val="tx2"/>
                </a:solidFill>
              </a:rPr>
              <a:t>Cortés, J. y Ormazábal, F. (oct-2025). Nota Técnica "Antecedentes sobre la aplicación de la Ley de Fraudes". CMF.</a:t>
            </a:r>
            <a:endParaRPr lang="en-US" sz="850" dirty="0"/>
          </a:p>
          <a:p>
            <a:pPr indent="0" marL="0">
              <a:spcAft>
                <a:spcPts val="600"/>
              </a:spcAft>
              <a:buNone/>
            </a:pPr>
            <a:r>
              <a:rPr lang="en-US" sz="700" u="sng" dirty="0">
                <a:solidFill>
                  <a:schemeClr val="accent1"/>
                </a:solidFill>
                <a:hlinkClick r:id="rId3" invalidUrl="" action="" tgtFrame="" tooltip="" history="1" highlightClick="0" endSnd="0">
                  <a:extLst>
                    <a:ext uri="{A12FA001-AC4F-418D-AE19-62706E023703}">
                      <ahyp:hlinkClr xmlns:ahyp="http://schemas.microsoft.com/office/drawing/2018/hyperlinkcolor" val="tx"/>
                    </a:ext>
                  </a:extLst>
                </a:hlinkClick>
              </a:rPr>
              <a:t>cmfchile.cl/portal/estadisticas/617/articles-100079_doc_pdf.pdf</a:t>
            </a:r>
            <a:endParaRPr lang="en-US" sz="850" dirty="0"/>
          </a:p>
          <a:p>
            <a:pPr indent="0" marL="0">
              <a:spcAft>
                <a:spcPts val="600"/>
              </a:spcAft>
              <a:buNone/>
            </a:pPr>
            <a:r>
              <a:rPr lang="en-US" sz="850" b="1" dirty="0">
                <a:solidFill>
                  <a:schemeClr val="accent1"/>
                </a:solidFill>
              </a:rPr>
              <a:t>[4] </a:t>
            </a:r>
            <a:pPr indent="0" marL="0">
              <a:spcAft>
                <a:spcPts val="600"/>
              </a:spcAft>
              <a:buNone/>
            </a:pPr>
            <a:r>
              <a:rPr lang="en-US" sz="850" dirty="0">
                <a:solidFill>
                  <a:schemeClr val="tx2"/>
                </a:solidFill>
              </a:rPr>
              <a:t>Ley 20.009, modificada por la Ley 21.234 (2020) y la Ley 21.673 (2024). Resumen de cambios en [3].</a:t>
            </a:r>
            <a:endParaRPr lang="en-US" sz="850" dirty="0"/>
          </a:p>
          <a:p>
            <a:pPr indent="0" marL="0">
              <a:spcAft>
                <a:spcPts val="600"/>
              </a:spcAft>
              <a:buNone/>
            </a:pPr>
            <a:r>
              <a:rPr lang="en-US" sz="850" b="1" dirty="0">
                <a:solidFill>
                  <a:schemeClr val="accent1"/>
                </a:solidFill>
              </a:rPr>
              <a:t>[5] </a:t>
            </a:r>
            <a:pPr indent="0" marL="0">
              <a:spcAft>
                <a:spcPts val="600"/>
              </a:spcAft>
              <a:buNone/>
            </a:pPr>
            <a:r>
              <a:rPr lang="en-US" sz="850" dirty="0">
                <a:solidFill>
                  <a:schemeClr val="tx2"/>
                </a:solidFill>
              </a:rPr>
              <a:t>The Clinic (abr-2024). SERNAC oficia a Rappi por cobros indebidos de membresía.</a:t>
            </a:r>
            <a:endParaRPr lang="en-US" sz="850" dirty="0"/>
          </a:p>
          <a:p>
            <a:pPr indent="0" marL="0">
              <a:spcAft>
                <a:spcPts val="600"/>
              </a:spcAft>
              <a:buNone/>
            </a:pPr>
            <a:r>
              <a:rPr lang="en-US" sz="700" u="sng" dirty="0">
                <a:solidFill>
                  <a:schemeClr val="accent1"/>
                </a:solidFill>
                <a:hlinkClick r:id="rId4" invalidUrl="" action="" tgtFrame="" tooltip="" history="1" highlightClick="0" endSnd="0">
                  <a:extLst>
                    <a:ext uri="{A12FA001-AC4F-418D-AE19-62706E023703}">
                      <ahyp:hlinkClr xmlns:ahyp="http://schemas.microsoft.com/office/drawing/2018/hyperlinkcolor" val="tx"/>
                    </a:ext>
                  </a:extLst>
                </a:hlinkClick>
              </a:rPr>
              <a:t>theclinic.cl/2024/04/03/sernac-rappi-cobros-indebidos-oficio/</a:t>
            </a:r>
            <a:endParaRPr lang="en-US" sz="850" dirty="0"/>
          </a:p>
          <a:p>
            <a:pPr indent="0" marL="0">
              <a:spcAft>
                <a:spcPts val="600"/>
              </a:spcAft>
              <a:buNone/>
            </a:pPr>
            <a:r>
              <a:rPr lang="en-US" sz="850" b="1" dirty="0">
                <a:solidFill>
                  <a:schemeClr val="accent1"/>
                </a:solidFill>
              </a:rPr>
              <a:t>[6] </a:t>
            </a:r>
            <a:pPr indent="0" marL="0">
              <a:spcAft>
                <a:spcPts val="600"/>
              </a:spcAft>
              <a:buNone/>
            </a:pPr>
            <a:r>
              <a:rPr lang="en-US" sz="850" dirty="0">
                <a:solidFill>
                  <a:schemeClr val="tx2"/>
                </a:solidFill>
              </a:rPr>
              <a:t>Visa (26-mar-2026). Visa launches Enhanced Subscription Manager.</a:t>
            </a:r>
            <a:endParaRPr lang="en-US" sz="850" dirty="0"/>
          </a:p>
          <a:p>
            <a:pPr indent="0" marL="0">
              <a:spcAft>
                <a:spcPts val="600"/>
              </a:spcAft>
              <a:buNone/>
            </a:pPr>
            <a:r>
              <a:rPr lang="en-US" sz="700" u="sng" dirty="0">
                <a:solidFill>
                  <a:schemeClr val="accent1"/>
                </a:solidFill>
                <a:hlinkClick r:id="rId5" invalidUrl="" action="" tgtFrame="" tooltip="" history="1" highlightClick="0" endSnd="0">
                  <a:extLst>
                    <a:ext uri="{A12FA001-AC4F-418D-AE19-62706E023703}">
                      <ahyp:hlinkClr xmlns:ahyp="http://schemas.microsoft.com/office/drawing/2018/hyperlinkcolor" val="tx"/>
                    </a:ext>
                  </a:extLst>
                </a:hlinkClick>
              </a:rPr>
              <a:t>corporate.visa.com/en/sites/visa-perspectives/newsroom/visa-enhanced-s…</a:t>
            </a:r>
            <a:endParaRPr lang="en-US" sz="850" dirty="0"/>
          </a:p>
          <a:p>
            <a:pPr indent="0" marL="0">
              <a:spcAft>
                <a:spcPts val="600"/>
              </a:spcAft>
              <a:buNone/>
            </a:pPr>
            <a:r>
              <a:rPr lang="en-US" sz="850" b="1" dirty="0">
                <a:solidFill>
                  <a:schemeClr val="accent1"/>
                </a:solidFill>
              </a:rPr>
              <a:t>[7] </a:t>
            </a:r>
            <a:pPr indent="0" marL="0">
              <a:spcAft>
                <a:spcPts val="600"/>
              </a:spcAft>
              <a:buNone/>
            </a:pPr>
            <a:r>
              <a:rPr lang="en-US" sz="850" dirty="0">
                <a:solidFill>
                  <a:schemeClr val="tx2"/>
                </a:solidFill>
              </a:rPr>
              <a:t>Nubank (dic-2025). Nubank launches subscription manager to help control recurring charges.</a:t>
            </a:r>
            <a:endParaRPr lang="en-US" sz="850" dirty="0"/>
          </a:p>
          <a:p>
            <a:pPr indent="0" marL="0">
              <a:spcAft>
                <a:spcPts val="600"/>
              </a:spcAft>
              <a:buNone/>
            </a:pPr>
            <a:r>
              <a:rPr lang="en-US" sz="700" u="sng" dirty="0">
                <a:solidFill>
                  <a:schemeClr val="accent1"/>
                </a:solidFill>
                <a:hlinkClick r:id="rId6" invalidUrl="" action="" tgtFrame="" tooltip="" history="1" highlightClick="0" endSnd="0">
                  <a:extLst>
                    <a:ext uri="{A12FA001-AC4F-418D-AE19-62706E023703}">
                      <ahyp:hlinkClr xmlns:ahyp="http://schemas.microsoft.com/office/drawing/2018/hyperlinkcolor" val="tx"/>
                    </a:ext>
                  </a:extLst>
                </a:hlinkClick>
              </a:rPr>
              <a:t>nu.com/en/newsroom/consumers/nubank-launches-subscription-manager-to-h…</a:t>
            </a:r>
            <a:endParaRPr lang="en-US" sz="850" dirty="0"/>
          </a:p>
        </p:txBody>
      </p:sp>
      <p:sp>
        <p:nvSpPr>
          <p:cNvPr id="6" name="Text 3"/>
          <p:cNvSpPr txBox="1"/>
          <p:nvPr/>
        </p:nvSpPr>
        <p:spPr>
          <a:xfrm>
            <a:off x="6286500" y="1651041"/>
            <a:ext cx="5143500" cy="4572000"/>
          </a:xfrm>
          <a:prstGeom prst="rect">
            <a:avLst/>
          </a:prstGeom>
          <a:noFill/>
          <a:ln/>
        </p:spPr>
        <p:txBody>
          <a:bodyPr wrap="square" lIns="0" tIns="0" rIns="0" bIns="0" rtlCol="0" anchor="t"/>
          <a:lstStyle/>
          <a:p>
            <a:pPr indent="0" marL="0">
              <a:spcAft>
                <a:spcPts val="600"/>
              </a:spcAft>
              <a:buNone/>
            </a:pPr>
            <a:r>
              <a:rPr lang="en-US" sz="850" b="1" dirty="0">
                <a:solidFill>
                  <a:schemeClr val="accent1"/>
                </a:solidFill>
              </a:rPr>
              <a:t>[8] </a:t>
            </a:r>
            <a:pPr indent="0" marL="0">
              <a:spcAft>
                <a:spcPts val="600"/>
              </a:spcAft>
              <a:buNone/>
            </a:pPr>
            <a:r>
              <a:rPr lang="en-US" sz="850" dirty="0">
                <a:solidFill>
                  <a:schemeClr val="tx2"/>
                </a:solidFill>
              </a:rPr>
              <a:t>Rocket Money, sitio oficial del producto.</a:t>
            </a:r>
            <a:endParaRPr lang="en-US" sz="850" dirty="0"/>
          </a:p>
          <a:p>
            <a:pPr indent="0" marL="0">
              <a:spcAft>
                <a:spcPts val="600"/>
              </a:spcAft>
              <a:buNone/>
            </a:pPr>
            <a:r>
              <a:rPr lang="en-US" sz="700" u="sng" dirty="0">
                <a:solidFill>
                  <a:schemeClr val="accent1"/>
                </a:solidFill>
                <a:hlinkClick r:id="rId7" invalidUrl="" action="" tgtFrame="" tooltip="" history="1" highlightClick="0" endSnd="0">
                  <a:extLst>
                    <a:ext uri="{A12FA001-AC4F-418D-AE19-62706E023703}">
                      <ahyp:hlinkClr xmlns:ahyp="http://schemas.microsoft.com/office/drawing/2018/hyperlinkcolor" val="tx"/>
                    </a:ext>
                  </a:extLst>
                </a:hlinkClick>
              </a:rPr>
              <a:t>rocketmoney.com</a:t>
            </a:r>
            <a:endParaRPr lang="en-US" sz="850" dirty="0"/>
          </a:p>
          <a:p>
            <a:pPr indent="0" marL="0">
              <a:spcAft>
                <a:spcPts val="600"/>
              </a:spcAft>
              <a:buNone/>
            </a:pPr>
            <a:r>
              <a:rPr lang="en-US" sz="850" b="1" dirty="0">
                <a:solidFill>
                  <a:schemeClr val="accent1"/>
                </a:solidFill>
              </a:rPr>
              <a:t>[9] </a:t>
            </a:r>
            <a:pPr indent="0" marL="0">
              <a:spcAft>
                <a:spcPts val="600"/>
              </a:spcAft>
              <a:buNone/>
            </a:pPr>
            <a:r>
              <a:rPr lang="en-US" sz="850" dirty="0">
                <a:solidFill>
                  <a:schemeClr val="tx2"/>
                </a:solidFill>
              </a:rPr>
              <a:t>CMF (mar-2026). Calificación anual de bancos de importancia sistémica (6 bancos).</a:t>
            </a:r>
            <a:endParaRPr lang="en-US" sz="850" dirty="0"/>
          </a:p>
          <a:p>
            <a:pPr indent="0" marL="0">
              <a:spcAft>
                <a:spcPts val="600"/>
              </a:spcAft>
              <a:buNone/>
            </a:pPr>
            <a:r>
              <a:rPr lang="en-US" sz="700" u="sng" dirty="0">
                <a:solidFill>
                  <a:schemeClr val="accent1"/>
                </a:solidFill>
                <a:hlinkClick r:id="rId8" invalidUrl="" action="" tgtFrame="" tooltip="" history="1" highlightClick="0" endSnd="0">
                  <a:extLst>
                    <a:ext uri="{A12FA001-AC4F-418D-AE19-62706E023703}">
                      <ahyp:hlinkClr xmlns:ahyp="http://schemas.microsoft.com/office/drawing/2018/hyperlinkcolor" val="tx"/>
                    </a:ext>
                  </a:extLst>
                </a:hlinkClick>
              </a:rPr>
              <a:t>cmfchile.cl/portal/prensa/625/w4-article-109087.html</a:t>
            </a:r>
            <a:endParaRPr lang="en-US" sz="850" dirty="0"/>
          </a:p>
          <a:p>
            <a:pPr indent="0" marL="0">
              <a:spcAft>
                <a:spcPts val="600"/>
              </a:spcAft>
              <a:buNone/>
            </a:pPr>
            <a:r>
              <a:rPr lang="en-US" sz="850" b="1" dirty="0">
                <a:solidFill>
                  <a:schemeClr val="accent1"/>
                </a:solidFill>
              </a:rPr>
              <a:t>[10] </a:t>
            </a:r>
            <a:pPr indent="0" marL="0">
              <a:spcAft>
                <a:spcPts val="600"/>
              </a:spcAft>
              <a:buNone/>
            </a:pPr>
            <a:r>
              <a:rPr lang="en-US" sz="850" dirty="0">
                <a:solidFill>
                  <a:schemeClr val="tx2"/>
                </a:solidFill>
              </a:rPr>
              <a:t>Ley 21.521 (2023), Ley Fintec, y Ley 21.719 (2024), de protección de datos personales.</a:t>
            </a:r>
            <a:endParaRPr lang="en-US" sz="850" dirty="0"/>
          </a:p>
          <a:p>
            <a:pPr indent="0" marL="0">
              <a:spcAft>
                <a:spcPts val="600"/>
              </a:spcAft>
              <a:buNone/>
            </a:pPr>
            <a:r>
              <a:rPr lang="en-US" sz="850" b="1" dirty="0">
                <a:solidFill>
                  <a:schemeClr val="accent1"/>
                </a:solidFill>
              </a:rPr>
              <a:t>[11] </a:t>
            </a:r>
            <a:pPr indent="0" marL="0">
              <a:spcAft>
                <a:spcPts val="600"/>
              </a:spcAft>
              <a:buNone/>
            </a:pPr>
            <a:r>
              <a:rPr lang="en-US" sz="850" dirty="0">
                <a:solidFill>
                  <a:schemeClr val="tx2"/>
                </a:solidFill>
              </a:rPr>
              <a:t>Código, dataset sintético, evaluación y capturas del prototipo CONDOR (repositorio del equipo, octubre 2026).</a:t>
            </a:r>
            <a:endParaRPr lang="en-US" sz="850" dirty="0"/>
          </a:p>
          <a:p>
            <a:pPr indent="0" marL="0">
              <a:spcAft>
                <a:spcPts val="600"/>
              </a:spcAft>
              <a:buNone/>
            </a:pPr>
            <a:r>
              <a:rPr lang="en-US" sz="850" b="1" dirty="0">
                <a:solidFill>
                  <a:schemeClr val="accent1"/>
                </a:solidFill>
              </a:rPr>
              <a:t>[12] </a:t>
            </a:r>
            <a:pPr indent="0" marL="0">
              <a:spcAft>
                <a:spcPts val="600"/>
              </a:spcAft>
              <a:buNone/>
            </a:pPr>
            <a:r>
              <a:rPr lang="en-US" sz="850" dirty="0">
                <a:solidFill>
                  <a:schemeClr val="tx2"/>
                </a:solidFill>
              </a:rPr>
              <a:t>BancoEstado, "Mis Suscripciones en mi App BancoEstado": muestra suscripciones de comercios que usan tokenización.</a:t>
            </a:r>
            <a:endParaRPr lang="en-US" sz="850" dirty="0"/>
          </a:p>
          <a:p>
            <a:pPr indent="0" marL="0">
              <a:spcAft>
                <a:spcPts val="600"/>
              </a:spcAft>
              <a:buNone/>
            </a:pPr>
            <a:r>
              <a:rPr lang="en-US" sz="700" u="sng" dirty="0">
                <a:solidFill>
                  <a:schemeClr val="accent1"/>
                </a:solidFill>
                <a:hlinkClick r:id="rId9" invalidUrl="" action="" tgtFrame="" tooltip="" history="1" highlightClick="0" endSnd="0">
                  <a:extLst>
                    <a:ext uri="{A12FA001-AC4F-418D-AE19-62706E023703}">
                      <ahyp:hlinkClr xmlns:ahyp="http://schemas.microsoft.com/office/drawing/2018/hyperlinkcolor" val="tx"/>
                    </a:ext>
                  </a:extLst>
                </a:hlinkClick>
              </a:rPr>
              <a:t>bancoestado.cl/content/bancoestado-public/cl/es/home/home/app-bancoest…</a:t>
            </a:r>
            <a:endParaRPr lang="en-US" sz="850" dirty="0"/>
          </a:p>
          <a:p>
            <a:pPr indent="0" marL="0">
              <a:spcAft>
                <a:spcPts val="600"/>
              </a:spcAft>
              <a:buNone/>
            </a:pPr>
            <a:r>
              <a:rPr lang="en-US" sz="850" b="1" dirty="0">
                <a:solidFill>
                  <a:schemeClr val="accent1"/>
                </a:solidFill>
              </a:rPr>
              <a:t>[13] </a:t>
            </a:r>
            <a:pPr indent="0" marL="0">
              <a:spcAft>
                <a:spcPts val="600"/>
              </a:spcAft>
              <a:buNone/>
            </a:pPr>
            <a:r>
              <a:rPr lang="en-US" sz="850" dirty="0">
                <a:solidFill>
                  <a:schemeClr val="tx2"/>
                </a:solidFill>
              </a:rPr>
              <a:t>Visa, Visa Stop Payment Service: permite a los emisores detener pagos con tarjeta guardada, incluidos los recurrentes, antes de autorizarlos.</a:t>
            </a:r>
            <a:endParaRPr lang="en-US" sz="850" dirty="0"/>
          </a:p>
          <a:p>
            <a:pPr indent="0" marL="0">
              <a:spcAft>
                <a:spcPts val="600"/>
              </a:spcAft>
              <a:buNone/>
            </a:pPr>
            <a:r>
              <a:rPr lang="en-US" sz="700" u="sng" dirty="0">
                <a:solidFill>
                  <a:schemeClr val="accent1"/>
                </a:solidFill>
                <a:hlinkClick r:id="rId10" invalidUrl="" action="" tgtFrame="" tooltip="" history="1" highlightClick="0" endSnd="0">
                  <a:extLst>
                    <a:ext uri="{A12FA001-AC4F-418D-AE19-62706E023703}">
                      <ahyp:hlinkClr xmlns:ahyp="http://schemas.microsoft.com/office/drawing/2018/hyperlinkcolor" val="tx"/>
                    </a:ext>
                  </a:extLst>
                </a:hlinkClick>
              </a:rPr>
              <a:t>developer.visa.com/capabilities/visa-stop-payment-service/overview</a:t>
            </a:r>
            <a:endParaRPr lang="en-US" sz="850" dirty="0"/>
          </a:p>
          <a:p>
            <a:pPr indent="0" marL="0">
              <a:spcAft>
                <a:spcPts val="600"/>
              </a:spcAft>
              <a:buNone/>
            </a:pPr>
            <a:r>
              <a:rPr lang="en-US" sz="850" b="1" dirty="0">
                <a:solidFill>
                  <a:schemeClr val="accent1"/>
                </a:solidFill>
              </a:rPr>
              <a:t>[14] </a:t>
            </a:r>
            <a:pPr indent="0" marL="0">
              <a:spcAft>
                <a:spcPts val="600"/>
              </a:spcAft>
              <a:buNone/>
            </a:pPr>
            <a:r>
              <a:rPr lang="en-US" sz="850" dirty="0">
                <a:solidFill>
                  <a:schemeClr val="tx2"/>
                </a:solidFill>
              </a:rPr>
              <a:t>Encuesta de testeo del prototipo a 8 usuarios, octubre 2026. Informe E2 del grupo 68, sección 4.1.</a:t>
            </a:r>
            <a:endParaRPr lang="en-US" sz="850" dirty="0"/>
          </a:p>
        </p:txBody>
      </p:sp>
      <p:sp>
        <p:nvSpPr>
          <p:cNvPr id="7" name="Fuente"/>
          <p:cNvSpPr txBox="1"/>
          <p:nvPr/>
        </p:nvSpPr>
        <p:spPr>
          <a:xfrm>
            <a:off x="761970" y="6464259"/>
            <a:ext cx="10668030" cy="190470"/>
          </a:xfrm>
          <a:prstGeom prst="rect">
            <a:avLst/>
          </a:prstGeom>
          <a:noFill/>
          <a:ln/>
        </p:spPr>
        <p:txBody>
          <a:bodyPr wrap="square" lIns="0" tIns="0" rIns="0" bIns="0" rtlCol="0" anchor="t"/>
          <a:lstStyle/>
          <a:p>
            <a:pPr indent="0" marL="0">
              <a:buNone/>
            </a:pPr>
            <a:r>
              <a:rPr lang="en-US" sz="700" dirty="0">
                <a:solidFill>
                  <a:schemeClr val="accent3"/>
                </a:solidFill>
              </a:rPr>
              <a:t>Las cifras marcadas como pendientes no tienen fuente verificada todavía.</a:t>
            </a:r>
            <a:endParaRPr lang="en-US" sz="700" dirty="0"/>
          </a:p>
        </p:txBody>
      </p:sp>
      <p:sp>
        <p:nvSpPr>
          <p:cNvPr id="25" name="Slide Number Placeholder 0"/>
          <p:cNvSpPr>
            <a:spLocks noGrp="1"/>
          </p:cNvSpPr>
          <p:nvPr>
            <p:ph type="sldNum" sz="quarter" idx="4294967295"/>
          </p:nvPr>
        </p:nvSpPr>
        <p:spPr>
          <a:xfrm>
            <a:off x="761970" y="279441"/>
            <a:ext cx="368320" cy="368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Inter"/>
                <a:ea typeface="Inter"/>
                <a:cs typeface="Inter"/>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Sección"/>
          <p:cNvSpPr txBox="1"/>
          <p:nvPr/>
        </p:nvSpPr>
        <p:spPr>
          <a:xfrm>
            <a:off x="1257300" y="279441"/>
            <a:ext cx="3810030" cy="368320"/>
          </a:xfrm>
          <a:prstGeom prst="rect">
            <a:avLst/>
          </a:prstGeom>
          <a:noFill/>
          <a:ln/>
        </p:spPr>
        <p:txBody>
          <a:bodyPr wrap="square" lIns="0" tIns="0" rIns="0" bIns="0" rtlCol="0" anchor="ctr"/>
          <a:lstStyle/>
          <a:p>
            <a:pPr indent="0" marL="0">
              <a:buNone/>
            </a:pPr>
            <a:r>
              <a:rPr lang="en-US" sz="800" spc="100" kern="0" dirty="0">
                <a:solidFill>
                  <a:schemeClr val="tx2"/>
                </a:solidFill>
              </a:rPr>
              <a:t>ANEXO · USO DE IA</a:t>
            </a:r>
            <a:endParaRPr lang="en-US" sz="800" dirty="0"/>
          </a:p>
        </p:txBody>
      </p:sp>
      <p:sp>
        <p:nvSpPr>
          <p:cNvPr id="4" name="Text 3"/>
          <p:cNvSpPr/>
          <p:nvPr>
            <p:ph idx="104" type="title" hasCustomPrompt="1"/>
          </p:nvPr>
        </p:nvSpPr>
        <p:spPr>
          <a:xfrm>
            <a:off x="761970" y="1047720"/>
            <a:ext cx="10159990" cy="1079541"/>
          </a:xfrm>
          <a:prstGeom prst="rect">
            <a:avLst/>
          </a:prstGeom>
          <a:noFill/>
          <a:ln/>
        </p:spPr>
        <p:txBody>
          <a:bodyPr wrap="square" lIns="0" tIns="0" rIns="0" bIns="0" rtlCol="0" anchor="t"/>
          <a:lstStyle/>
          <a:p>
            <a:pPr algn="l" indent="0" marL="0">
              <a:buNone/>
            </a:pPr>
            <a:r>
              <a:rPr lang="en-US" sz="3200" b="1" dirty="0">
                <a:solidFill>
                  <a:schemeClr val="tx1"/>
                </a:solidFill>
              </a:rPr>
              <a:t>Declaración de uso de inteligencia artificial</a:t>
            </a:r>
            <a:endParaRPr lang="en-US" sz="3200" dirty="0"/>
          </a:p>
        </p:txBody>
      </p:sp>
      <p:sp>
        <p:nvSpPr>
          <p:cNvPr id="5" name="Text 2"/>
          <p:cNvSpPr txBox="1"/>
          <p:nvPr/>
        </p:nvSpPr>
        <p:spPr>
          <a:xfrm>
            <a:off x="761970" y="1841510"/>
            <a:ext cx="4444990" cy="190470"/>
          </a:xfrm>
          <a:prstGeom prst="rect">
            <a:avLst/>
          </a:prstGeom>
          <a:noFill/>
          <a:ln/>
        </p:spPr>
        <p:txBody>
          <a:bodyPr wrap="square" lIns="0" tIns="0" rIns="0" bIns="0" rtlCol="0" anchor="t"/>
          <a:lstStyle/>
          <a:p>
            <a:pPr indent="0" marL="0">
              <a:buNone/>
            </a:pPr>
            <a:r>
              <a:rPr lang="en-US" sz="800" b="1" spc="100" kern="0" dirty="0">
                <a:solidFill>
                  <a:schemeClr val="accent1"/>
                </a:solidFill>
              </a:rPr>
              <a:t>HERRAMIENTA Y PROPÓSITO</a:t>
            </a:r>
            <a:endParaRPr lang="en-US" sz="800" dirty="0"/>
          </a:p>
        </p:txBody>
      </p:sp>
      <p:sp>
        <p:nvSpPr>
          <p:cNvPr id="6" name="Text 3"/>
          <p:cNvSpPr txBox="1"/>
          <p:nvPr/>
        </p:nvSpPr>
        <p:spPr>
          <a:xfrm>
            <a:off x="761970" y="2095530"/>
            <a:ext cx="4826020" cy="2540020"/>
          </a:xfrm>
          <a:prstGeom prst="rect">
            <a:avLst/>
          </a:prstGeom>
          <a:noFill/>
          <a:ln/>
        </p:spPr>
        <p:txBody>
          <a:bodyPr wrap="square" lIns="0" tIns="0" rIns="0" bIns="0" rtlCol="0" anchor="t"/>
          <a:lstStyle/>
          <a:p>
            <a:pPr indent="0" marL="0">
              <a:spcAft>
                <a:spcPts val="1200"/>
              </a:spcAft>
              <a:buNone/>
            </a:pPr>
            <a:r>
              <a:rPr lang="en-US" sz="1150" b="1" dirty="0">
                <a:solidFill>
                  <a:schemeClr val="tx1"/>
                </a:solidFill>
              </a:rPr>
              <a:t>Claude (Anthropic), vía Claude Code. </a:t>
            </a:r>
            <a:pPr indent="0" marL="0">
              <a:spcAft>
                <a:spcPts val="1200"/>
              </a:spcAft>
              <a:buNone/>
            </a:pPr>
            <a:r>
              <a:rPr lang="en-US" sz="1150" dirty="0">
                <a:solidFill>
                  <a:schemeClr val="tx2"/>
                </a:solidFill>
              </a:rPr>
              <a:t>Usada para diseñar y programar esta presentación, proponer su estructura según la pauta y la guía extendida de la E2, buscar y verificar fuentes públicas, y capturar pantallas del prototipo.</a:t>
            </a:r>
            <a:endParaRPr lang="en-US" sz="1150" dirty="0"/>
          </a:p>
          <a:p>
            <a:pPr indent="0" marL="0">
              <a:spcAft>
                <a:spcPts val="1200"/>
              </a:spcAft>
              <a:buNone/>
            </a:pPr>
            <a:r>
              <a:rPr lang="en-US" sz="1150" dirty="0">
                <a:solidFill>
                  <a:srgbClr val="2563EB"/>
                </a:solidFill>
                <a:highlight>
                  <a:srgbClr val="E8EFFC"/>
                </a:highlight>
              </a:rPr>
              <a:t>Agregar otros usos (p. ej., apoyo en el código del prototipo)</a:t>
            </a:r>
            <a:endParaRPr lang="en-US" sz="1150" dirty="0"/>
          </a:p>
        </p:txBody>
      </p:sp>
      <p:sp>
        <p:nvSpPr>
          <p:cNvPr id="7" name="Text 4"/>
          <p:cNvSpPr txBox="1"/>
          <p:nvPr/>
        </p:nvSpPr>
        <p:spPr>
          <a:xfrm>
            <a:off x="6286500" y="1841510"/>
            <a:ext cx="4444990" cy="190470"/>
          </a:xfrm>
          <a:prstGeom prst="rect">
            <a:avLst/>
          </a:prstGeom>
          <a:noFill/>
          <a:ln/>
        </p:spPr>
        <p:txBody>
          <a:bodyPr wrap="square" lIns="0" tIns="0" rIns="0" bIns="0" rtlCol="0" anchor="t"/>
          <a:lstStyle/>
          <a:p>
            <a:pPr indent="0" marL="0">
              <a:buNone/>
            </a:pPr>
            <a:r>
              <a:rPr lang="en-US" sz="800" b="1" spc="100" kern="0" dirty="0">
                <a:solidFill>
                  <a:schemeClr val="accent1"/>
                </a:solidFill>
              </a:rPr>
              <a:t>CÓMO INFLUYÓ Y RESPONSABILIDAD</a:t>
            </a:r>
            <a:endParaRPr lang="en-US" sz="800" dirty="0"/>
          </a:p>
        </p:txBody>
      </p:sp>
      <p:sp>
        <p:nvSpPr>
          <p:cNvPr id="8" name="Text 5"/>
          <p:cNvSpPr txBox="1"/>
          <p:nvPr/>
        </p:nvSpPr>
        <p:spPr>
          <a:xfrm>
            <a:off x="6286500" y="2095530"/>
            <a:ext cx="5143500" cy="2540020"/>
          </a:xfrm>
          <a:prstGeom prst="rect">
            <a:avLst/>
          </a:prstGeom>
          <a:noFill/>
          <a:ln/>
        </p:spPr>
        <p:txBody>
          <a:bodyPr wrap="square" lIns="0" tIns="0" rIns="0" bIns="0" rtlCol="0" anchor="t"/>
          <a:lstStyle/>
          <a:p>
            <a:pPr indent="0" marL="0">
              <a:buNone/>
            </a:pPr>
            <a:r>
              <a:rPr lang="en-US" sz="1150" dirty="0">
                <a:solidFill>
                  <a:schemeClr val="tx2"/>
                </a:solidFill>
              </a:rPr>
              <a:t>La IA propuso estructura, redacción y diseño. El equipo revisó, corrigió y validó cada contenido y cifra. Las entrevistas, las decisiones del proyecto y el prototipo son trabajo del equipo, que responde por la exactitud de todo el material.</a:t>
            </a:r>
            <a:endParaRPr lang="en-US" sz="1150" dirty="0"/>
          </a:p>
        </p:txBody>
      </p:sp>
      <p:sp>
        <p:nvSpPr>
          <p:cNvPr id="9" name="Fuente"/>
          <p:cNvSpPr txBox="1"/>
          <p:nvPr/>
        </p:nvSpPr>
        <p:spPr>
          <a:xfrm>
            <a:off x="761970" y="6464259"/>
            <a:ext cx="10668030" cy="190470"/>
          </a:xfrm>
          <a:prstGeom prst="rect">
            <a:avLst/>
          </a:prstGeom>
          <a:noFill/>
          <a:ln/>
        </p:spPr>
        <p:txBody>
          <a:bodyPr wrap="square" lIns="0" tIns="0" rIns="0" bIns="0" rtlCol="0" anchor="t"/>
          <a:lstStyle/>
          <a:p>
            <a:pPr indent="0" marL="0">
              <a:buNone/>
            </a:pPr>
            <a:r>
              <a:rPr lang="en-US" sz="700" dirty="0">
                <a:solidFill>
                  <a:schemeClr val="accent3"/>
                </a:solidFill>
              </a:rPr>
              <a:t>Según la política de uso de IA del programa ING2030 2026-2.</a:t>
            </a:r>
            <a:endParaRPr lang="en-US" sz="700" dirty="0"/>
          </a:p>
        </p:txBody>
      </p:sp>
      <p:sp>
        <p:nvSpPr>
          <p:cNvPr id="25" name="Slide Number Placeholder 0"/>
          <p:cNvSpPr>
            <a:spLocks noGrp="1"/>
          </p:cNvSpPr>
          <p:nvPr>
            <p:ph type="sldNum" sz="quarter" idx="4294967295"/>
          </p:nvPr>
        </p:nvSpPr>
        <p:spPr>
          <a:xfrm>
            <a:off x="761970" y="279441"/>
            <a:ext cx="368320" cy="368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Inter"/>
                <a:ea typeface="Inter"/>
                <a:cs typeface="Inter"/>
              </a:defRPr>
            </a:lvl1pPr>
          </a:lstStyle>
          <a:p>
            <a:pPr algn="ctr"/>
            <a:fld id="{F7021451-1387-4CA6-816F-3879F97B5CBC}" type="slidenum">
              <a:rPr b="1" lang="en-US"/>
              <a:t>12</a:t>
            </a:fld>
            <a:endParaRPr lang="en-US"/>
          </a:p>
        </p:txBody>
      </p:sp>
    </p:spTree>
  </p:cSld>
  <p:clrMapOvr>
    <a:masterClrMapping/>
  </p:clrMapOvr>
</p:sld>
</file>

<file path=ppt/theme/theme1.xml><?xml version="1.0" encoding="utf-8"?>
<a:theme xmlns:a="http://schemas.openxmlformats.org/drawingml/2006/main" name="CONDOR Control y Calma">
  <a:themeElements>
    <a:clrScheme name="CONDOR Control y Calma">
      <a:dk1>
        <a:srgbClr val="292524"/>
      </a:dk1>
      <a:lt1>
        <a:srgbClr val="FFFFFF"/>
      </a:lt1>
      <a:dk2>
        <a:srgbClr val="44403C"/>
      </a:dk2>
      <a:lt2>
        <a:srgbClr val="FAFAF9"/>
      </a:lt2>
      <a:accent1>
        <a:srgbClr val="059669"/>
      </a:accent1>
      <a:accent2>
        <a:srgbClr val="3B82F6"/>
      </a:accent2>
      <a:accent3>
        <a:srgbClr val="78716C"/>
      </a:accent3>
      <a:accent4>
        <a:srgbClr val="D6D3D1"/>
      </a:accent4>
      <a:accent5>
        <a:srgbClr val="E3F3EC"/>
      </a:accent5>
      <a:accent6>
        <a:srgbClr val="E8EFFC"/>
      </a:accent6>
      <a:hlink>
        <a:srgbClr val="059669"/>
      </a:hlink>
      <a:folHlink>
        <a:srgbClr val="3B82F6"/>
      </a:folHlink>
    </a:clrScheme>
    <a:fontScheme name="CONDOR Control y Calma">
      <a:majorFont>
        <a:latin typeface="Plus Jakarta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CONDOR · Entrega 2</dc:title>
  <dc:subject>PptxGenJS Presentation</dc:subject>
  <dc:creator>Grupo 68</dc:creator>
  <cp:lastModifiedBy>Grupo 68</cp:lastModifiedBy>
  <cp:revision>1</cp:revision>
  <dcterms:created xsi:type="dcterms:W3CDTF">2026-10-11T18:04:03Z</dcterms:created>
  <dcterms:modified xsi:type="dcterms:W3CDTF">2026-10-11T18:04:03Z</dcterms:modified>
</cp:coreProperties>
</file>